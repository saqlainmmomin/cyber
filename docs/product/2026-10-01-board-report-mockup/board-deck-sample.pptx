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Requirements</c:v>
                </c:pt>
              </c:strCache>
            </c:strRef>
          </c:tx>
          <c:dPt>
            <c:idx val="0"/>
            <c:spPr>
              <a:solidFill>
                <a:srgbClr val="2F9466"/>
              </a:solidFill>
            </c:spPr>
          </c:dPt>
          <c:dPt>
            <c:idx val="1"/>
            <c:spPr>
              <a:solidFill>
                <a:srgbClr val="F0A030"/>
              </a:solidFill>
            </c:spPr>
          </c:dPt>
          <c:dPt>
            <c:idx val="2"/>
            <c:spPr>
              <a:solidFill>
                <a:srgbClr val="C0392B"/>
              </a:solidFill>
            </c:spPr>
          </c:dPt>
          <c:dPt>
            <c:idx val="3"/>
            <c:spPr>
              <a:solidFill>
                <a:srgbClr val="9AA3B5"/>
              </a:solidFill>
            </c:spPr>
          </c:dPt>
          <c:dPt>
            <c:idx val="4"/>
            <c:spPr>
              <a:solidFill>
                <a:srgbClr val="D5D9E3"/>
              </a:solidFill>
            </c:spPr>
          </c:dPt>
          <c:cat>
            <c:strRef>
              <c:f>Sheet1!$A$2:$A$6</c:f>
              <c:strCache>
                <c:ptCount val="5"/>
                <c:pt idx="0">
                  <c:v>Compliant</c:v>
                </c:pt>
                <c:pt idx="1">
                  <c:v>Partially compliant</c:v>
                </c:pt>
                <c:pt idx="2">
                  <c:v>Non-compliant</c:v>
                </c:pt>
                <c:pt idx="3">
                  <c:v>Insufficient evidence</c:v>
                </c:pt>
                <c:pt idx="4">
                  <c:v>Not applicable</c:v>
                </c:pt>
              </c:strCache>
            </c:strRef>
          </c:cat>
          <c:val>
            <c:numRef>
              <c:f>Sheet1!$B$2:$B$6</c:f>
              <c:numCache>
                <c:formatCode>General</c:formatCode>
                <c:ptCount val="5"/>
                <c:pt idx="0">
                  <c:v>43</c:v>
                </c:pt>
                <c:pt idx="1">
                  <c:v>48</c:v>
                </c:pt>
                <c:pt idx="2">
                  <c:v>11</c:v>
                </c:pt>
                <c:pt idx="3">
                  <c:v>15</c:v>
                </c:pt>
                <c:pt idx="4">
                  <c:v>3</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800"/>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percentStacked"/>
        <c:ser>
          <c:idx val="0"/>
          <c:order val="0"/>
          <c:tx>
            <c:strRef>
              <c:f>Sheet1!$B$1</c:f>
              <c:strCache>
                <c:ptCount val="1"/>
                <c:pt idx="0">
                  <c:v>Compliant</c:v>
                </c:pt>
              </c:strCache>
            </c:strRef>
          </c:tx>
          <c:spPr>
            <a:solidFill>
              <a:srgbClr val="2F9466"/>
            </a:solidFill>
          </c:spPr>
          <c:cat>
            <c:strRef>
              <c:f>Sheet1!$A$2:$A$3</c:f>
              <c:strCache>
                <c:ptCount val="2"/>
                <c:pt idx="0">
                  <c:v>India DPDPA  57%</c:v>
                </c:pt>
                <c:pt idx="1">
                  <c:v>ISO 27001  69%</c:v>
                </c:pt>
              </c:strCache>
            </c:strRef>
          </c:cat>
          <c:val>
            <c:numRef>
              <c:f>Sheet1!$B$2:$B$3</c:f>
              <c:numCache>
                <c:formatCode>General</c:formatCode>
                <c:ptCount val="2"/>
                <c:pt idx="0">
                  <c:v>10</c:v>
                </c:pt>
                <c:pt idx="1">
                  <c:v>33</c:v>
                </c:pt>
              </c:numCache>
            </c:numRef>
          </c:val>
        </c:ser>
        <c:ser>
          <c:idx val="1"/>
          <c:order val="1"/>
          <c:tx>
            <c:strRef>
              <c:f>Sheet1!$C$1</c:f>
              <c:strCache>
                <c:ptCount val="1"/>
                <c:pt idx="0">
                  <c:v>Partially compliant</c:v>
                </c:pt>
              </c:strCache>
            </c:strRef>
          </c:tx>
          <c:spPr>
            <a:solidFill>
              <a:srgbClr val="F0A030"/>
            </a:solidFill>
          </c:spPr>
          <c:cat>
            <c:strRef>
              <c:f>Sheet1!$A$2:$A$3</c:f>
              <c:strCache>
                <c:ptCount val="2"/>
                <c:pt idx="0">
                  <c:v>India DPDPA  57%</c:v>
                </c:pt>
                <c:pt idx="1">
                  <c:v>ISO 27001  69%</c:v>
                </c:pt>
              </c:strCache>
            </c:strRef>
          </c:cat>
          <c:val>
            <c:numRef>
              <c:f>Sheet1!$C$2:$C$3</c:f>
              <c:numCache>
                <c:formatCode>General</c:formatCode>
                <c:ptCount val="2"/>
                <c:pt idx="0">
                  <c:v>21</c:v>
                </c:pt>
                <c:pt idx="1">
                  <c:v>27</c:v>
                </c:pt>
              </c:numCache>
            </c:numRef>
          </c:val>
        </c:ser>
        <c:ser>
          <c:idx val="2"/>
          <c:order val="2"/>
          <c:tx>
            <c:strRef>
              <c:f>Sheet1!$D$1</c:f>
              <c:strCache>
                <c:ptCount val="1"/>
                <c:pt idx="0">
                  <c:v>Non-compliant</c:v>
                </c:pt>
              </c:strCache>
            </c:strRef>
          </c:tx>
          <c:spPr>
            <a:solidFill>
              <a:srgbClr val="C0392B"/>
            </a:solidFill>
          </c:spPr>
          <c:cat>
            <c:strRef>
              <c:f>Sheet1!$A$2:$A$3</c:f>
              <c:strCache>
                <c:ptCount val="2"/>
                <c:pt idx="0">
                  <c:v>India DPDPA  57%</c:v>
                </c:pt>
                <c:pt idx="1">
                  <c:v>ISO 27001  69%</c:v>
                </c:pt>
              </c:strCache>
            </c:strRef>
          </c:cat>
          <c:val>
            <c:numRef>
              <c:f>Sheet1!$D$2:$D$3</c:f>
              <c:numCache>
                <c:formatCode>General</c:formatCode>
                <c:ptCount val="2"/>
                <c:pt idx="0">
                  <c:v>5</c:v>
                </c:pt>
                <c:pt idx="1">
                  <c:v>6</c:v>
                </c:pt>
              </c:numCache>
            </c:numRef>
          </c:val>
        </c:ser>
        <c:ser>
          <c:idx val="3"/>
          <c:order val="3"/>
          <c:tx>
            <c:strRef>
              <c:f>Sheet1!$E$1</c:f>
              <c:strCache>
                <c:ptCount val="1"/>
                <c:pt idx="0">
                  <c:v>Insufficient evidence</c:v>
                </c:pt>
              </c:strCache>
            </c:strRef>
          </c:tx>
          <c:spPr>
            <a:solidFill>
              <a:srgbClr val="9AA3B5"/>
            </a:solidFill>
          </c:spPr>
          <c:cat>
            <c:strRef>
              <c:f>Sheet1!$A$2:$A$3</c:f>
              <c:strCache>
                <c:ptCount val="2"/>
                <c:pt idx="0">
                  <c:v>India DPDPA  57%</c:v>
                </c:pt>
                <c:pt idx="1">
                  <c:v>ISO 27001  69%</c:v>
                </c:pt>
              </c:strCache>
            </c:strRef>
          </c:cat>
          <c:val>
            <c:numRef>
              <c:f>Sheet1!$E$2:$E$3</c:f>
              <c:numCache>
                <c:formatCode>General</c:formatCode>
                <c:ptCount val="2"/>
                <c:pt idx="0">
                  <c:v>5</c:v>
                </c:pt>
                <c:pt idx="1">
                  <c:v>10</c:v>
                </c:pt>
              </c:numCache>
            </c:numRef>
          </c:val>
        </c:ser>
        <c:ser>
          <c:idx val="4"/>
          <c:order val="4"/>
          <c:tx>
            <c:strRef>
              <c:f>Sheet1!$F$1</c:f>
              <c:strCache>
                <c:ptCount val="1"/>
                <c:pt idx="0">
                  <c:v>Not applicable</c:v>
                </c:pt>
              </c:strCache>
            </c:strRef>
          </c:tx>
          <c:spPr>
            <a:solidFill>
              <a:srgbClr val="D5D9E3"/>
            </a:solidFill>
          </c:spPr>
          <c:cat>
            <c:strRef>
              <c:f>Sheet1!$A$2:$A$3</c:f>
              <c:strCache>
                <c:ptCount val="2"/>
                <c:pt idx="0">
                  <c:v>India DPDPA  57%</c:v>
                </c:pt>
                <c:pt idx="1">
                  <c:v>ISO 27001  69%</c:v>
                </c:pt>
              </c:strCache>
            </c:strRef>
          </c:cat>
          <c:val>
            <c:numRef>
              <c:f>Sheet1!$F$2:$F$3</c:f>
              <c:numCache>
                <c:formatCode>General</c:formatCode>
                <c:ptCount val="2"/>
                <c:pt idx="0">
                  <c:v>0</c:v>
                </c:pt>
                <c:pt idx="1">
                  <c:v>3</c:v>
                </c:pt>
              </c:numCache>
            </c:numRef>
          </c:val>
        </c:ser>
        <c:dLbls>
          <c:txPr>
            <a:bodyPr/>
            <a:lstStyle/>
            <a:p>
              <a:pPr>
                <a:defRPr sz="800">
                  <a:solidFill>
                    <a:srgbClr val="FFFFFF"/>
                  </a:solidFill>
                </a:defRPr>
              </a:pPr>
            </a:p>
          </c:txPr>
          <c:showLegendKey val="0"/>
          <c:showVal val="1"/>
          <c:showCatName val="0"/>
          <c:showSerName val="0"/>
          <c:showPercent val="0"/>
          <c:showBubbleSize val="0"/>
          <c:showLeaderLines val="1"/>
        </c:dLbls>
        <c:gapWidth val="40"/>
        <c:overlap val="100"/>
        <c:axId val="-2068027336"/>
        <c:axId val="-2113994440"/>
      </c:barChart>
      <c:catAx>
        <c:axId val="-2068027336"/>
        <c:scaling>
          <c:orientation val="minMax"/>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0" cy="6858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792120" y="1458000"/>
            <a:ext cx="10800000" cy="10800000"/>
          </a:xfrm>
          <a:prstGeom prst="ellipse">
            <a:avLst/>
          </a:prstGeom>
          <a:solidFill>
            <a:srgbClr val="1F2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944120" y="2610000"/>
            <a:ext cx="8496000" cy="8496000"/>
          </a:xfrm>
          <a:prstGeom prst="ellipse">
            <a:avLst/>
          </a:prstGeom>
          <a:solidFill>
            <a:srgbClr val="2D3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96120" y="3762000"/>
            <a:ext cx="6192000" cy="6192000"/>
          </a:xfrm>
          <a:prstGeom prst="ellipse">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8120" y="4914000"/>
            <a:ext cx="3888000" cy="3888000"/>
          </a:xfrm>
          <a:prstGeom prst="ellipse">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576000"/>
            <a:ext cx="4320000" cy="288000"/>
          </a:xfrm>
          <a:prstGeom prst="rect">
            <a:avLst/>
          </a:prstGeom>
          <a:noFill/>
        </p:spPr>
        <p:txBody>
          <a:bodyPr wrap="square" anchor="t" lIns="36000" rIns="36000" tIns="18000" bIns="18000">
            <a:spAutoFit/>
          </a:bodyPr>
          <a:lstStyle/>
          <a:p>
            <a:pPr algn="l"/>
            <a:r>
              <a:rPr sz="1100" b="1">
                <a:solidFill>
                  <a:srgbClr val="FFFFFF"/>
                </a:solidFill>
                <a:latin typeface="Calibri"/>
              </a:rPr>
              <a:t>GOLDEN ADVISORY</a:t>
            </a:r>
          </a:p>
        </p:txBody>
      </p:sp>
      <p:sp>
        <p:nvSpPr>
          <p:cNvPr id="8" name="Rectangle 7"/>
          <p:cNvSpPr/>
          <p:nvPr/>
        </p:nvSpPr>
        <p:spPr>
          <a:xfrm>
            <a:off x="648000" y="1224000"/>
            <a:ext cx="1512000" cy="2160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000" y="1245600"/>
            <a:ext cx="1512000" cy="180000"/>
          </a:xfrm>
          <a:prstGeom prst="rect">
            <a:avLst/>
          </a:prstGeom>
          <a:noFill/>
        </p:spPr>
        <p:txBody>
          <a:bodyPr wrap="square" anchor="t" lIns="36000" rIns="36000" tIns="18000" bIns="18000">
            <a:spAutoFit/>
          </a:bodyPr>
          <a:lstStyle/>
          <a:p>
            <a:pPr algn="ctr"/>
            <a:r>
              <a:rPr sz="800" b="1">
                <a:solidFill>
                  <a:srgbClr val="0B0E26"/>
                </a:solidFill>
                <a:latin typeface="Calibri"/>
              </a:rPr>
              <a:t>DRAFT UNTIL ISSUED</a:t>
            </a:r>
          </a:p>
        </p:txBody>
      </p:sp>
      <p:sp>
        <p:nvSpPr>
          <p:cNvPr id="10" name="TextBox 9"/>
          <p:cNvSpPr txBox="1"/>
          <p:nvPr/>
        </p:nvSpPr>
        <p:spPr>
          <a:xfrm>
            <a:off x="648000" y="2088000"/>
            <a:ext cx="7200000" cy="288000"/>
          </a:xfrm>
          <a:prstGeom prst="rect">
            <a:avLst/>
          </a:prstGeom>
          <a:noFill/>
        </p:spPr>
        <p:txBody>
          <a:bodyPr wrap="square" anchor="t" lIns="36000" rIns="36000" tIns="18000" bIns="18000">
            <a:spAutoFit/>
          </a:bodyPr>
          <a:lstStyle/>
          <a:p>
            <a:pPr algn="l"/>
            <a:r>
              <a:rPr sz="1000" b="1">
                <a:solidFill>
                  <a:srgbClr val="12B3A6"/>
                </a:solidFill>
                <a:latin typeface="Calibri"/>
              </a:rPr>
              <a:t>BOARD REPORT · FY26 PRIVACY AND SECURITY REVIEW</a:t>
            </a:r>
          </a:p>
        </p:txBody>
      </p:sp>
      <p:sp>
        <p:nvSpPr>
          <p:cNvPr id="11" name="TextBox 10"/>
          <p:cNvSpPr txBox="1"/>
          <p:nvPr/>
        </p:nvSpPr>
        <p:spPr>
          <a:xfrm>
            <a:off x="648000" y="2376000"/>
            <a:ext cx="7200000" cy="864000"/>
          </a:xfrm>
          <a:prstGeom prst="rect">
            <a:avLst/>
          </a:prstGeom>
          <a:noFill/>
        </p:spPr>
        <p:txBody>
          <a:bodyPr wrap="square" anchor="t" lIns="36000" rIns="36000" tIns="18000" bIns="18000">
            <a:spAutoFit/>
          </a:bodyPr>
          <a:lstStyle/>
          <a:p>
            <a:pPr algn="l"/>
            <a:r>
              <a:rPr sz="4000" b="1">
                <a:solidFill>
                  <a:srgbClr val="FFFFFF"/>
                </a:solidFill>
                <a:latin typeface="Calibri"/>
              </a:rPr>
              <a:t>भारत डेटा प्राइवेट लिमिटेड</a:t>
            </a:r>
          </a:p>
        </p:txBody>
      </p:sp>
      <p:sp>
        <p:nvSpPr>
          <p:cNvPr id="12" name="TextBox 11"/>
          <p:cNvSpPr txBox="1"/>
          <p:nvPr/>
        </p:nvSpPr>
        <p:spPr>
          <a:xfrm>
            <a:off x="648000" y="3384000"/>
            <a:ext cx="7200000" cy="576000"/>
          </a:xfrm>
          <a:prstGeom prst="rect">
            <a:avLst/>
          </a:prstGeom>
          <a:noFill/>
        </p:spPr>
        <p:txBody>
          <a:bodyPr wrap="square" anchor="t" lIns="36000" rIns="36000" tIns="18000" bIns="18000">
            <a:spAutoFit/>
          </a:bodyPr>
          <a:lstStyle/>
          <a:p>
            <a:pPr algn="l"/>
            <a:r>
              <a:rPr sz="2800" b="1">
                <a:solidFill>
                  <a:srgbClr val="C9D0FF"/>
                </a:solidFill>
                <a:latin typeface="Arial Narrow"/>
              </a:rPr>
              <a:t>Privacy and information security gap assessment</a:t>
            </a:r>
          </a:p>
        </p:txBody>
      </p:sp>
      <p:sp>
        <p:nvSpPr>
          <p:cNvPr id="13" name="TextBox 12"/>
          <p:cNvSpPr txBox="1"/>
          <p:nvPr/>
        </p:nvSpPr>
        <p:spPr>
          <a:xfrm>
            <a:off x="648000" y="5760000"/>
            <a:ext cx="2016000" cy="180000"/>
          </a:xfrm>
          <a:prstGeom prst="rect">
            <a:avLst/>
          </a:prstGeom>
          <a:noFill/>
        </p:spPr>
        <p:txBody>
          <a:bodyPr wrap="square" anchor="t" lIns="36000" rIns="36000" tIns="18000" bIns="18000">
            <a:spAutoFit/>
          </a:bodyPr>
          <a:lstStyle/>
          <a:p>
            <a:pPr algn="l"/>
            <a:r>
              <a:rPr sz="750" b="1">
                <a:solidFill>
                  <a:srgbClr val="8F99E8"/>
                </a:solidFill>
                <a:latin typeface="Calibri"/>
              </a:rPr>
              <a:t>ASSESSMENT PERIOD</a:t>
            </a:r>
          </a:p>
        </p:txBody>
      </p:sp>
      <p:sp>
        <p:nvSpPr>
          <p:cNvPr id="14" name="TextBox 13"/>
          <p:cNvSpPr txBox="1"/>
          <p:nvPr/>
        </p:nvSpPr>
        <p:spPr>
          <a:xfrm>
            <a:off x="648000" y="5940000"/>
            <a:ext cx="2016000" cy="252000"/>
          </a:xfrm>
          <a:prstGeom prst="rect">
            <a:avLst/>
          </a:prstGeom>
          <a:noFill/>
        </p:spPr>
        <p:txBody>
          <a:bodyPr wrap="square" anchor="t" lIns="36000" rIns="36000" tIns="18000" bIns="18000">
            <a:spAutoFit/>
          </a:bodyPr>
          <a:lstStyle/>
          <a:p>
            <a:pPr algn="l"/>
            <a:r>
              <a:rPr sz="1100" b="1">
                <a:solidFill>
                  <a:srgbClr val="FFFFFF"/>
                </a:solidFill>
                <a:latin typeface="Calibri"/>
              </a:rPr>
              <a:t>01 Apr 2026 to 30 Jun 2026</a:t>
            </a:r>
          </a:p>
        </p:txBody>
      </p:sp>
      <p:sp>
        <p:nvSpPr>
          <p:cNvPr id="15" name="TextBox 14"/>
          <p:cNvSpPr txBox="1"/>
          <p:nvPr/>
        </p:nvSpPr>
        <p:spPr>
          <a:xfrm>
            <a:off x="2736000" y="5760000"/>
            <a:ext cx="2016000" cy="180000"/>
          </a:xfrm>
          <a:prstGeom prst="rect">
            <a:avLst/>
          </a:prstGeom>
          <a:noFill/>
        </p:spPr>
        <p:txBody>
          <a:bodyPr wrap="square" anchor="t" lIns="36000" rIns="36000" tIns="18000" bIns="18000">
            <a:spAutoFit/>
          </a:bodyPr>
          <a:lstStyle/>
          <a:p>
            <a:pPr algn="l"/>
            <a:r>
              <a:rPr sz="750" b="1">
                <a:solidFill>
                  <a:srgbClr val="8F99E8"/>
                </a:solidFill>
                <a:latin typeface="Calibri"/>
              </a:rPr>
              <a:t>EVIDENCE CUT-OFF</a:t>
            </a:r>
          </a:p>
        </p:txBody>
      </p:sp>
      <p:sp>
        <p:nvSpPr>
          <p:cNvPr id="16" name="TextBox 15"/>
          <p:cNvSpPr txBox="1"/>
          <p:nvPr/>
        </p:nvSpPr>
        <p:spPr>
          <a:xfrm>
            <a:off x="2736000" y="5940000"/>
            <a:ext cx="2016000" cy="252000"/>
          </a:xfrm>
          <a:prstGeom prst="rect">
            <a:avLst/>
          </a:prstGeom>
          <a:noFill/>
        </p:spPr>
        <p:txBody>
          <a:bodyPr wrap="square" anchor="t" lIns="36000" rIns="36000" tIns="18000" bIns="18000">
            <a:spAutoFit/>
          </a:bodyPr>
          <a:lstStyle/>
          <a:p>
            <a:pPr algn="l"/>
            <a:r>
              <a:rPr sz="1100" b="1">
                <a:solidFill>
                  <a:srgbClr val="FFFFFF"/>
                </a:solidFill>
                <a:latin typeface="Calibri"/>
              </a:rPr>
              <a:t>15 Jul 2026</a:t>
            </a:r>
          </a:p>
        </p:txBody>
      </p:sp>
      <p:sp>
        <p:nvSpPr>
          <p:cNvPr id="17" name="TextBox 16"/>
          <p:cNvSpPr txBox="1"/>
          <p:nvPr/>
        </p:nvSpPr>
        <p:spPr>
          <a:xfrm>
            <a:off x="4824000" y="5760000"/>
            <a:ext cx="2016000" cy="180000"/>
          </a:xfrm>
          <a:prstGeom prst="rect">
            <a:avLst/>
          </a:prstGeom>
          <a:noFill/>
        </p:spPr>
        <p:txBody>
          <a:bodyPr wrap="square" anchor="t" lIns="36000" rIns="36000" tIns="18000" bIns="18000">
            <a:spAutoFit/>
          </a:bodyPr>
          <a:lstStyle/>
          <a:p>
            <a:pPr algn="l"/>
            <a:r>
              <a:rPr sz="750" b="1">
                <a:solidFill>
                  <a:srgbClr val="8F99E8"/>
                </a:solidFill>
                <a:latin typeface="Calibri"/>
              </a:rPr>
              <a:t>VERSION</a:t>
            </a:r>
          </a:p>
        </p:txBody>
      </p:sp>
      <p:sp>
        <p:nvSpPr>
          <p:cNvPr id="18" name="TextBox 17"/>
          <p:cNvSpPr txBox="1"/>
          <p:nvPr/>
        </p:nvSpPr>
        <p:spPr>
          <a:xfrm>
            <a:off x="4824000" y="5940000"/>
            <a:ext cx="2016000" cy="252000"/>
          </a:xfrm>
          <a:prstGeom prst="rect">
            <a:avLst/>
          </a:prstGeom>
          <a:noFill/>
        </p:spPr>
        <p:txBody>
          <a:bodyPr wrap="square" anchor="t" lIns="36000" rIns="36000" tIns="18000" bIns="18000">
            <a:spAutoFit/>
          </a:bodyPr>
          <a:lstStyle/>
          <a:p>
            <a:pPr algn="l"/>
            <a:r>
              <a:rPr sz="1100" b="1">
                <a:solidFill>
                  <a:srgbClr val="FFFFFF"/>
                </a:solidFill>
                <a:latin typeface="Calibri"/>
              </a:rPr>
              <a:t>v2 · 28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24000"/>
            <a:ext cx="792000" cy="540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648000" y="324000"/>
            <a:ext cx="288000" cy="540000"/>
          </a:xfrm>
          <a:prstGeom prst="parallelogram">
            <a:avLst/>
          </a:prstGeom>
          <a:solidFill>
            <a:srgbClr val="2D3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900000" y="324000"/>
            <a:ext cx="108000" cy="540000"/>
          </a:xfrm>
          <a:prstGeom prst="parallelogram">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000" y="396000"/>
            <a:ext cx="576000" cy="396000"/>
          </a:xfrm>
          <a:prstGeom prst="rect">
            <a:avLst/>
          </a:prstGeom>
          <a:noFill/>
        </p:spPr>
        <p:txBody>
          <a:bodyPr wrap="square" anchor="t" lIns="36000" rIns="36000" tIns="18000" bIns="18000">
            <a:spAutoFit/>
          </a:bodyPr>
          <a:lstStyle/>
          <a:p>
            <a:pPr algn="ctr"/>
            <a:r>
              <a:rPr sz="2200" b="1">
                <a:solidFill>
                  <a:srgbClr val="FFFFFF"/>
                </a:solidFill>
                <a:latin typeface="Arial Narrow"/>
              </a:rPr>
              <a:t>02</a:t>
            </a:r>
          </a:p>
        </p:txBody>
      </p:sp>
      <p:sp>
        <p:nvSpPr>
          <p:cNvPr id="6" name="TextBox 5"/>
          <p:cNvSpPr txBox="1"/>
          <p:nvPr/>
        </p:nvSpPr>
        <p:spPr>
          <a:xfrm>
            <a:off x="1116000" y="342000"/>
            <a:ext cx="9360000" cy="504000"/>
          </a:xfrm>
          <a:prstGeom prst="rect">
            <a:avLst/>
          </a:prstGeom>
          <a:noFill/>
        </p:spPr>
        <p:txBody>
          <a:bodyPr wrap="square" anchor="t" lIns="36000" rIns="36000" tIns="18000" bIns="18000">
            <a:spAutoFit/>
          </a:bodyPr>
          <a:lstStyle/>
          <a:p>
            <a:pPr algn="l"/>
            <a:r>
              <a:rPr sz="3000" b="1">
                <a:solidFill>
                  <a:srgbClr val="0B0E26"/>
                </a:solidFill>
                <a:latin typeface="Arial Narrow"/>
              </a:rPr>
              <a:t>Executive summary</a:t>
            </a:r>
          </a:p>
        </p:txBody>
      </p:sp>
      <p:sp>
        <p:nvSpPr>
          <p:cNvPr id="7" name="Rectangle 6"/>
          <p:cNvSpPr/>
          <p:nvPr/>
        </p:nvSpPr>
        <p:spPr>
          <a:xfrm>
            <a:off x="1152000" y="918000"/>
            <a:ext cx="10536120" cy="216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2000" y="918000"/>
            <a:ext cx="936000" cy="2160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8000"/>
            <a:ext cx="12192120" cy="10800"/>
          </a:xfrm>
          <a:prstGeom prst="rect">
            <a:avLst/>
          </a:prstGeom>
          <a:solidFill>
            <a:srgbClr val="DDE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6570000"/>
            <a:ext cx="2160000" cy="180000"/>
          </a:xfrm>
          <a:prstGeom prst="rect">
            <a:avLst/>
          </a:prstGeom>
          <a:noFill/>
        </p:spPr>
        <p:txBody>
          <a:bodyPr wrap="square" anchor="t" lIns="36000" rIns="36000" tIns="18000" bIns="18000">
            <a:spAutoFit/>
          </a:bodyPr>
          <a:lstStyle/>
          <a:p>
            <a:pPr algn="l"/>
            <a:r>
              <a:rPr sz="800" b="1">
                <a:solidFill>
                  <a:srgbClr val="161A5C"/>
                </a:solidFill>
                <a:latin typeface="Calibri"/>
              </a:rPr>
              <a:t>GOLDEN ADVISORY</a:t>
            </a:r>
          </a:p>
        </p:txBody>
      </p:sp>
      <p:sp>
        <p:nvSpPr>
          <p:cNvPr id="11" name="TextBox 10"/>
          <p:cNvSpPr txBox="1"/>
          <p:nvPr/>
        </p:nvSpPr>
        <p:spPr>
          <a:xfrm>
            <a:off x="2520000" y="6573600"/>
            <a:ext cx="7200000" cy="180000"/>
          </a:xfrm>
          <a:prstGeom prst="rect">
            <a:avLst/>
          </a:prstGeom>
          <a:noFill/>
        </p:spPr>
        <p:txBody>
          <a:bodyPr wrap="square" anchor="t" lIns="36000" rIns="36000" tIns="18000" bIns="18000">
            <a:spAutoFit/>
          </a:bodyPr>
          <a:lstStyle/>
          <a:p>
            <a:pPr algn="ctr"/>
            <a:r>
              <a:rPr sz="700" b="0">
                <a:solidFill>
                  <a:srgbClr val="6E7591"/>
                </a:solidFill>
                <a:latin typeface="Calibri"/>
              </a:rPr>
              <a:t>भारत डेटा प्राइवेट लिमिटेड · Board report v2 · Assessment period 01 Apr 2026 to 30 Jun 2026 · Evidence cut-off 15 Jul 2026 · Confidential</a:t>
            </a:r>
          </a:p>
        </p:txBody>
      </p:sp>
      <p:sp>
        <p:nvSpPr>
          <p:cNvPr id="12" name="Rectangle 11"/>
          <p:cNvSpPr/>
          <p:nvPr/>
        </p:nvSpPr>
        <p:spPr>
          <a:xfrm>
            <a:off x="11436120" y="6552000"/>
            <a:ext cx="252000" cy="216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6120" y="6566400"/>
            <a:ext cx="252000" cy="180000"/>
          </a:xfrm>
          <a:prstGeom prst="rect">
            <a:avLst/>
          </a:prstGeom>
          <a:noFill/>
        </p:spPr>
        <p:txBody>
          <a:bodyPr wrap="square" anchor="t" lIns="36000" rIns="36000" tIns="18000" bIns="18000">
            <a:spAutoFit/>
          </a:bodyPr>
          <a:lstStyle/>
          <a:p>
            <a:pPr algn="ctr"/>
            <a:r>
              <a:rPr sz="800" b="1">
                <a:solidFill>
                  <a:srgbClr val="FFFFFF"/>
                </a:solidFill>
                <a:latin typeface="Calibri"/>
              </a:rPr>
              <a:t>5</a:t>
            </a:r>
          </a:p>
        </p:txBody>
      </p:sp>
      <p:sp>
        <p:nvSpPr>
          <p:cNvPr id="14" name="Rectangle 13"/>
          <p:cNvSpPr/>
          <p:nvPr/>
        </p:nvSpPr>
        <p:spPr>
          <a:xfrm>
            <a:off x="504000" y="1116000"/>
            <a:ext cx="11184120" cy="648000"/>
          </a:xfrm>
          <a:prstGeom prst="rect">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4000" y="1116000"/>
            <a:ext cx="43200" cy="64800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000" y="1170000"/>
            <a:ext cx="10980000" cy="576000"/>
          </a:xfrm>
          <a:prstGeom prst="rect">
            <a:avLst/>
          </a:prstGeom>
          <a:noFill/>
        </p:spPr>
        <p:txBody>
          <a:bodyPr wrap="square" anchor="t" lIns="36000" rIns="36000" tIns="18000" bIns="18000">
            <a:spAutoFit/>
          </a:bodyPr>
          <a:lstStyle/>
          <a:p>
            <a:pPr algn="l"/>
            <a:r>
              <a:rPr sz="1100" b="0">
                <a:solidFill>
                  <a:srgbClr val="0B0E26"/>
                </a:solidFill>
                <a:latin typeface="Calibri"/>
              </a:rPr>
              <a:t>The organisation has a sound policy base, but several controls that protect customer data exist on paper only and are not operated. The most serious exposures are consent that is unlikely to be valid, no procedure for notifying the regulator of a breach, and access rights that are never reviewed. Most gaps are process gaps with clear owners, and closing access control and supplier security once addresses findings under both frameworks.</a:t>
            </a:r>
          </a:p>
        </p:txBody>
      </p:sp>
      <p:graphicFrame>
        <p:nvGraphicFramePr>
          <p:cNvPr id="17" name="Chart 16"/>
          <p:cNvGraphicFramePr>
            <a:graphicFrameLocks noGrp="1"/>
          </p:cNvGraphicFramePr>
          <p:nvPr/>
        </p:nvGraphicFramePr>
        <p:xfrm>
          <a:off x="504000" y="1908000"/>
          <a:ext cx="2520000" cy="2736000"/>
        </p:xfrm>
        <a:graphic>
          <a:graphicData uri="http://schemas.openxmlformats.org/drawingml/2006/chart">
            <c:chart xmlns:c="http://schemas.openxmlformats.org/drawingml/2006/chart" r:id="rId2"/>
          </a:graphicData>
        </a:graphic>
      </p:graphicFrame>
      <p:sp>
        <p:nvSpPr>
          <p:cNvPr id="18" name="TextBox 17"/>
          <p:cNvSpPr txBox="1"/>
          <p:nvPr/>
        </p:nvSpPr>
        <p:spPr>
          <a:xfrm>
            <a:off x="1224000" y="2808000"/>
            <a:ext cx="1080000" cy="432000"/>
          </a:xfrm>
          <a:prstGeom prst="rect">
            <a:avLst/>
          </a:prstGeom>
          <a:noFill/>
        </p:spPr>
        <p:txBody>
          <a:bodyPr wrap="square" anchor="t" lIns="36000" rIns="36000" tIns="18000" bIns="18000">
            <a:spAutoFit/>
          </a:bodyPr>
          <a:lstStyle/>
          <a:p>
            <a:pPr algn="ctr"/>
            <a:r>
              <a:rPr sz="2800" b="1">
                <a:solidFill>
                  <a:srgbClr val="0B0E26"/>
                </a:solidFill>
                <a:latin typeface="Arial Narrow"/>
              </a:rPr>
              <a:t>120</a:t>
            </a:r>
          </a:p>
        </p:txBody>
      </p:sp>
      <p:sp>
        <p:nvSpPr>
          <p:cNvPr id="19" name="Rectangle 18"/>
          <p:cNvSpPr/>
          <p:nvPr/>
        </p:nvSpPr>
        <p:spPr>
          <a:xfrm>
            <a:off x="3240000" y="1944000"/>
            <a:ext cx="1620000" cy="900000"/>
          </a:xfrm>
          <a:prstGeom prst="rect">
            <a:avLst/>
          </a:prstGeom>
          <a:solidFill>
            <a:srgbClr val="2F94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2000" y="1980000"/>
            <a:ext cx="1440000" cy="504000"/>
          </a:xfrm>
          <a:prstGeom prst="rect">
            <a:avLst/>
          </a:prstGeom>
          <a:noFill/>
        </p:spPr>
        <p:txBody>
          <a:bodyPr wrap="square" anchor="t" lIns="36000" rIns="36000" tIns="18000" bIns="18000">
            <a:spAutoFit/>
          </a:bodyPr>
          <a:lstStyle/>
          <a:p>
            <a:pPr algn="l"/>
            <a:r>
              <a:rPr sz="3400" b="1">
                <a:solidFill>
                  <a:srgbClr val="FFFFFF"/>
                </a:solidFill>
                <a:latin typeface="Arial Narrow"/>
              </a:rPr>
              <a:t>43</a:t>
            </a:r>
          </a:p>
        </p:txBody>
      </p:sp>
      <p:sp>
        <p:nvSpPr>
          <p:cNvPr id="21" name="TextBox 20"/>
          <p:cNvSpPr txBox="1"/>
          <p:nvPr/>
        </p:nvSpPr>
        <p:spPr>
          <a:xfrm>
            <a:off x="3312000" y="2556000"/>
            <a:ext cx="1440000" cy="216000"/>
          </a:xfrm>
          <a:prstGeom prst="rect">
            <a:avLst/>
          </a:prstGeom>
          <a:noFill/>
        </p:spPr>
        <p:txBody>
          <a:bodyPr wrap="square" anchor="t" lIns="36000" rIns="36000" tIns="18000" bIns="18000">
            <a:spAutoFit/>
          </a:bodyPr>
          <a:lstStyle/>
          <a:p>
            <a:pPr algn="l"/>
            <a:r>
              <a:rPr sz="900" b="1">
                <a:solidFill>
                  <a:srgbClr val="FFFFFF"/>
                </a:solidFill>
                <a:latin typeface="Calibri"/>
              </a:rPr>
              <a:t>Compliant</a:t>
            </a:r>
          </a:p>
        </p:txBody>
      </p:sp>
      <p:sp>
        <p:nvSpPr>
          <p:cNvPr id="22" name="Rectangle 21"/>
          <p:cNvSpPr/>
          <p:nvPr/>
        </p:nvSpPr>
        <p:spPr>
          <a:xfrm>
            <a:off x="4932000" y="1944000"/>
            <a:ext cx="1620000" cy="900000"/>
          </a:xfrm>
          <a:prstGeom prst="rect">
            <a:avLst/>
          </a:prstGeom>
          <a:solidFill>
            <a:srgbClr val="2D3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4000" y="1980000"/>
            <a:ext cx="1440000" cy="504000"/>
          </a:xfrm>
          <a:prstGeom prst="rect">
            <a:avLst/>
          </a:prstGeom>
          <a:noFill/>
        </p:spPr>
        <p:txBody>
          <a:bodyPr wrap="square" anchor="t" lIns="36000" rIns="36000" tIns="18000" bIns="18000">
            <a:spAutoFit/>
          </a:bodyPr>
          <a:lstStyle/>
          <a:p>
            <a:pPr algn="l"/>
            <a:r>
              <a:rPr sz="3400" b="1">
                <a:solidFill>
                  <a:srgbClr val="FFFFFF"/>
                </a:solidFill>
                <a:latin typeface="Arial Narrow"/>
              </a:rPr>
              <a:t>48</a:t>
            </a:r>
          </a:p>
        </p:txBody>
      </p:sp>
      <p:sp>
        <p:nvSpPr>
          <p:cNvPr id="24" name="TextBox 23"/>
          <p:cNvSpPr txBox="1"/>
          <p:nvPr/>
        </p:nvSpPr>
        <p:spPr>
          <a:xfrm>
            <a:off x="5004000" y="2556000"/>
            <a:ext cx="1440000" cy="216000"/>
          </a:xfrm>
          <a:prstGeom prst="rect">
            <a:avLst/>
          </a:prstGeom>
          <a:noFill/>
        </p:spPr>
        <p:txBody>
          <a:bodyPr wrap="square" anchor="t" lIns="36000" rIns="36000" tIns="18000" bIns="18000">
            <a:spAutoFit/>
          </a:bodyPr>
          <a:lstStyle/>
          <a:p>
            <a:pPr algn="l"/>
            <a:r>
              <a:rPr sz="900" b="1">
                <a:solidFill>
                  <a:srgbClr val="FFFFFF"/>
                </a:solidFill>
                <a:latin typeface="Calibri"/>
              </a:rPr>
              <a:t>Partially compliant</a:t>
            </a:r>
          </a:p>
        </p:txBody>
      </p:sp>
      <p:sp>
        <p:nvSpPr>
          <p:cNvPr id="25" name="Rectangle 24"/>
          <p:cNvSpPr/>
          <p:nvPr/>
        </p:nvSpPr>
        <p:spPr>
          <a:xfrm>
            <a:off x="6624000" y="1944000"/>
            <a:ext cx="1620000" cy="900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6000" y="1980000"/>
            <a:ext cx="1440000" cy="504000"/>
          </a:xfrm>
          <a:prstGeom prst="rect">
            <a:avLst/>
          </a:prstGeom>
          <a:noFill/>
        </p:spPr>
        <p:txBody>
          <a:bodyPr wrap="square" anchor="t" lIns="36000" rIns="36000" tIns="18000" bIns="18000">
            <a:spAutoFit/>
          </a:bodyPr>
          <a:lstStyle/>
          <a:p>
            <a:pPr algn="l"/>
            <a:r>
              <a:rPr sz="3400" b="1">
                <a:solidFill>
                  <a:srgbClr val="FFFFFF"/>
                </a:solidFill>
                <a:latin typeface="Arial Narrow"/>
              </a:rPr>
              <a:t>11</a:t>
            </a:r>
          </a:p>
        </p:txBody>
      </p:sp>
      <p:sp>
        <p:nvSpPr>
          <p:cNvPr id="27" name="TextBox 26"/>
          <p:cNvSpPr txBox="1"/>
          <p:nvPr/>
        </p:nvSpPr>
        <p:spPr>
          <a:xfrm>
            <a:off x="6696000" y="2556000"/>
            <a:ext cx="1440000" cy="216000"/>
          </a:xfrm>
          <a:prstGeom prst="rect">
            <a:avLst/>
          </a:prstGeom>
          <a:noFill/>
        </p:spPr>
        <p:txBody>
          <a:bodyPr wrap="square" anchor="t" lIns="36000" rIns="36000" tIns="18000" bIns="18000">
            <a:spAutoFit/>
          </a:bodyPr>
          <a:lstStyle/>
          <a:p>
            <a:pPr algn="l"/>
            <a:r>
              <a:rPr sz="900" b="1">
                <a:solidFill>
                  <a:srgbClr val="FFFFFF"/>
                </a:solidFill>
                <a:latin typeface="Calibri"/>
              </a:rPr>
              <a:t>Non-compliant</a:t>
            </a:r>
          </a:p>
        </p:txBody>
      </p:sp>
      <p:sp>
        <p:nvSpPr>
          <p:cNvPr id="28" name="Rectangle 27"/>
          <p:cNvSpPr/>
          <p:nvPr/>
        </p:nvSpPr>
        <p:spPr>
          <a:xfrm>
            <a:off x="8316000" y="1944000"/>
            <a:ext cx="1620000" cy="900000"/>
          </a:xfrm>
          <a:prstGeom prst="rect">
            <a:avLst/>
          </a:prstGeom>
          <a:solidFill>
            <a:srgbClr val="5A63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8000" y="1980000"/>
            <a:ext cx="1440000" cy="504000"/>
          </a:xfrm>
          <a:prstGeom prst="rect">
            <a:avLst/>
          </a:prstGeom>
          <a:noFill/>
        </p:spPr>
        <p:txBody>
          <a:bodyPr wrap="square" anchor="t" lIns="36000" rIns="36000" tIns="18000" bIns="18000">
            <a:spAutoFit/>
          </a:bodyPr>
          <a:lstStyle/>
          <a:p>
            <a:pPr algn="l"/>
            <a:r>
              <a:rPr sz="3400" b="1">
                <a:solidFill>
                  <a:srgbClr val="FFFFFF"/>
                </a:solidFill>
                <a:latin typeface="Arial Narrow"/>
              </a:rPr>
              <a:t>15</a:t>
            </a:r>
          </a:p>
        </p:txBody>
      </p:sp>
      <p:sp>
        <p:nvSpPr>
          <p:cNvPr id="30" name="TextBox 29"/>
          <p:cNvSpPr txBox="1"/>
          <p:nvPr/>
        </p:nvSpPr>
        <p:spPr>
          <a:xfrm>
            <a:off x="8388000" y="2556000"/>
            <a:ext cx="1440000" cy="216000"/>
          </a:xfrm>
          <a:prstGeom prst="rect">
            <a:avLst/>
          </a:prstGeom>
          <a:noFill/>
        </p:spPr>
        <p:txBody>
          <a:bodyPr wrap="square" anchor="t" lIns="36000" rIns="36000" tIns="18000" bIns="18000">
            <a:spAutoFit/>
          </a:bodyPr>
          <a:lstStyle/>
          <a:p>
            <a:pPr algn="l"/>
            <a:r>
              <a:rPr sz="900" b="1">
                <a:solidFill>
                  <a:srgbClr val="FFFFFF"/>
                </a:solidFill>
                <a:latin typeface="Calibri"/>
              </a:rPr>
              <a:t>Insufficient evidence</a:t>
            </a:r>
          </a:p>
        </p:txBody>
      </p:sp>
      <p:sp>
        <p:nvSpPr>
          <p:cNvPr id="31" name="Rectangle 30"/>
          <p:cNvSpPr/>
          <p:nvPr/>
        </p:nvSpPr>
        <p:spPr>
          <a:xfrm>
            <a:off x="10008000" y="1944000"/>
            <a:ext cx="1620000" cy="900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80000" y="1980000"/>
            <a:ext cx="1440000" cy="504000"/>
          </a:xfrm>
          <a:prstGeom prst="rect">
            <a:avLst/>
          </a:prstGeom>
          <a:noFill/>
        </p:spPr>
        <p:txBody>
          <a:bodyPr wrap="square" anchor="t" lIns="36000" rIns="36000" tIns="18000" bIns="18000">
            <a:spAutoFit/>
          </a:bodyPr>
          <a:lstStyle/>
          <a:p>
            <a:pPr algn="l"/>
            <a:r>
              <a:rPr sz="3400" b="1">
                <a:solidFill>
                  <a:srgbClr val="FFFFFF"/>
                </a:solidFill>
                <a:latin typeface="Arial Narrow"/>
              </a:rPr>
              <a:t>22</a:t>
            </a:r>
          </a:p>
        </p:txBody>
      </p:sp>
      <p:sp>
        <p:nvSpPr>
          <p:cNvPr id="33" name="TextBox 32"/>
          <p:cNvSpPr txBox="1"/>
          <p:nvPr/>
        </p:nvSpPr>
        <p:spPr>
          <a:xfrm>
            <a:off x="10080000" y="2556000"/>
            <a:ext cx="1440000" cy="216000"/>
          </a:xfrm>
          <a:prstGeom prst="rect">
            <a:avLst/>
          </a:prstGeom>
          <a:noFill/>
        </p:spPr>
        <p:txBody>
          <a:bodyPr wrap="square" anchor="t" lIns="36000" rIns="36000" tIns="18000" bIns="18000">
            <a:spAutoFit/>
          </a:bodyPr>
          <a:lstStyle/>
          <a:p>
            <a:pPr algn="l"/>
            <a:r>
              <a:rPr sz="900" b="1">
                <a:solidFill>
                  <a:srgbClr val="FFFFFF"/>
                </a:solidFill>
                <a:latin typeface="Calibri"/>
              </a:rPr>
              <a:t>Critical or high gaps</a:t>
            </a:r>
          </a:p>
        </p:txBody>
      </p:sp>
      <p:sp>
        <p:nvSpPr>
          <p:cNvPr id="34" name="Rectangle 33"/>
          <p:cNvSpPr/>
          <p:nvPr/>
        </p:nvSpPr>
        <p:spPr>
          <a:xfrm>
            <a:off x="3240000" y="2934000"/>
            <a:ext cx="8388000" cy="288000"/>
          </a:xfrm>
          <a:prstGeom prst="rect">
            <a:avLst/>
          </a:prstGeom>
          <a:solidFill>
            <a:srgbClr val="0B0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12000" y="2970000"/>
            <a:ext cx="8280000" cy="216000"/>
          </a:xfrm>
          <a:prstGeom prst="rect">
            <a:avLst/>
          </a:prstGeom>
          <a:noFill/>
        </p:spPr>
        <p:txBody>
          <a:bodyPr wrap="square" anchor="t" lIns="36000" rIns="36000" tIns="18000" bIns="18000">
            <a:spAutoFit/>
          </a:bodyPr>
          <a:lstStyle/>
          <a:p>
            <a:pPr algn="l"/>
            <a:r>
              <a:rPr sz="1000" b="1">
                <a:solidFill>
                  <a:srgbClr val="FFFFFF"/>
                </a:solidFill>
                <a:latin typeface="Calibri"/>
              </a:rPr>
              <a:t>Total requirements assessed: 120   ·   scores are per framework and never combined</a:t>
            </a:r>
          </a:p>
        </p:txBody>
      </p:sp>
      <p:graphicFrame>
        <p:nvGraphicFramePr>
          <p:cNvPr id="36" name="Chart 35"/>
          <p:cNvGraphicFramePr>
            <a:graphicFrameLocks noGrp="1"/>
          </p:cNvGraphicFramePr>
          <p:nvPr/>
        </p:nvGraphicFramePr>
        <p:xfrm>
          <a:off x="3168000" y="3312000"/>
          <a:ext cx="8496000" cy="1440000"/>
        </p:xfrm>
        <a:graphic>
          <a:graphicData uri="http://schemas.openxmlformats.org/drawingml/2006/chart">
            <c:chart xmlns:c="http://schemas.openxmlformats.org/drawingml/2006/chart" r:id="rId3"/>
          </a:graphicData>
        </a:graphic>
      </p:graphicFrame>
      <p:sp>
        <p:nvSpPr>
          <p:cNvPr id="37" name="Rectangle 36"/>
          <p:cNvSpPr/>
          <p:nvPr/>
        </p:nvSpPr>
        <p:spPr>
          <a:xfrm>
            <a:off x="504000" y="4932000"/>
            <a:ext cx="1080000" cy="1404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00" y="5004000"/>
            <a:ext cx="936000" cy="720000"/>
          </a:xfrm>
          <a:prstGeom prst="rect">
            <a:avLst/>
          </a:prstGeom>
          <a:noFill/>
        </p:spPr>
        <p:txBody>
          <a:bodyPr wrap="square" anchor="t" lIns="36000" rIns="36000" tIns="18000" bIns="18000">
            <a:spAutoFit/>
          </a:bodyPr>
          <a:lstStyle/>
          <a:p>
            <a:pPr algn="l"/>
            <a:r>
              <a:rPr sz="1600" b="1">
                <a:solidFill>
                  <a:srgbClr val="FFFFFF"/>
                </a:solidFill>
                <a:latin typeface="Arial Narrow"/>
              </a:rPr>
              <a:t>Top three</a:t>
            </a:r>
          </a:p>
          <a:p>
            <a:pPr algn="l"/>
            <a:r>
              <a:rPr sz="1600" b="1">
                <a:solidFill>
                  <a:srgbClr val="FFFFFF"/>
                </a:solidFill>
                <a:latin typeface="Arial Narrow"/>
              </a:rPr>
              <a:t>risks</a:t>
            </a:r>
          </a:p>
        </p:txBody>
      </p:sp>
      <p:sp>
        <p:nvSpPr>
          <p:cNvPr id="39" name="Rectangle 38"/>
          <p:cNvSpPr/>
          <p:nvPr/>
        </p:nvSpPr>
        <p:spPr>
          <a:xfrm>
            <a:off x="1656000" y="4932000"/>
            <a:ext cx="3276000" cy="1404000"/>
          </a:xfrm>
          <a:prstGeom prst="rect">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656000" y="4932000"/>
            <a:ext cx="50400" cy="1404000"/>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64000" y="5004000"/>
            <a:ext cx="3096000" cy="360000"/>
          </a:xfrm>
          <a:prstGeom prst="rect">
            <a:avLst/>
          </a:prstGeom>
          <a:noFill/>
        </p:spPr>
        <p:txBody>
          <a:bodyPr wrap="square" anchor="t" lIns="36000" rIns="36000" tIns="18000" bIns="18000">
            <a:spAutoFit/>
          </a:bodyPr>
          <a:lstStyle/>
          <a:p>
            <a:pPr algn="l"/>
            <a:r>
              <a:rPr sz="1050" b="1">
                <a:solidFill>
                  <a:srgbClr val="0B0E26"/>
                </a:solidFill>
                <a:latin typeface="Calibri"/>
              </a:rPr>
              <a:t>R-01  Consent is collected through pre-ticked boxes</a:t>
            </a:r>
          </a:p>
        </p:txBody>
      </p:sp>
      <p:sp>
        <p:nvSpPr>
          <p:cNvPr id="42" name="TextBox 41"/>
          <p:cNvSpPr txBox="1"/>
          <p:nvPr/>
        </p:nvSpPr>
        <p:spPr>
          <a:xfrm>
            <a:off x="1764000" y="5400000"/>
            <a:ext cx="3096000" cy="900000"/>
          </a:xfrm>
          <a:prstGeom prst="rect">
            <a:avLst/>
          </a:prstGeom>
          <a:noFill/>
        </p:spPr>
        <p:txBody>
          <a:bodyPr wrap="square" anchor="t" lIns="36000" rIns="36000" tIns="18000" bIns="18000">
            <a:spAutoFit/>
          </a:bodyPr>
          <a:lstStyle/>
          <a:p>
            <a:pPr algn="l"/>
            <a:r>
              <a:rPr sz="850" b="0">
                <a:solidFill>
                  <a:srgbClr val="3A4060"/>
                </a:solidFill>
                <a:latin typeface="Calibri"/>
              </a:rPr>
              <a:t>Consent obtained this way is unlikely to be valid, so processing that depends on it would lack a lawful basis once DPDPA obligations commence; this affects the full 2.1 million-customer marketing base.</a:t>
            </a:r>
          </a:p>
        </p:txBody>
      </p:sp>
      <p:sp>
        <p:nvSpPr>
          <p:cNvPr id="43" name="Rectangle 42"/>
          <p:cNvSpPr/>
          <p:nvPr/>
        </p:nvSpPr>
        <p:spPr>
          <a:xfrm>
            <a:off x="5004000" y="4932000"/>
            <a:ext cx="3276000" cy="1404000"/>
          </a:xfrm>
          <a:prstGeom prst="rect">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04000" y="4932000"/>
            <a:ext cx="50400" cy="1404000"/>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12000" y="5004000"/>
            <a:ext cx="3096000" cy="360000"/>
          </a:xfrm>
          <a:prstGeom prst="rect">
            <a:avLst/>
          </a:prstGeom>
          <a:noFill/>
        </p:spPr>
        <p:txBody>
          <a:bodyPr wrap="square" anchor="t" lIns="36000" rIns="36000" tIns="18000" bIns="18000">
            <a:spAutoFit/>
          </a:bodyPr>
          <a:lstStyle/>
          <a:p>
            <a:pPr algn="l"/>
            <a:r>
              <a:rPr sz="1050" b="1">
                <a:solidFill>
                  <a:srgbClr val="0B0E26"/>
                </a:solidFill>
                <a:latin typeface="Calibri"/>
              </a:rPr>
              <a:t>R-02  No procedure to notify the Data Protection Board of a breach</a:t>
            </a:r>
          </a:p>
        </p:txBody>
      </p:sp>
      <p:sp>
        <p:nvSpPr>
          <p:cNvPr id="46" name="TextBox 45"/>
          <p:cNvSpPr txBox="1"/>
          <p:nvPr/>
        </p:nvSpPr>
        <p:spPr>
          <a:xfrm>
            <a:off x="5112000" y="5400000"/>
            <a:ext cx="3096000" cy="900000"/>
          </a:xfrm>
          <a:prstGeom prst="rect">
            <a:avLst/>
          </a:prstGeom>
          <a:noFill/>
        </p:spPr>
        <p:txBody>
          <a:bodyPr wrap="square" anchor="t" lIns="36000" rIns="36000" tIns="18000" bIns="18000">
            <a:spAutoFit/>
          </a:bodyPr>
          <a:lstStyle/>
          <a:p>
            <a:pPr algn="l"/>
            <a:r>
              <a:rPr sz="850" b="0">
                <a:solidFill>
                  <a:srgbClr val="3A4060"/>
                </a:solidFill>
                <a:latin typeface="Calibri"/>
              </a:rPr>
              <a:t>A breach handled under the current plan would miss the statutory notification, which carries the highest penalty tier under the Act.</a:t>
            </a:r>
          </a:p>
        </p:txBody>
      </p:sp>
      <p:sp>
        <p:nvSpPr>
          <p:cNvPr id="47" name="Rectangle 46"/>
          <p:cNvSpPr/>
          <p:nvPr/>
        </p:nvSpPr>
        <p:spPr>
          <a:xfrm>
            <a:off x="8352000" y="4932000"/>
            <a:ext cx="3276000" cy="1404000"/>
          </a:xfrm>
          <a:prstGeom prst="rect">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52000" y="4932000"/>
            <a:ext cx="50400" cy="1404000"/>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0000" y="5004000"/>
            <a:ext cx="3096000" cy="360000"/>
          </a:xfrm>
          <a:prstGeom prst="rect">
            <a:avLst/>
          </a:prstGeom>
          <a:noFill/>
        </p:spPr>
        <p:txBody>
          <a:bodyPr wrap="square" anchor="t" lIns="36000" rIns="36000" tIns="18000" bIns="18000">
            <a:spAutoFit/>
          </a:bodyPr>
          <a:lstStyle/>
          <a:p>
            <a:pPr algn="l"/>
            <a:r>
              <a:rPr sz="1050" b="1">
                <a:solidFill>
                  <a:srgbClr val="0B0E26"/>
                </a:solidFill>
                <a:latin typeface="Calibri"/>
              </a:rPr>
              <a:t>R-03  Access rights are never reviewed</a:t>
            </a:r>
          </a:p>
        </p:txBody>
      </p:sp>
      <p:sp>
        <p:nvSpPr>
          <p:cNvPr id="50" name="TextBox 49"/>
          <p:cNvSpPr txBox="1"/>
          <p:nvPr/>
        </p:nvSpPr>
        <p:spPr>
          <a:xfrm>
            <a:off x="8460000" y="5400000"/>
            <a:ext cx="3096000" cy="900000"/>
          </a:xfrm>
          <a:prstGeom prst="rect">
            <a:avLst/>
          </a:prstGeom>
          <a:noFill/>
        </p:spPr>
        <p:txBody>
          <a:bodyPr wrap="square" anchor="t" lIns="36000" rIns="36000" tIns="18000" bIns="18000">
            <a:spAutoFit/>
          </a:bodyPr>
          <a:lstStyle/>
          <a:p>
            <a:pPr algn="l"/>
            <a:r>
              <a:rPr sz="850" b="0">
                <a:solidFill>
                  <a:srgbClr val="3A4060"/>
                </a:solidFill>
                <a:latin typeface="Calibri"/>
              </a:rPr>
              <a:t>Former staff and over-privileged users can reach customer data, the most common root cause of insider and credential-based breaches.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24000"/>
            <a:ext cx="792000" cy="540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648000" y="324000"/>
            <a:ext cx="288000" cy="540000"/>
          </a:xfrm>
          <a:prstGeom prst="parallelogram">
            <a:avLst/>
          </a:prstGeom>
          <a:solidFill>
            <a:srgbClr val="2D3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900000" y="324000"/>
            <a:ext cx="108000" cy="540000"/>
          </a:xfrm>
          <a:prstGeom prst="parallelogram">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000" y="396000"/>
            <a:ext cx="576000" cy="396000"/>
          </a:xfrm>
          <a:prstGeom prst="rect">
            <a:avLst/>
          </a:prstGeom>
          <a:noFill/>
        </p:spPr>
        <p:txBody>
          <a:bodyPr wrap="square" anchor="t" lIns="36000" rIns="36000" tIns="18000" bIns="18000">
            <a:spAutoFit/>
          </a:bodyPr>
          <a:lstStyle/>
          <a:p>
            <a:pPr algn="ctr"/>
            <a:r>
              <a:rPr sz="2200" b="1">
                <a:solidFill>
                  <a:srgbClr val="FFFFFF"/>
                </a:solidFill>
                <a:latin typeface="Arial Narrow"/>
              </a:rPr>
              <a:t>03</a:t>
            </a:r>
          </a:p>
        </p:txBody>
      </p:sp>
      <p:sp>
        <p:nvSpPr>
          <p:cNvPr id="6" name="TextBox 5"/>
          <p:cNvSpPr txBox="1"/>
          <p:nvPr/>
        </p:nvSpPr>
        <p:spPr>
          <a:xfrm>
            <a:off x="1116000" y="342000"/>
            <a:ext cx="9360000" cy="504000"/>
          </a:xfrm>
          <a:prstGeom prst="rect">
            <a:avLst/>
          </a:prstGeom>
          <a:noFill/>
        </p:spPr>
        <p:txBody>
          <a:bodyPr wrap="square" anchor="t" lIns="36000" rIns="36000" tIns="18000" bIns="18000">
            <a:spAutoFit/>
          </a:bodyPr>
          <a:lstStyle/>
          <a:p>
            <a:pPr algn="l"/>
            <a:r>
              <a:rPr sz="3000" b="1">
                <a:solidFill>
                  <a:srgbClr val="0B0E26"/>
                </a:solidFill>
                <a:latin typeface="Arial Narrow"/>
              </a:rPr>
              <a:t>Key observations (1/3)</a:t>
            </a:r>
          </a:p>
        </p:txBody>
      </p:sp>
      <p:sp>
        <p:nvSpPr>
          <p:cNvPr id="7" name="Rectangle 6"/>
          <p:cNvSpPr/>
          <p:nvPr/>
        </p:nvSpPr>
        <p:spPr>
          <a:xfrm>
            <a:off x="1152000" y="918000"/>
            <a:ext cx="10536120" cy="216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2000" y="918000"/>
            <a:ext cx="936000" cy="2160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6000" y="990000"/>
            <a:ext cx="10440000" cy="288000"/>
          </a:xfrm>
          <a:prstGeom prst="rect">
            <a:avLst/>
          </a:prstGeom>
          <a:noFill/>
        </p:spPr>
        <p:txBody>
          <a:bodyPr wrap="square" anchor="t" lIns="36000" rIns="36000" tIns="18000" bIns="18000">
            <a:spAutoFit/>
          </a:bodyPr>
          <a:lstStyle/>
          <a:p>
            <a:pPr algn="l"/>
            <a:r>
              <a:rPr sz="1200" b="0">
                <a:solidFill>
                  <a:srgbClr val="3A4060"/>
                </a:solidFill>
                <a:latin typeface="Calibri"/>
              </a:rPr>
              <a:t>The highest-ranked approved findings, with the risk they create and what we recommend.</a:t>
            </a:r>
          </a:p>
        </p:txBody>
      </p:sp>
      <p:sp>
        <p:nvSpPr>
          <p:cNvPr id="10" name="Rectangle 9"/>
          <p:cNvSpPr/>
          <p:nvPr/>
        </p:nvSpPr>
        <p:spPr>
          <a:xfrm>
            <a:off x="0" y="6498000"/>
            <a:ext cx="12192120" cy="10800"/>
          </a:xfrm>
          <a:prstGeom prst="rect">
            <a:avLst/>
          </a:prstGeom>
          <a:solidFill>
            <a:srgbClr val="DDE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000" y="6570000"/>
            <a:ext cx="2160000" cy="180000"/>
          </a:xfrm>
          <a:prstGeom prst="rect">
            <a:avLst/>
          </a:prstGeom>
          <a:noFill/>
        </p:spPr>
        <p:txBody>
          <a:bodyPr wrap="square" anchor="t" lIns="36000" rIns="36000" tIns="18000" bIns="18000">
            <a:spAutoFit/>
          </a:bodyPr>
          <a:lstStyle/>
          <a:p>
            <a:pPr algn="l"/>
            <a:r>
              <a:rPr sz="800" b="1">
                <a:solidFill>
                  <a:srgbClr val="161A5C"/>
                </a:solidFill>
                <a:latin typeface="Calibri"/>
              </a:rPr>
              <a:t>GOLDEN ADVISORY</a:t>
            </a:r>
          </a:p>
        </p:txBody>
      </p:sp>
      <p:sp>
        <p:nvSpPr>
          <p:cNvPr id="12" name="TextBox 11"/>
          <p:cNvSpPr txBox="1"/>
          <p:nvPr/>
        </p:nvSpPr>
        <p:spPr>
          <a:xfrm>
            <a:off x="2520000" y="6573600"/>
            <a:ext cx="7200000" cy="180000"/>
          </a:xfrm>
          <a:prstGeom prst="rect">
            <a:avLst/>
          </a:prstGeom>
          <a:noFill/>
        </p:spPr>
        <p:txBody>
          <a:bodyPr wrap="square" anchor="t" lIns="36000" rIns="36000" tIns="18000" bIns="18000">
            <a:spAutoFit/>
          </a:bodyPr>
          <a:lstStyle/>
          <a:p>
            <a:pPr algn="ctr"/>
            <a:r>
              <a:rPr sz="700" b="0">
                <a:solidFill>
                  <a:srgbClr val="6E7591"/>
                </a:solidFill>
                <a:latin typeface="Calibri"/>
              </a:rPr>
              <a:t>भारत डेटा प्राइवेट लिमिटेड · Board report v2 · Assessment period 01 Apr 2026 to 30 Jun 2026 · Evidence cut-off 15 Jul 2026 · Confidential</a:t>
            </a:r>
          </a:p>
        </p:txBody>
      </p:sp>
      <p:sp>
        <p:nvSpPr>
          <p:cNvPr id="13" name="Rectangle 12"/>
          <p:cNvSpPr/>
          <p:nvPr/>
        </p:nvSpPr>
        <p:spPr>
          <a:xfrm>
            <a:off x="11436120" y="6552000"/>
            <a:ext cx="252000" cy="216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6120" y="6566400"/>
            <a:ext cx="252000" cy="180000"/>
          </a:xfrm>
          <a:prstGeom prst="rect">
            <a:avLst/>
          </a:prstGeom>
          <a:noFill/>
        </p:spPr>
        <p:txBody>
          <a:bodyPr wrap="square" anchor="t" lIns="36000" rIns="36000" tIns="18000" bIns="18000">
            <a:spAutoFit/>
          </a:bodyPr>
          <a:lstStyle/>
          <a:p>
            <a:pPr algn="ctr"/>
            <a:r>
              <a:rPr sz="800" b="1">
                <a:solidFill>
                  <a:srgbClr val="FFFFFF"/>
                </a:solidFill>
                <a:latin typeface="Calibri"/>
              </a:rPr>
              <a:t>9</a:t>
            </a:r>
          </a:p>
        </p:txBody>
      </p:sp>
      <p:graphicFrame>
        <p:nvGraphicFramePr>
          <p:cNvPr id="15" name="Table 14"/>
          <p:cNvGraphicFramePr>
            <a:graphicFrameLocks noGrp="1"/>
          </p:cNvGraphicFramePr>
          <p:nvPr/>
        </p:nvGraphicFramePr>
        <p:xfrm>
          <a:off x="504000" y="1368000"/>
          <a:ext cx="11184120" cy="4896000"/>
        </p:xfrm>
        <a:graphic>
          <a:graphicData uri="http://schemas.openxmlformats.org/drawingml/2006/table">
            <a:tbl>
              <a:tblPr firstRow="1" bandRow="1">
                <a:tableStyleId>{5C22544A-7EE6-4342-B048-85BDC9FD1C3A}</a:tableStyleId>
              </a:tblPr>
              <a:tblGrid>
                <a:gridCol w="468000"/>
                <a:gridCol w="1080000"/>
                <a:gridCol w="2016000"/>
                <a:gridCol w="1872000"/>
                <a:gridCol w="648000"/>
                <a:gridCol w="3780000"/>
                <a:gridCol w="1320120"/>
              </a:tblGrid>
              <a:tr h="979200">
                <a:tc>
                  <a:txBody>
                    <a:bodyPr/>
                    <a:lstStyle/>
                    <a:p>
                      <a:r>
                        <a:rPr sz="900" b="1">
                          <a:solidFill>
                            <a:srgbClr val="FFFFFF"/>
                          </a:solidFill>
                        </a:rPr>
                        <a:t>No.</a:t>
                      </a:r>
                    </a:p>
                  </a:txBody>
                  <a:tcPr>
                    <a:solidFill>
                      <a:srgbClr val="161A5C"/>
                    </a:solidFill>
                  </a:tcPr>
                </a:tc>
                <a:tc>
                  <a:txBody>
                    <a:bodyPr/>
                    <a:lstStyle/>
                    <a:p>
                      <a:r>
                        <a:rPr sz="900" b="1">
                          <a:solidFill>
                            <a:srgbClr val="FFFFFF"/>
                          </a:solidFill>
                        </a:rPr>
                        <a:t>Domain</a:t>
                      </a:r>
                    </a:p>
                  </a:txBody>
                  <a:tcPr>
                    <a:solidFill>
                      <a:srgbClr val="161A5C"/>
                    </a:solidFill>
                  </a:tcPr>
                </a:tc>
                <a:tc>
                  <a:txBody>
                    <a:bodyPr/>
                    <a:lstStyle/>
                    <a:p>
                      <a:r>
                        <a:rPr sz="900" b="1">
                          <a:solidFill>
                            <a:srgbClr val="FFFFFF"/>
                          </a:solidFill>
                        </a:rPr>
                        <a:t>Observation</a:t>
                      </a:r>
                    </a:p>
                  </a:txBody>
                  <a:tcPr>
                    <a:solidFill>
                      <a:srgbClr val="161A5C"/>
                    </a:solidFill>
                  </a:tcPr>
                </a:tc>
                <a:tc>
                  <a:txBody>
                    <a:bodyPr/>
                    <a:lstStyle/>
                    <a:p>
                      <a:r>
                        <a:rPr sz="900" b="1">
                          <a:solidFill>
                            <a:srgbClr val="FFFFFF"/>
                          </a:solidFill>
                        </a:rPr>
                        <a:t>Risk</a:t>
                      </a:r>
                    </a:p>
                  </a:txBody>
                  <a:tcPr>
                    <a:solidFill>
                      <a:srgbClr val="161A5C"/>
                    </a:solidFill>
                  </a:tcPr>
                </a:tc>
                <a:tc>
                  <a:txBody>
                    <a:bodyPr/>
                    <a:lstStyle/>
                    <a:p>
                      <a:r>
                        <a:rPr sz="900" b="1">
                          <a:solidFill>
                            <a:srgbClr val="FFFFFF"/>
                          </a:solidFill>
                        </a:rPr>
                        <a:t>Rating</a:t>
                      </a:r>
                    </a:p>
                  </a:txBody>
                  <a:tcPr>
                    <a:solidFill>
                      <a:srgbClr val="161A5C"/>
                    </a:solidFill>
                  </a:tcPr>
                </a:tc>
                <a:tc>
                  <a:txBody>
                    <a:bodyPr/>
                    <a:lstStyle/>
                    <a:p>
                      <a:r>
                        <a:rPr sz="900" b="1">
                          <a:solidFill>
                            <a:srgbClr val="FFFFFF"/>
                          </a:solidFill>
                        </a:rPr>
                        <a:t>Recommendation</a:t>
                      </a:r>
                    </a:p>
                  </a:txBody>
                  <a:tcPr>
                    <a:solidFill>
                      <a:srgbClr val="161A5C"/>
                    </a:solidFill>
                  </a:tcPr>
                </a:tc>
                <a:tc>
                  <a:txBody>
                    <a:bodyPr/>
                    <a:lstStyle/>
                    <a:p>
                      <a:r>
                        <a:rPr sz="900" b="1">
                          <a:solidFill>
                            <a:srgbClr val="FFFFFF"/>
                          </a:solidFill>
                        </a:rPr>
                        <a:t>Reference</a:t>
                      </a:r>
                    </a:p>
                  </a:txBody>
                  <a:tcPr>
                    <a:solidFill>
                      <a:srgbClr val="161A5C"/>
                    </a:solidFill>
                  </a:tcPr>
                </a:tc>
              </a:tr>
              <a:tr h="979200">
                <a:tc>
                  <a:txBody>
                    <a:bodyPr/>
                    <a:lstStyle/>
                    <a:p>
                      <a:r>
                        <a:rPr sz="1400" b="1">
                          <a:solidFill>
                            <a:srgbClr val="2D3FD3"/>
                          </a:solidFill>
                          <a:latin typeface="Arial Narrow"/>
                        </a:rPr>
                        <a:t>R-01</a:t>
                      </a:r>
                    </a:p>
                  </a:txBody>
                  <a:tcPr anchor="ctr">
                    <a:solidFill>
                      <a:srgbClr val="FFFFFF"/>
                    </a:solidFill>
                  </a:tcPr>
                </a:tc>
                <a:tc>
                  <a:txBody>
                    <a:bodyPr/>
                    <a:lstStyle/>
                    <a:p>
                      <a:r>
                        <a:rPr sz="800">
                          <a:solidFill>
                            <a:srgbClr val="0B0E26"/>
                          </a:solidFill>
                        </a:rPr>
                        <a:t>Obligations of Data Fiduciary</a:t>
                      </a:r>
                    </a:p>
                    <a:p>
                      <a:r>
                        <a:rPr sz="800">
                          <a:solidFill>
                            <a:srgbClr val="0B0E26"/>
                          </a:solidFill>
                        </a:rPr>
                        <a:t>India DPDPA</a:t>
                      </a:r>
                    </a:p>
                  </a:txBody>
                  <a:tcPr anchor="ctr">
                    <a:solidFill>
                      <a:srgbClr val="FFFFFF"/>
                    </a:solidFill>
                  </a:tcPr>
                </a:tc>
                <a:tc>
                  <a:txBody>
                    <a:bodyPr/>
                    <a:lstStyle/>
                    <a:p>
                      <a:r>
                        <a:rPr sz="800">
                          <a:solidFill>
                            <a:srgbClr val="0B0E26"/>
                          </a:solidFill>
                        </a:rPr>
                        <a:t>Consent is collected through pre-ticked boxes. The sign-up journey and the marketing preference centre both pre-select consent. No record links a consent to the notice the user saw.</a:t>
                      </a:r>
                    </a:p>
                  </a:txBody>
                  <a:tcPr anchor="ctr">
                    <a:solidFill>
                      <a:srgbClr val="FFFFFF"/>
                    </a:solidFill>
                  </a:tcPr>
                </a:tc>
                <a:tc>
                  <a:txBody>
                    <a:bodyPr/>
                    <a:lstStyle/>
                    <a:p>
                      <a:r>
                        <a:rPr sz="800">
                          <a:solidFill>
                            <a:srgbClr val="0B0E26"/>
                          </a:solidFill>
                        </a:rPr>
                        <a:t>Consent obtained this way is unlikely to be valid, so processing that depends on it would lack a lawful basis once DPDPA obligations commence; this affects the full 2.1 million-customer marketing base.</a:t>
                      </a:r>
                    </a:p>
                  </a:txBody>
                  <a:tcPr anchor="ctr">
                    <a:solidFill>
                      <a:srgbClr val="FFFFFF"/>
                    </a:solidFill>
                  </a:tcPr>
                </a:tc>
                <a:tc>
                  <a:txBody>
                    <a:bodyPr/>
                    <a:lstStyle/>
                    <a:p>
                      <a:r>
                        <a:rPr sz="800" b="1">
                          <a:solidFill>
                            <a:srgbClr val="9B1C1C"/>
                          </a:solidFill>
                        </a:rPr>
                        <a:t>Critical</a:t>
                      </a:r>
                    </a:p>
                  </a:txBody>
                  <a:tcPr anchor="ctr">
                    <a:solidFill>
                      <a:srgbClr val="FFFFFF"/>
                    </a:solidFill>
                  </a:tcPr>
                </a:tc>
                <a:tc>
                  <a:txBody>
                    <a:bodyPr/>
                    <a:lstStyle/>
                    <a:p>
                      <a:r>
                        <a:rPr sz="800">
                          <a:solidFill>
                            <a:srgbClr val="0B0E26"/>
                          </a:solidFill>
                        </a:rPr>
                        <a:t>Replace pre-selected consent with an unticked, purpose-specific opt-in on every channel. Log each consent with the notice version shown, timestamp and channel, and re-collect consent for the existing marketing base before relying on it.</a:t>
                      </a:r>
                    </a:p>
                  </a:txBody>
                  <a:tcPr anchor="ctr">
                    <a:solidFill>
                      <a:srgbClr val="FFFFFF"/>
                    </a:solidFill>
                  </a:tcPr>
                </a:tc>
                <a:tc>
                  <a:txBody>
                    <a:bodyPr/>
                    <a:lstStyle/>
                    <a:p>
                      <a:r>
                        <a:rPr sz="800">
                          <a:solidFill>
                            <a:srgbClr val="0B0E26"/>
                          </a:solidFill>
                        </a:rPr>
                        <a:t>DPDPA Section 6(1), 6(3), Section 6, Section 6(1)</a:t>
                      </a:r>
                    </a:p>
                  </a:txBody>
                  <a:tcPr anchor="ctr">
                    <a:solidFill>
                      <a:srgbClr val="FFFFFF"/>
                    </a:solidFill>
                  </a:tcPr>
                </a:tc>
              </a:tr>
              <a:tr h="979200">
                <a:tc>
                  <a:txBody>
                    <a:bodyPr/>
                    <a:lstStyle/>
                    <a:p>
                      <a:r>
                        <a:rPr sz="1400" b="1">
                          <a:solidFill>
                            <a:srgbClr val="2D3FD3"/>
                          </a:solidFill>
                          <a:latin typeface="Arial Narrow"/>
                        </a:rPr>
                        <a:t>R-02</a:t>
                      </a:r>
                    </a:p>
                  </a:txBody>
                  <a:tcPr anchor="ctr">
                    <a:solidFill>
                      <a:srgbClr val="F7F8FB"/>
                    </a:solidFill>
                  </a:tcPr>
                </a:tc>
                <a:tc>
                  <a:txBody>
                    <a:bodyPr/>
                    <a:lstStyle/>
                    <a:p>
                      <a:r>
                        <a:rPr sz="800">
                          <a:solidFill>
                            <a:srgbClr val="0B0E26"/>
                          </a:solidFill>
                        </a:rPr>
                        <a:t>Breach Notification</a:t>
                      </a:r>
                    </a:p>
                    <a:p>
                      <a:r>
                        <a:rPr sz="800">
                          <a:solidFill>
                            <a:srgbClr val="0B0E26"/>
                          </a:solidFill>
                        </a:rPr>
                        <a:t>India DPDPA</a:t>
                      </a:r>
                    </a:p>
                  </a:txBody>
                  <a:tcPr anchor="ctr">
                    <a:solidFill>
                      <a:srgbClr val="F7F8FB"/>
                    </a:solidFill>
                  </a:tcPr>
                </a:tc>
                <a:tc>
                  <a:txBody>
                    <a:bodyPr/>
                    <a:lstStyle/>
                    <a:p>
                      <a:r>
                        <a:rPr sz="800">
                          <a:solidFill>
                            <a:srgbClr val="0B0E26"/>
                          </a:solidFill>
                        </a:rPr>
                        <a:t>No procedure to notify the Data Protection Board of a breach. The incident response plan covers containment only. It names no owner, timeline or template for notifying the Board or affected individuals.</a:t>
                      </a:r>
                    </a:p>
                  </a:txBody>
                  <a:tcPr anchor="ctr">
                    <a:solidFill>
                      <a:srgbClr val="F7F8FB"/>
                    </a:solidFill>
                  </a:tcPr>
                </a:tc>
                <a:tc>
                  <a:txBody>
                    <a:bodyPr/>
                    <a:lstStyle/>
                    <a:p>
                      <a:r>
                        <a:rPr sz="800">
                          <a:solidFill>
                            <a:srgbClr val="0B0E26"/>
                          </a:solidFill>
                        </a:rPr>
                        <a:t>A breach handled under the current plan would miss the statutory notification, which carries the highest penalty tier under the Act.</a:t>
                      </a:r>
                    </a:p>
                  </a:txBody>
                  <a:tcPr anchor="ctr">
                    <a:solidFill>
                      <a:srgbClr val="F7F8FB"/>
                    </a:solidFill>
                  </a:tcPr>
                </a:tc>
                <a:tc>
                  <a:txBody>
                    <a:bodyPr/>
                    <a:lstStyle/>
                    <a:p>
                      <a:r>
                        <a:rPr sz="800" b="1">
                          <a:solidFill>
                            <a:srgbClr val="9B1C1C"/>
                          </a:solidFill>
                        </a:rPr>
                        <a:t>Critical</a:t>
                      </a:r>
                    </a:p>
                  </a:txBody>
                  <a:tcPr anchor="ctr">
                    <a:solidFill>
                      <a:srgbClr val="F7F8FB"/>
                    </a:solidFill>
                  </a:tcPr>
                </a:tc>
                <a:tc>
                  <a:txBody>
                    <a:bodyPr/>
                    <a:lstStyle/>
                    <a:p>
                      <a:r>
                        <a:rPr sz="800">
                          <a:solidFill>
                            <a:srgbClr val="0B0E26"/>
                          </a:solidFill>
                        </a:rPr>
                        <a:t>Extend the incident response plan with a notification runbook: named decision owner, 72-hour clock, Board and data-principal templates, and an evidence log. Test it in a tabletop exercise each year.</a:t>
                      </a:r>
                    </a:p>
                  </a:txBody>
                  <a:tcPr anchor="ctr">
                    <a:solidFill>
                      <a:srgbClr val="F7F8FB"/>
                    </a:solidFill>
                  </a:tcPr>
                </a:tc>
                <a:tc>
                  <a:txBody>
                    <a:bodyPr/>
                    <a:lstStyle/>
                    <a:p>
                      <a:r>
                        <a:rPr sz="800">
                          <a:solidFill>
                            <a:srgbClr val="0B0E26"/>
                          </a:solidFill>
                        </a:rPr>
                        <a:t>DPDPA Section 8(6); DPDP Rules 2025 r.7(2)</a:t>
                      </a:r>
                    </a:p>
                    <a:p>
                      <a:r>
                        <a:rPr sz="800">
                          <a:solidFill>
                            <a:srgbClr val="0B0E26"/>
                          </a:solidFill>
                        </a:rPr>
                        <a:t>ISO 27001 Annex A.5.5</a:t>
                      </a:r>
                    </a:p>
                  </a:txBody>
                  <a:tcPr anchor="ctr">
                    <a:solidFill>
                      <a:srgbClr val="F7F8FB"/>
                    </a:solidFill>
                  </a:tcPr>
                </a:tc>
              </a:tr>
              <a:tr h="979200">
                <a:tc>
                  <a:txBody>
                    <a:bodyPr/>
                    <a:lstStyle/>
                    <a:p>
                      <a:r>
                        <a:rPr sz="1400" b="1">
                          <a:solidFill>
                            <a:srgbClr val="2D3FD3"/>
                          </a:solidFill>
                          <a:latin typeface="Arial Narrow"/>
                        </a:rPr>
                        <a:t>R-03</a:t>
                      </a:r>
                    </a:p>
                  </a:txBody>
                  <a:tcPr anchor="ctr">
                    <a:solidFill>
                      <a:srgbClr val="FFFFFF"/>
                    </a:solidFill>
                  </a:tcPr>
                </a:tc>
                <a:tc>
                  <a:txBody>
                    <a:bodyPr/>
                    <a:lstStyle/>
                    <a:p>
                      <a:r>
                        <a:rPr sz="800">
                          <a:solidFill>
                            <a:srgbClr val="0B0E26"/>
                          </a:solidFill>
                        </a:rPr>
                        <a:t>Organizational Controls</a:t>
                      </a:r>
                    </a:p>
                    <a:p>
                      <a:r>
                        <a:rPr sz="800">
                          <a:solidFill>
                            <a:srgbClr val="0B0E26"/>
                          </a:solidFill>
                        </a:rPr>
                        <a:t>ISO 27001</a:t>
                      </a:r>
                    </a:p>
                  </a:txBody>
                  <a:tcPr anchor="ctr">
                    <a:solidFill>
                      <a:srgbClr val="FFFFFF"/>
                    </a:solidFill>
                  </a:tcPr>
                </a:tc>
                <a:tc>
                  <a:txBody>
                    <a:bodyPr/>
                    <a:lstStyle/>
                    <a:p>
                      <a:r>
                        <a:rPr sz="800">
                          <a:solidFill>
                            <a:srgbClr val="0B0E26"/>
                          </a:solidFill>
                        </a:rPr>
                        <a:t>Access rights are never reviewed. No periodic review of user access is evidenced for production systems. 14 leaver accounts were still active at the cut-off.</a:t>
                      </a:r>
                    </a:p>
                  </a:txBody>
                  <a:tcPr anchor="ctr">
                    <a:solidFill>
                      <a:srgbClr val="FFFFFF"/>
                    </a:solidFill>
                  </a:tcPr>
                </a:tc>
                <a:tc>
                  <a:txBody>
                    <a:bodyPr/>
                    <a:lstStyle/>
                    <a:p>
                      <a:r>
                        <a:rPr sz="800">
                          <a:solidFill>
                            <a:srgbClr val="0B0E26"/>
                          </a:solidFill>
                        </a:rPr>
                        <a:t>Former staff and over-privileged users can reach customer data, the most common root cause of insider and credential-based breaches.</a:t>
                      </a:r>
                    </a:p>
                  </a:txBody>
                  <a:tcPr anchor="ctr">
                    <a:solidFill>
                      <a:srgbClr val="FFFFFF"/>
                    </a:solidFill>
                  </a:tcPr>
                </a:tc>
                <a:tc>
                  <a:txBody>
                    <a:bodyPr/>
                    <a:lstStyle/>
                    <a:p>
                      <a:r>
                        <a:rPr sz="800" b="1">
                          <a:solidFill>
                            <a:srgbClr val="9B1C1C"/>
                          </a:solidFill>
                        </a:rPr>
                        <a:t>Critical</a:t>
                      </a:r>
                    </a:p>
                  </a:txBody>
                  <a:tcPr anchor="ctr">
                    <a:solidFill>
                      <a:srgbClr val="FFFFFF"/>
                    </a:solidFill>
                  </a:tcPr>
                </a:tc>
                <a:tc>
                  <a:txBody>
                    <a:bodyPr/>
                    <a:lstStyle/>
                    <a:p>
                      <a:r>
                        <a:rPr sz="800">
                          <a:solidFill>
                            <a:srgbClr val="0B0E26"/>
                          </a:solidFill>
                        </a:rPr>
                        <a:t>Run quarterly access recertification for production and customer-data systems with manager sign-off. Disable leaver accounts within 24 hours through an HR-triggered workflow and keep review evidence.</a:t>
                      </a:r>
                    </a:p>
                  </a:txBody>
                  <a:tcPr anchor="ctr">
                    <a:solidFill>
                      <a:srgbClr val="FFFFFF"/>
                    </a:solidFill>
                  </a:tcPr>
                </a:tc>
                <a:tc>
                  <a:txBody>
                    <a:bodyPr/>
                    <a:lstStyle/>
                    <a:p>
                      <a:r>
                        <a:rPr sz="800">
                          <a:solidFill>
                            <a:srgbClr val="0B0E26"/>
                          </a:solidFill>
                        </a:rPr>
                        <a:t>ISO 27001 Annex A.5.18, Annex A.5.3, Annex A.5.16, Annex A.5.11</a:t>
                      </a:r>
                    </a:p>
                  </a:txBody>
                  <a:tcPr anchor="ctr">
                    <a:solidFill>
                      <a:srgbClr val="FFFFFF"/>
                    </a:solidFill>
                  </a:tcPr>
                </a:tc>
              </a:tr>
              <a:tr h="979200">
                <a:tc>
                  <a:txBody>
                    <a:bodyPr/>
                    <a:lstStyle/>
                    <a:p>
                      <a:r>
                        <a:rPr sz="1400" b="1">
                          <a:solidFill>
                            <a:srgbClr val="2D3FD3"/>
                          </a:solidFill>
                          <a:latin typeface="Arial Narrow"/>
                        </a:rPr>
                        <a:t>R-04</a:t>
                      </a:r>
                    </a:p>
                  </a:txBody>
                  <a:tcPr anchor="ctr">
                    <a:solidFill>
                      <a:srgbClr val="F7F8FB"/>
                    </a:solidFill>
                  </a:tcPr>
                </a:tc>
                <a:tc>
                  <a:txBody>
                    <a:bodyPr/>
                    <a:lstStyle/>
                    <a:p>
                      <a:r>
                        <a:rPr sz="800">
                          <a:solidFill>
                            <a:srgbClr val="0B0E26"/>
                          </a:solidFill>
                        </a:rPr>
                        <a:t>Technological Controls</a:t>
                      </a:r>
                    </a:p>
                    <a:p>
                      <a:r>
                        <a:rPr sz="800">
                          <a:solidFill>
                            <a:srgbClr val="0B0E26"/>
                          </a:solidFill>
                        </a:rPr>
                        <a:t>ISO 27001</a:t>
                      </a:r>
                    </a:p>
                  </a:txBody>
                  <a:tcPr anchor="ctr">
                    <a:solidFill>
                      <a:srgbClr val="F7F8FB"/>
                    </a:solidFill>
                  </a:tcPr>
                </a:tc>
                <a:tc>
                  <a:txBody>
                    <a:bodyPr/>
                    <a:lstStyle/>
                    <a:p>
                      <a:r>
                        <a:rPr sz="800">
                          <a:solidFill>
                            <a:srgbClr val="0B0E26"/>
                          </a:solidFill>
                        </a:rPr>
                        <a:t>No defined cadence for patching technical vulnerabilities. Scans run ad hoc; 23 critical CVEs older than 90 days were open on internet-facing hosts at the cut-off.</a:t>
                      </a:r>
                    </a:p>
                  </a:txBody>
                  <a:tcPr anchor="ctr">
                    <a:solidFill>
                      <a:srgbClr val="F7F8FB"/>
                    </a:solidFill>
                  </a:tcPr>
                </a:tc>
                <a:tc>
                  <a:txBody>
                    <a:bodyPr/>
                    <a:lstStyle/>
                    <a:p>
                      <a:r>
                        <a:rPr sz="800">
                          <a:solidFill>
                            <a:srgbClr val="0B0E26"/>
                          </a:solidFill>
                        </a:rPr>
                        <a:t>Known, exploitable weaknesses on public systems are the leading entry point for ransomware.</a:t>
                      </a:r>
                    </a:p>
                  </a:txBody>
                  <a:tcPr anchor="ctr">
                    <a:solidFill>
                      <a:srgbClr val="F7F8FB"/>
                    </a:solidFill>
                  </a:tcPr>
                </a:tc>
                <a:tc>
                  <a:txBody>
                    <a:bodyPr/>
                    <a:lstStyle/>
                    <a:p>
                      <a:r>
                        <a:rPr sz="800" b="1">
                          <a:solidFill>
                            <a:srgbClr val="9B1C1C"/>
                          </a:solidFill>
                        </a:rPr>
                        <a:t>Critical</a:t>
                      </a:r>
                    </a:p>
                  </a:txBody>
                  <a:tcPr anchor="ctr">
                    <a:solidFill>
                      <a:srgbClr val="F7F8FB"/>
                    </a:solidFill>
                  </a:tcPr>
                </a:tc>
                <a:tc>
                  <a:txBody>
                    <a:bodyPr/>
                    <a:lstStyle/>
                    <a:p>
                      <a:r>
                        <a:rPr sz="800">
                          <a:solidFill>
                            <a:srgbClr val="0B0E26"/>
                          </a:solidFill>
                        </a:rPr>
                        <a:t>Adopt patch SLAs by severity (critical 15 days, high 30 days), scan internet-facing assets weekly, and report open critical vulnerabilities to the risk committee monthly.</a:t>
                      </a:r>
                    </a:p>
                  </a:txBody>
                  <a:tcPr anchor="ctr">
                    <a:solidFill>
                      <a:srgbClr val="F7F8FB"/>
                    </a:solidFill>
                  </a:tcPr>
                </a:tc>
                <a:tc>
                  <a:txBody>
                    <a:bodyPr/>
                    <a:lstStyle/>
                    <a:p>
                      <a:r>
                        <a:rPr sz="800">
                          <a:solidFill>
                            <a:srgbClr val="0B0E26"/>
                          </a:solidFill>
                        </a:rPr>
                        <a:t>ISO 27001 Annex A.8.8</a:t>
                      </a:r>
                    </a:p>
                  </a:txBody>
                  <a:tcPr anchor="ctr">
                    <a:solidFill>
                      <a:srgbClr val="F7F8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24000"/>
            <a:ext cx="792000" cy="540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648000" y="324000"/>
            <a:ext cx="288000" cy="540000"/>
          </a:xfrm>
          <a:prstGeom prst="parallelogram">
            <a:avLst/>
          </a:prstGeom>
          <a:solidFill>
            <a:srgbClr val="2D3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900000" y="324000"/>
            <a:ext cx="108000" cy="540000"/>
          </a:xfrm>
          <a:prstGeom prst="parallelogram">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000" y="396000"/>
            <a:ext cx="576000" cy="396000"/>
          </a:xfrm>
          <a:prstGeom prst="rect">
            <a:avLst/>
          </a:prstGeom>
          <a:noFill/>
        </p:spPr>
        <p:txBody>
          <a:bodyPr wrap="square" anchor="t" lIns="36000" rIns="36000" tIns="18000" bIns="18000">
            <a:spAutoFit/>
          </a:bodyPr>
          <a:lstStyle/>
          <a:p>
            <a:pPr algn="ctr"/>
            <a:r>
              <a:rPr sz="2200" b="1">
                <a:solidFill>
                  <a:srgbClr val="FFFFFF"/>
                </a:solidFill>
                <a:latin typeface="Arial Narrow"/>
              </a:rPr>
              <a:t>04</a:t>
            </a:r>
          </a:p>
        </p:txBody>
      </p:sp>
      <p:sp>
        <p:nvSpPr>
          <p:cNvPr id="6" name="TextBox 5"/>
          <p:cNvSpPr txBox="1"/>
          <p:nvPr/>
        </p:nvSpPr>
        <p:spPr>
          <a:xfrm>
            <a:off x="1116000" y="342000"/>
            <a:ext cx="9360000" cy="504000"/>
          </a:xfrm>
          <a:prstGeom prst="rect">
            <a:avLst/>
          </a:prstGeom>
          <a:noFill/>
        </p:spPr>
        <p:txBody>
          <a:bodyPr wrap="square" anchor="t" lIns="36000" rIns="36000" tIns="18000" bIns="18000">
            <a:spAutoFit/>
          </a:bodyPr>
          <a:lstStyle/>
          <a:p>
            <a:pPr algn="l"/>
            <a:r>
              <a:rPr sz="3000" b="1">
                <a:solidFill>
                  <a:srgbClr val="0B0E26"/>
                </a:solidFill>
                <a:latin typeface="Arial Narrow"/>
              </a:rPr>
              <a:t>Initiatives at a glance</a:t>
            </a:r>
          </a:p>
        </p:txBody>
      </p:sp>
      <p:sp>
        <p:nvSpPr>
          <p:cNvPr id="7" name="Rectangle 6"/>
          <p:cNvSpPr/>
          <p:nvPr/>
        </p:nvSpPr>
        <p:spPr>
          <a:xfrm>
            <a:off x="1152000" y="918000"/>
            <a:ext cx="10536120" cy="216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2000" y="918000"/>
            <a:ext cx="936000" cy="2160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6000" y="990000"/>
            <a:ext cx="10440000" cy="288000"/>
          </a:xfrm>
          <a:prstGeom prst="rect">
            <a:avLst/>
          </a:prstGeom>
          <a:noFill/>
        </p:spPr>
        <p:txBody>
          <a:bodyPr wrap="square" anchor="t" lIns="36000" rIns="36000" tIns="18000" bIns="18000">
            <a:spAutoFit/>
          </a:bodyPr>
          <a:lstStyle/>
          <a:p>
            <a:pPr algn="l"/>
            <a:r>
              <a:rPr sz="1200" b="0">
                <a:solidFill>
                  <a:srgbClr val="3A4060"/>
                </a:solidFill>
                <a:latin typeface="Calibri"/>
              </a:rPr>
              <a:t>Every initiative, the observations it closes and how it rates on priority, complexity and benefit.</a:t>
            </a:r>
          </a:p>
        </p:txBody>
      </p:sp>
      <p:sp>
        <p:nvSpPr>
          <p:cNvPr id="10" name="Rectangle 9"/>
          <p:cNvSpPr/>
          <p:nvPr/>
        </p:nvSpPr>
        <p:spPr>
          <a:xfrm>
            <a:off x="0" y="6498000"/>
            <a:ext cx="12192120" cy="10800"/>
          </a:xfrm>
          <a:prstGeom prst="rect">
            <a:avLst/>
          </a:prstGeom>
          <a:solidFill>
            <a:srgbClr val="DDE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000" y="6570000"/>
            <a:ext cx="2160000" cy="180000"/>
          </a:xfrm>
          <a:prstGeom prst="rect">
            <a:avLst/>
          </a:prstGeom>
          <a:noFill/>
        </p:spPr>
        <p:txBody>
          <a:bodyPr wrap="square" anchor="t" lIns="36000" rIns="36000" tIns="18000" bIns="18000">
            <a:spAutoFit/>
          </a:bodyPr>
          <a:lstStyle/>
          <a:p>
            <a:pPr algn="l"/>
            <a:r>
              <a:rPr sz="800" b="1">
                <a:solidFill>
                  <a:srgbClr val="161A5C"/>
                </a:solidFill>
                <a:latin typeface="Calibri"/>
              </a:rPr>
              <a:t>GOLDEN ADVISORY</a:t>
            </a:r>
          </a:p>
        </p:txBody>
      </p:sp>
      <p:sp>
        <p:nvSpPr>
          <p:cNvPr id="12" name="TextBox 11"/>
          <p:cNvSpPr txBox="1"/>
          <p:nvPr/>
        </p:nvSpPr>
        <p:spPr>
          <a:xfrm>
            <a:off x="2520000" y="6573600"/>
            <a:ext cx="7200000" cy="180000"/>
          </a:xfrm>
          <a:prstGeom prst="rect">
            <a:avLst/>
          </a:prstGeom>
          <a:noFill/>
        </p:spPr>
        <p:txBody>
          <a:bodyPr wrap="square" anchor="t" lIns="36000" rIns="36000" tIns="18000" bIns="18000">
            <a:spAutoFit/>
          </a:bodyPr>
          <a:lstStyle/>
          <a:p>
            <a:pPr algn="ctr"/>
            <a:r>
              <a:rPr sz="700" b="0">
                <a:solidFill>
                  <a:srgbClr val="6E7591"/>
                </a:solidFill>
                <a:latin typeface="Calibri"/>
              </a:rPr>
              <a:t>भारत डेटा प्राइवेट लिमिटेड · Board report v2 · Assessment period 01 Apr 2026 to 30 Jun 2026 · Evidence cut-off 15 Jul 2026 · Confidential</a:t>
            </a:r>
          </a:p>
        </p:txBody>
      </p:sp>
      <p:sp>
        <p:nvSpPr>
          <p:cNvPr id="13" name="Rectangle 12"/>
          <p:cNvSpPr/>
          <p:nvPr/>
        </p:nvSpPr>
        <p:spPr>
          <a:xfrm>
            <a:off x="11436120" y="6552000"/>
            <a:ext cx="252000" cy="216000"/>
          </a:xfrm>
          <a:prstGeom prst="rect">
            <a:avLst/>
          </a:prstGeom>
          <a:solidFill>
            <a:srgbClr val="16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6120" y="6566400"/>
            <a:ext cx="252000" cy="180000"/>
          </a:xfrm>
          <a:prstGeom prst="rect">
            <a:avLst/>
          </a:prstGeom>
          <a:noFill/>
        </p:spPr>
        <p:txBody>
          <a:bodyPr wrap="square" anchor="t" lIns="36000" rIns="36000" tIns="18000" bIns="18000">
            <a:spAutoFit/>
          </a:bodyPr>
          <a:lstStyle/>
          <a:p>
            <a:pPr algn="ctr"/>
            <a:r>
              <a:rPr sz="800" b="1">
                <a:solidFill>
                  <a:srgbClr val="FFFFFF"/>
                </a:solidFill>
                <a:latin typeface="Calibri"/>
              </a:rPr>
              <a:t>13</a:t>
            </a:r>
          </a:p>
        </p:txBody>
      </p:sp>
      <p:graphicFrame>
        <p:nvGraphicFramePr>
          <p:cNvPr id="15" name="Table 14"/>
          <p:cNvGraphicFramePr>
            <a:graphicFrameLocks noGrp="1"/>
          </p:cNvGraphicFramePr>
          <p:nvPr/>
        </p:nvGraphicFramePr>
        <p:xfrm>
          <a:off x="504000" y="1368000"/>
          <a:ext cx="11184120" cy="4680000"/>
        </p:xfrm>
        <a:graphic>
          <a:graphicData uri="http://schemas.openxmlformats.org/drawingml/2006/table">
            <a:tbl>
              <a:tblPr firstRow="1" bandRow="1">
                <a:tableStyleId>{5C22544A-7EE6-4342-B048-85BDC9FD1C3A}</a:tableStyleId>
              </a:tblPr>
              <a:tblGrid>
                <a:gridCol w="504000"/>
                <a:gridCol w="3744000"/>
                <a:gridCol w="864000"/>
                <a:gridCol w="1080000"/>
                <a:gridCol w="1440000"/>
                <a:gridCol w="792000"/>
                <a:gridCol w="864000"/>
                <a:gridCol w="792000"/>
                <a:gridCol w="1104120"/>
              </a:tblGrid>
              <a:tr h="520000">
                <a:tc>
                  <a:txBody>
                    <a:bodyPr/>
                    <a:lstStyle/>
                    <a:p>
                      <a:r>
                        <a:rPr sz="900" b="1">
                          <a:solidFill>
                            <a:srgbClr val="FFFFFF"/>
                          </a:solidFill>
                        </a:rPr>
                        <a:t>Ref</a:t>
                      </a:r>
                    </a:p>
                  </a:txBody>
                  <a:tcPr>
                    <a:solidFill>
                      <a:srgbClr val="161A5C"/>
                    </a:solidFill>
                  </a:tcPr>
                </a:tc>
                <a:tc>
                  <a:txBody>
                    <a:bodyPr/>
                    <a:lstStyle/>
                    <a:p>
                      <a:r>
                        <a:rPr sz="900" b="1">
                          <a:solidFill>
                            <a:srgbClr val="FFFFFF"/>
                          </a:solidFill>
                        </a:rPr>
                        <a:t>Initiative</a:t>
                      </a:r>
                    </a:p>
                  </a:txBody>
                  <a:tcPr>
                    <a:solidFill>
                      <a:srgbClr val="161A5C"/>
                    </a:solidFill>
                  </a:tcPr>
                </a:tc>
                <a:tc>
                  <a:txBody>
                    <a:bodyPr/>
                    <a:lstStyle/>
                    <a:p>
                      <a:r>
                        <a:rPr sz="900" b="1">
                          <a:solidFill>
                            <a:srgbClr val="FFFFFF"/>
                          </a:solidFill>
                        </a:rPr>
                        <a:t>Closes</a:t>
                      </a:r>
                    </a:p>
                  </a:txBody>
                  <a:tcPr>
                    <a:solidFill>
                      <a:srgbClr val="161A5C"/>
                    </a:solidFill>
                  </a:tcPr>
                </a:tc>
                <a:tc>
                  <a:txBody>
                    <a:bodyPr/>
                    <a:lstStyle/>
                    <a:p>
                      <a:r>
                        <a:rPr sz="900" b="1">
                          <a:solidFill>
                            <a:srgbClr val="FFFFFF"/>
                          </a:solidFill>
                        </a:rPr>
                        <a:t>Horizon</a:t>
                      </a:r>
                    </a:p>
                  </a:txBody>
                  <a:tcPr>
                    <a:solidFill>
                      <a:srgbClr val="161A5C"/>
                    </a:solidFill>
                  </a:tcPr>
                </a:tc>
                <a:tc>
                  <a:txBody>
                    <a:bodyPr/>
                    <a:lstStyle/>
                    <a:p>
                      <a:r>
                        <a:rPr sz="900" b="1">
                          <a:solidFill>
                            <a:srgbClr val="FFFFFF"/>
                          </a:solidFill>
                        </a:rPr>
                        <a:t>Owner</a:t>
                      </a:r>
                    </a:p>
                  </a:txBody>
                  <a:tcPr>
                    <a:solidFill>
                      <a:srgbClr val="161A5C"/>
                    </a:solidFill>
                  </a:tcPr>
                </a:tc>
                <a:tc>
                  <a:txBody>
                    <a:bodyPr/>
                    <a:lstStyle/>
                    <a:p>
                      <a:r>
                        <a:rPr sz="900" b="1">
                          <a:solidFill>
                            <a:srgbClr val="FFFFFF"/>
                          </a:solidFill>
                        </a:rPr>
                        <a:t>Priority</a:t>
                      </a:r>
                    </a:p>
                  </a:txBody>
                  <a:tcPr>
                    <a:solidFill>
                      <a:srgbClr val="161A5C"/>
                    </a:solidFill>
                  </a:tcPr>
                </a:tc>
                <a:tc>
                  <a:txBody>
                    <a:bodyPr/>
                    <a:lstStyle/>
                    <a:p>
                      <a:r>
                        <a:rPr sz="900" b="1">
                          <a:solidFill>
                            <a:srgbClr val="FFFFFF"/>
                          </a:solidFill>
                        </a:rPr>
                        <a:t>Complexity</a:t>
                      </a:r>
                    </a:p>
                  </a:txBody>
                  <a:tcPr>
                    <a:solidFill>
                      <a:srgbClr val="161A5C"/>
                    </a:solidFill>
                  </a:tcPr>
                </a:tc>
                <a:tc>
                  <a:txBody>
                    <a:bodyPr/>
                    <a:lstStyle/>
                    <a:p>
                      <a:r>
                        <a:rPr sz="900" b="1">
                          <a:solidFill>
                            <a:srgbClr val="FFFFFF"/>
                          </a:solidFill>
                        </a:rPr>
                        <a:t>Benefit</a:t>
                      </a:r>
                    </a:p>
                  </a:txBody>
                  <a:tcPr>
                    <a:solidFill>
                      <a:srgbClr val="161A5C"/>
                    </a:solidFill>
                  </a:tcPr>
                </a:tc>
                <a:tc>
                  <a:txBody>
                    <a:bodyPr/>
                    <a:lstStyle/>
                    <a:p>
                      <a:r>
                        <a:rPr sz="900" b="1">
                          <a:solidFill>
                            <a:srgbClr val="FFFFFF"/>
                          </a:solidFill>
                        </a:rPr>
                        <a:t>Status</a:t>
                      </a:r>
                    </a:p>
                  </a:txBody>
                  <a:tcPr>
                    <a:solidFill>
                      <a:srgbClr val="161A5C"/>
                    </a:solidFill>
                  </a:tcPr>
                </a:tc>
              </a:tr>
              <a:tr h="520000">
                <a:tc>
                  <a:txBody>
                    <a:bodyPr/>
                    <a:lstStyle/>
                    <a:p>
                      <a:r>
                        <a:rPr sz="900">
                          <a:solidFill>
                            <a:srgbClr val="0B0E26"/>
                          </a:solidFill>
                        </a:rPr>
                        <a:t>I-1</a:t>
                      </a:r>
                    </a:p>
                  </a:txBody>
                  <a:tcPr anchor="ctr">
                    <a:solidFill>
                      <a:srgbClr val="FFFFFF"/>
                    </a:solidFill>
                  </a:tcPr>
                </a:tc>
                <a:tc>
                  <a:txBody>
                    <a:bodyPr/>
                    <a:lstStyle/>
                    <a:p>
                      <a:r>
                        <a:rPr sz="900">
                          <a:solidFill>
                            <a:srgbClr val="0B0E26"/>
                          </a:solidFill>
                        </a:rPr>
                        <a:t>Establish role-based access and quarterly recertification</a:t>
                      </a:r>
                    </a:p>
                    <a:p>
                      <a:r>
                        <a:rPr sz="900">
                          <a:solidFill>
                            <a:srgbClr val="0B0E26"/>
                          </a:solidFill>
                        </a:rPr>
                        <a:t>Fixes once across ISO 27001 + India DPDPA</a:t>
                      </a:r>
                    </a:p>
                  </a:txBody>
                  <a:tcPr anchor="ctr">
                    <a:solidFill>
                      <a:srgbClr val="FFFFFF"/>
                    </a:solidFill>
                  </a:tcPr>
                </a:tc>
                <a:tc>
                  <a:txBody>
                    <a:bodyPr/>
                    <a:lstStyle/>
                    <a:p>
                      <a:r>
                        <a:rPr sz="900">
                          <a:solidFill>
                            <a:srgbClr val="0B0E26"/>
                          </a:solidFill>
                        </a:rPr>
                        <a:t>R-03, R-05</a:t>
                      </a:r>
                    </a:p>
                  </a:txBody>
                  <a:tcPr anchor="ctr">
                    <a:solidFill>
                      <a:srgbClr val="FFFFFF"/>
                    </a:solidFill>
                  </a:tcPr>
                </a:tc>
                <a:tc>
                  <a:txBody>
                    <a:bodyPr/>
                    <a:lstStyle/>
                    <a:p>
                      <a:r>
                        <a:rPr sz="900">
                          <a:solidFill>
                            <a:srgbClr val="0B0E26"/>
                          </a:solidFill>
                        </a:rPr>
                        <a:t>Short term</a:t>
                      </a:r>
                    </a:p>
                    <a:p>
                      <a:r>
                        <a:rPr sz="900">
                          <a:solidFill>
                            <a:srgbClr val="C0392B"/>
                          </a:solidFill>
                        </a:rPr>
                        <a:t>OVERDUE</a:t>
                      </a:r>
                    </a:p>
                  </a:txBody>
                  <a:tcPr anchor="ctr">
                    <a:solidFill>
                      <a:srgbClr val="FFFFFF"/>
                    </a:solidFill>
                  </a:tcPr>
                </a:tc>
                <a:tc>
                  <a:txBody>
                    <a:bodyPr/>
                    <a:lstStyle/>
                    <a:p>
                      <a:r>
                        <a:rPr sz="900">
                          <a:solidFill>
                            <a:srgbClr val="0B0E26"/>
                          </a:solidFill>
                        </a:rPr>
                        <a:t>Vikram Iyer (CISO)</a:t>
                      </a:r>
                    </a:p>
                  </a:txBody>
                  <a:tcPr anchor="ctr">
                    <a:solidFill>
                      <a:srgbClr val="FFFFFF"/>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Open, Open</a:t>
                      </a:r>
                    </a:p>
                  </a:txBody>
                  <a:tcPr anchor="ctr">
                    <a:solidFill>
                      <a:srgbClr val="FFFFFF"/>
                    </a:solidFill>
                  </a:tcPr>
                </a:tc>
              </a:tr>
              <a:tr h="520000">
                <a:tc>
                  <a:txBody>
                    <a:bodyPr/>
                    <a:lstStyle/>
                    <a:p>
                      <a:r>
                        <a:rPr sz="900">
                          <a:solidFill>
                            <a:srgbClr val="0B0E26"/>
                          </a:solidFill>
                        </a:rPr>
                        <a:t>I-2</a:t>
                      </a:r>
                    </a:p>
                  </a:txBody>
                  <a:tcPr anchor="ctr">
                    <a:solidFill>
                      <a:srgbClr val="F7F8FB"/>
                    </a:solidFill>
                  </a:tcPr>
                </a:tc>
                <a:tc>
                  <a:txBody>
                    <a:bodyPr/>
                    <a:lstStyle/>
                    <a:p>
                      <a:r>
                        <a:rPr sz="900">
                          <a:solidFill>
                            <a:srgbClr val="0B0E26"/>
                          </a:solidFill>
                        </a:rPr>
                        <a:t>Stand up regulator-ready breach notification</a:t>
                      </a:r>
                    </a:p>
                  </a:txBody>
                  <a:tcPr anchor="ctr">
                    <a:solidFill>
                      <a:srgbClr val="F7F8FB"/>
                    </a:solidFill>
                  </a:tcPr>
                </a:tc>
                <a:tc>
                  <a:txBody>
                    <a:bodyPr/>
                    <a:lstStyle/>
                    <a:p>
                      <a:r>
                        <a:rPr sz="900">
                          <a:solidFill>
                            <a:srgbClr val="0B0E26"/>
                          </a:solidFill>
                        </a:rPr>
                        <a:t>R-02</a:t>
                      </a:r>
                    </a:p>
                  </a:txBody>
                  <a:tcPr anchor="ctr">
                    <a:solidFill>
                      <a:srgbClr val="F7F8FB"/>
                    </a:solidFill>
                  </a:tcPr>
                </a:tc>
                <a:tc>
                  <a:txBody>
                    <a:bodyPr/>
                    <a:lstStyle/>
                    <a:p>
                      <a:r>
                        <a:rPr sz="900">
                          <a:solidFill>
                            <a:srgbClr val="0B0E26"/>
                          </a:solidFill>
                        </a:rPr>
                        <a:t>Short term</a:t>
                      </a:r>
                    </a:p>
                  </a:txBody>
                  <a:tcPr anchor="ctr">
                    <a:solidFill>
                      <a:srgbClr val="F7F8FB"/>
                    </a:solidFill>
                  </a:tcPr>
                </a:tc>
                <a:tc>
                  <a:txBody>
                    <a:bodyPr/>
                    <a:lstStyle/>
                    <a:p>
                      <a:r>
                        <a:rPr sz="900">
                          <a:solidFill>
                            <a:srgbClr val="0B0E26"/>
                          </a:solidFill>
                        </a:rPr>
                        <a:t>Vikram Iyer (CISO)</a:t>
                      </a:r>
                    </a:p>
                  </a:txBody>
                  <a:tcPr anchor="ctr">
                    <a:solidFill>
                      <a:srgbClr val="F7F8FB"/>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In progress, Open</a:t>
                      </a:r>
                    </a:p>
                  </a:txBody>
                  <a:tcPr anchor="ctr">
                    <a:solidFill>
                      <a:srgbClr val="F7F8FB"/>
                    </a:solidFill>
                  </a:tcPr>
                </a:tc>
              </a:tr>
              <a:tr h="520000">
                <a:tc>
                  <a:txBody>
                    <a:bodyPr/>
                    <a:lstStyle/>
                    <a:p>
                      <a:r>
                        <a:rPr sz="900">
                          <a:solidFill>
                            <a:srgbClr val="0B0E26"/>
                          </a:solidFill>
                        </a:rPr>
                        <a:t>I-3</a:t>
                      </a:r>
                    </a:p>
                  </a:txBody>
                  <a:tcPr anchor="ctr">
                    <a:solidFill>
                      <a:srgbClr val="FFFFFF"/>
                    </a:solidFill>
                  </a:tcPr>
                </a:tc>
                <a:tc>
                  <a:txBody>
                    <a:bodyPr/>
                    <a:lstStyle/>
                    <a:p>
                      <a:r>
                        <a:rPr sz="900">
                          <a:solidFill>
                            <a:srgbClr val="0B0E26"/>
                          </a:solidFill>
                        </a:rPr>
                        <a:t>Introduce risk-based patch SLAs with board reporting</a:t>
                      </a:r>
                    </a:p>
                  </a:txBody>
                  <a:tcPr anchor="ctr">
                    <a:solidFill>
                      <a:srgbClr val="FFFFFF"/>
                    </a:solidFill>
                  </a:tcPr>
                </a:tc>
                <a:tc>
                  <a:txBody>
                    <a:bodyPr/>
                    <a:lstStyle/>
                    <a:p>
                      <a:r>
                        <a:rPr sz="900">
                          <a:solidFill>
                            <a:srgbClr val="0B0E26"/>
                          </a:solidFill>
                        </a:rPr>
                        <a:t>R-04</a:t>
                      </a:r>
                    </a:p>
                  </a:txBody>
                  <a:tcPr anchor="ctr">
                    <a:solidFill>
                      <a:srgbClr val="FFFFFF"/>
                    </a:solidFill>
                  </a:tcPr>
                </a:tc>
                <a:tc>
                  <a:txBody>
                    <a:bodyPr/>
                    <a:lstStyle/>
                    <a:p>
                      <a:r>
                        <a:rPr sz="900">
                          <a:solidFill>
                            <a:srgbClr val="0B0E26"/>
                          </a:solidFill>
                        </a:rPr>
                        <a:t>Short term</a:t>
                      </a:r>
                    </a:p>
                  </a:txBody>
                  <a:tcPr anchor="ctr">
                    <a:solidFill>
                      <a:srgbClr val="FFFFFF"/>
                    </a:solidFill>
                  </a:tcPr>
                </a:tc>
                <a:tc>
                  <a:txBody>
                    <a:bodyPr/>
                    <a:lstStyle/>
                    <a:p>
                      <a:r>
                        <a:rPr sz="900">
                          <a:solidFill>
                            <a:srgbClr val="C0392B"/>
                          </a:solidFill>
                        </a:rPr>
                        <a:t>Not set</a:t>
                      </a:r>
                    </a:p>
                  </a:txBody>
                  <a:tcPr anchor="ctr">
                    <a:solidFill>
                      <a:srgbClr val="FFFFFF"/>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Open</a:t>
                      </a:r>
                    </a:p>
                  </a:txBody>
                  <a:tcPr anchor="ctr">
                    <a:solidFill>
                      <a:srgbClr val="FFFFFF"/>
                    </a:solidFill>
                  </a:tcPr>
                </a:tc>
              </a:tr>
              <a:tr h="520000">
                <a:tc>
                  <a:txBody>
                    <a:bodyPr/>
                    <a:lstStyle/>
                    <a:p>
                      <a:r>
                        <a:rPr sz="900">
                          <a:solidFill>
                            <a:srgbClr val="0B0E26"/>
                          </a:solidFill>
                        </a:rPr>
                        <a:t>I-4</a:t>
                      </a:r>
                    </a:p>
                  </a:txBody>
                  <a:tcPr anchor="ctr">
                    <a:solidFill>
                      <a:srgbClr val="F7F8FB"/>
                    </a:solidFill>
                  </a:tcPr>
                </a:tc>
                <a:tc>
                  <a:txBody>
                    <a:bodyPr/>
                    <a:lstStyle/>
                    <a:p>
                      <a:r>
                        <a:rPr sz="900">
                          <a:solidFill>
                            <a:srgbClr val="0B0E26"/>
                          </a:solidFill>
                        </a:rPr>
                        <a:t>Rebuild consent capture with versioned notices</a:t>
                      </a:r>
                    </a:p>
                  </a:txBody>
                  <a:tcPr anchor="ctr">
                    <a:solidFill>
                      <a:srgbClr val="F7F8FB"/>
                    </a:solidFill>
                  </a:tcPr>
                </a:tc>
                <a:tc>
                  <a:txBody>
                    <a:bodyPr/>
                    <a:lstStyle/>
                    <a:p>
                      <a:r>
                        <a:rPr sz="900">
                          <a:solidFill>
                            <a:srgbClr val="0B0E26"/>
                          </a:solidFill>
                        </a:rPr>
                        <a:t>R-01</a:t>
                      </a:r>
                    </a:p>
                  </a:txBody>
                  <a:tcPr anchor="ctr">
                    <a:solidFill>
                      <a:srgbClr val="F7F8FB"/>
                    </a:solidFill>
                  </a:tcPr>
                </a:tc>
                <a:tc>
                  <a:txBody>
                    <a:bodyPr/>
                    <a:lstStyle/>
                    <a:p>
                      <a:r>
                        <a:rPr sz="900">
                          <a:solidFill>
                            <a:srgbClr val="0B0E26"/>
                          </a:solidFill>
                        </a:rPr>
                        <a:t>Short term</a:t>
                      </a:r>
                    </a:p>
                  </a:txBody>
                  <a:tcPr anchor="ctr">
                    <a:solidFill>
                      <a:srgbClr val="F7F8FB"/>
                    </a:solidFill>
                  </a:tcPr>
                </a:tc>
                <a:tc>
                  <a:txBody>
                    <a:bodyPr/>
                    <a:lstStyle/>
                    <a:p>
                      <a:r>
                        <a:rPr sz="900">
                          <a:solidFill>
                            <a:srgbClr val="0B0E26"/>
                          </a:solidFill>
                        </a:rPr>
                        <a:t>Anita Rao (DPO)</a:t>
                      </a:r>
                    </a:p>
                  </a:txBody>
                  <a:tcPr anchor="ctr">
                    <a:solidFill>
                      <a:srgbClr val="F7F8FB"/>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In progress</a:t>
                      </a:r>
                    </a:p>
                  </a:txBody>
                  <a:tcPr anchor="ctr">
                    <a:solidFill>
                      <a:srgbClr val="F7F8FB"/>
                    </a:solidFill>
                  </a:tcPr>
                </a:tc>
              </a:tr>
              <a:tr h="520000">
                <a:tc>
                  <a:txBody>
                    <a:bodyPr/>
                    <a:lstStyle/>
                    <a:p>
                      <a:r>
                        <a:rPr sz="900">
                          <a:solidFill>
                            <a:srgbClr val="0B0E26"/>
                          </a:solidFill>
                        </a:rPr>
                        <a:t>I-5</a:t>
                      </a:r>
                    </a:p>
                  </a:txBody>
                  <a:tcPr anchor="ctr">
                    <a:solidFill>
                      <a:srgbClr val="FFFFFF"/>
                    </a:solidFill>
                  </a:tcPr>
                </a:tc>
                <a:tc>
                  <a:txBody>
                    <a:bodyPr/>
                    <a:lstStyle/>
                    <a:p>
                      <a:r>
                        <a:rPr sz="900">
                          <a:solidFill>
                            <a:srgbClr val="0B0E26"/>
                          </a:solidFill>
                        </a:rPr>
                        <a:t>Contract and assess processors and suppliers</a:t>
                      </a:r>
                    </a:p>
                    <a:p>
                      <a:r>
                        <a:rPr sz="900">
                          <a:solidFill>
                            <a:srgbClr val="0B0E26"/>
                          </a:solidFill>
                        </a:rPr>
                        <a:t>Fixes once across ISO 27001 + India DPDPA</a:t>
                      </a:r>
                    </a:p>
                  </a:txBody>
                  <a:tcPr anchor="ctr">
                    <a:solidFill>
                      <a:srgbClr val="FFFFFF"/>
                    </a:solidFill>
                  </a:tcPr>
                </a:tc>
                <a:tc>
                  <a:txBody>
                    <a:bodyPr/>
                    <a:lstStyle/>
                    <a:p>
                      <a:r>
                        <a:rPr sz="900">
                          <a:solidFill>
                            <a:srgbClr val="0B0E26"/>
                          </a:solidFill>
                        </a:rPr>
                        <a:t>R-06, R-07</a:t>
                      </a:r>
                    </a:p>
                  </a:txBody>
                  <a:tcPr anchor="ctr">
                    <a:solidFill>
                      <a:srgbClr val="FFFFFF"/>
                    </a:solidFill>
                  </a:tcPr>
                </a:tc>
                <a:tc>
                  <a:txBody>
                    <a:bodyPr/>
                    <a:lstStyle/>
                    <a:p>
                      <a:r>
                        <a:rPr sz="900">
                          <a:solidFill>
                            <a:srgbClr val="0B0E26"/>
                          </a:solidFill>
                        </a:rPr>
                        <a:t>Medium term</a:t>
                      </a:r>
                    </a:p>
                  </a:txBody>
                  <a:tcPr anchor="ctr">
                    <a:solidFill>
                      <a:srgbClr val="FFFFFF"/>
                    </a:solidFill>
                  </a:tcPr>
                </a:tc>
                <a:tc>
                  <a:txBody>
                    <a:bodyPr/>
                    <a:lstStyle/>
                    <a:p>
                      <a:r>
                        <a:rPr sz="900">
                          <a:solidFill>
                            <a:srgbClr val="0B0E26"/>
                          </a:solidFill>
                        </a:rPr>
                        <a:t>Anita Rao (DPO)</a:t>
                      </a:r>
                    </a:p>
                  </a:txBody>
                  <a:tcPr anchor="ctr">
                    <a:solidFill>
                      <a:srgbClr val="FFFFFF"/>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Open, Open</a:t>
                      </a:r>
                    </a:p>
                  </a:txBody>
                  <a:tcPr anchor="ctr">
                    <a:solidFill>
                      <a:srgbClr val="FFFFFF"/>
                    </a:solidFill>
                  </a:tcPr>
                </a:tc>
              </a:tr>
              <a:tr h="520000">
                <a:tc>
                  <a:txBody>
                    <a:bodyPr/>
                    <a:lstStyle/>
                    <a:p>
                      <a:r>
                        <a:rPr sz="900">
                          <a:solidFill>
                            <a:srgbClr val="0B0E26"/>
                          </a:solidFill>
                        </a:rPr>
                        <a:t>I-6</a:t>
                      </a:r>
                    </a:p>
                  </a:txBody>
                  <a:tcPr anchor="ctr">
                    <a:solidFill>
                      <a:srgbClr val="F7F8FB"/>
                    </a:solidFill>
                  </a:tcPr>
                </a:tc>
                <a:tc>
                  <a:txBody>
                    <a:bodyPr/>
                    <a:lstStyle/>
                    <a:p>
                      <a:r>
                        <a:rPr sz="900">
                          <a:solidFill>
                            <a:srgbClr val="0B0E26"/>
                          </a:solidFill>
                        </a:rPr>
                        <a:t>Automate retention and deletion for customer data</a:t>
                      </a:r>
                    </a:p>
                  </a:txBody>
                  <a:tcPr anchor="ctr">
                    <a:solidFill>
                      <a:srgbClr val="F7F8FB"/>
                    </a:solidFill>
                  </a:tcPr>
                </a:tc>
                <a:tc>
                  <a:txBody>
                    <a:bodyPr/>
                    <a:lstStyle/>
                    <a:p>
                      <a:r>
                        <a:rPr sz="900">
                          <a:solidFill>
                            <a:srgbClr val="0B0E26"/>
                          </a:solidFill>
                        </a:rPr>
                        <a:t>R-08</a:t>
                      </a:r>
                    </a:p>
                  </a:txBody>
                  <a:tcPr anchor="ctr">
                    <a:solidFill>
                      <a:srgbClr val="F7F8FB"/>
                    </a:solidFill>
                  </a:tcPr>
                </a:tc>
                <a:tc>
                  <a:txBody>
                    <a:bodyPr/>
                    <a:lstStyle/>
                    <a:p>
                      <a:r>
                        <a:rPr sz="900">
                          <a:solidFill>
                            <a:srgbClr val="0B0E26"/>
                          </a:solidFill>
                        </a:rPr>
                        <a:t>Long term</a:t>
                      </a:r>
                    </a:p>
                  </a:txBody>
                  <a:tcPr anchor="ctr">
                    <a:solidFill>
                      <a:srgbClr val="F7F8FB"/>
                    </a:solidFill>
                  </a:tcPr>
                </a:tc>
                <a:tc>
                  <a:txBody>
                    <a:bodyPr/>
                    <a:lstStyle/>
                    <a:p>
                      <a:r>
                        <a:rPr sz="900">
                          <a:solidFill>
                            <a:srgbClr val="0B0E26"/>
                          </a:solidFill>
                        </a:rPr>
                        <a:t>Ravi Menon (COO)</a:t>
                      </a:r>
                    </a:p>
                  </a:txBody>
                  <a:tcPr anchor="ctr">
                    <a:solidFill>
                      <a:srgbClr val="F7F8FB"/>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High</a:t>
                      </a:r>
                    </a:p>
                  </a:txBody>
                  <a:tcPr anchor="ctr">
                    <a:solidFill>
                      <a:srgbClr val="F4C7C3"/>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Open</a:t>
                      </a:r>
                    </a:p>
                  </a:txBody>
                  <a:tcPr anchor="ctr">
                    <a:solidFill>
                      <a:srgbClr val="F7F8FB"/>
                    </a:solidFill>
                  </a:tcPr>
                </a:tc>
              </a:tr>
              <a:tr h="520000">
                <a:tc>
                  <a:txBody>
                    <a:bodyPr/>
                    <a:lstStyle/>
                    <a:p>
                      <a:r>
                        <a:rPr sz="900">
                          <a:solidFill>
                            <a:srgbClr val="0B0E26"/>
                          </a:solidFill>
                        </a:rPr>
                        <a:t>I-7</a:t>
                      </a:r>
                    </a:p>
                  </a:txBody>
                  <a:tcPr anchor="ctr">
                    <a:solidFill>
                      <a:srgbClr val="FFFFFF"/>
                    </a:solidFill>
                  </a:tcPr>
                </a:tc>
                <a:tc>
                  <a:txBody>
                    <a:bodyPr/>
                    <a:lstStyle/>
                    <a:p>
                      <a:r>
                        <a:rPr sz="900">
                          <a:solidFill>
                            <a:srgbClr val="0B0E26"/>
                          </a:solidFill>
                        </a:rPr>
                        <a:t>Test continuity for the payments platform</a:t>
                      </a:r>
                    </a:p>
                  </a:txBody>
                  <a:tcPr anchor="ctr">
                    <a:solidFill>
                      <a:srgbClr val="FFFFFF"/>
                    </a:solidFill>
                  </a:tcPr>
                </a:tc>
                <a:tc>
                  <a:txBody>
                    <a:bodyPr/>
                    <a:lstStyle/>
                    <a:p>
                      <a:r>
                        <a:rPr sz="900">
                          <a:solidFill>
                            <a:srgbClr val="0B0E26"/>
                          </a:solidFill>
                        </a:rPr>
                        <a:t>R-09</a:t>
                      </a:r>
                    </a:p>
                  </a:txBody>
                  <a:tcPr anchor="ctr">
                    <a:solidFill>
                      <a:srgbClr val="FFFFFF"/>
                    </a:solidFill>
                  </a:tcPr>
                </a:tc>
                <a:tc>
                  <a:txBody>
                    <a:bodyPr/>
                    <a:lstStyle/>
                    <a:p>
                      <a:r>
                        <a:rPr sz="900">
                          <a:solidFill>
                            <a:srgbClr val="0B0E26"/>
                          </a:solidFill>
                        </a:rPr>
                        <a:t>Long term</a:t>
                      </a:r>
                    </a:p>
                  </a:txBody>
                  <a:tcPr anchor="ctr">
                    <a:solidFill>
                      <a:srgbClr val="FFFFFF"/>
                    </a:solidFill>
                  </a:tcPr>
                </a:tc>
                <a:tc>
                  <a:txBody>
                    <a:bodyPr/>
                    <a:lstStyle/>
                    <a:p>
                      <a:r>
                        <a:rPr sz="900">
                          <a:solidFill>
                            <a:srgbClr val="0B0E26"/>
                          </a:solidFill>
                        </a:rPr>
                        <a:t>Ravi Menon (COO)</a:t>
                      </a:r>
                    </a:p>
                  </a:txBody>
                  <a:tcPr anchor="ctr">
                    <a:solidFill>
                      <a:srgbClr val="FFFFFF"/>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Open</a:t>
                      </a:r>
                    </a:p>
                  </a:txBody>
                  <a:tcPr anchor="ctr">
                    <a:solidFill>
                      <a:srgbClr val="FFFFFF"/>
                    </a:solidFill>
                  </a:tcPr>
                </a:tc>
              </a:tr>
              <a:tr h="520000">
                <a:tc>
                  <a:txBody>
                    <a:bodyPr/>
                    <a:lstStyle/>
                    <a:p>
                      <a:r>
                        <a:rPr sz="900">
                          <a:solidFill>
                            <a:srgbClr val="0B0E26"/>
                          </a:solidFill>
                        </a:rPr>
                        <a:t>I-8</a:t>
                      </a:r>
                    </a:p>
                  </a:txBody>
                  <a:tcPr anchor="ctr">
                    <a:solidFill>
                      <a:srgbClr val="F7F8FB"/>
                    </a:solidFill>
                  </a:tcPr>
                </a:tc>
                <a:tc>
                  <a:txBody>
                    <a:bodyPr/>
                    <a:lstStyle/>
                    <a:p>
                      <a:r>
                        <a:rPr sz="900">
                          <a:solidFill>
                            <a:srgbClr val="0B0E26"/>
                          </a:solidFill>
                        </a:rPr>
                        <a:t>Track grievances against a published timeline</a:t>
                      </a:r>
                    </a:p>
                  </a:txBody>
                  <a:tcPr anchor="ctr">
                    <a:solidFill>
                      <a:srgbClr val="F7F8FB"/>
                    </a:solidFill>
                  </a:tcPr>
                </a:tc>
                <a:tc>
                  <a:txBody>
                    <a:bodyPr/>
                    <a:lstStyle/>
                    <a:p>
                      <a:r>
                        <a:rPr sz="900">
                          <a:solidFill>
                            <a:srgbClr val="0B0E26"/>
                          </a:solidFill>
                        </a:rPr>
                        <a:t>R-10</a:t>
                      </a:r>
                    </a:p>
                  </a:txBody>
                  <a:tcPr anchor="ctr">
                    <a:solidFill>
                      <a:srgbClr val="F7F8FB"/>
                    </a:solidFill>
                  </a:tcPr>
                </a:tc>
                <a:tc>
                  <a:txBody>
                    <a:bodyPr/>
                    <a:lstStyle/>
                    <a:p>
                      <a:r>
                        <a:rPr sz="900">
                          <a:solidFill>
                            <a:srgbClr val="0B0E26"/>
                          </a:solidFill>
                        </a:rPr>
                        <a:t>Not scheduled</a:t>
                      </a:r>
                    </a:p>
                  </a:txBody>
                  <a:tcPr anchor="ctr">
                    <a:solidFill>
                      <a:srgbClr val="F7F8FB"/>
                    </a:solidFill>
                  </a:tcPr>
                </a:tc>
                <a:tc>
                  <a:txBody>
                    <a:bodyPr/>
                    <a:lstStyle/>
                    <a:p>
                      <a:r>
                        <a:rPr sz="900">
                          <a:solidFill>
                            <a:srgbClr val="C0392B"/>
                          </a:solidFill>
                        </a:rPr>
                        <a:t>Not set</a:t>
                      </a:r>
                    </a:p>
                  </a:txBody>
                  <a:tcPr anchor="ctr">
                    <a:solidFill>
                      <a:srgbClr val="F7F8FB"/>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Low</a:t>
                      </a:r>
                    </a:p>
                  </a:txBody>
                  <a:tcPr anchor="ctr">
                    <a:solidFill>
                      <a:srgbClr val="D5E8C8"/>
                    </a:solidFill>
                  </a:tcPr>
                </a:tc>
                <a:tc>
                  <a:txBody>
                    <a:bodyPr/>
                    <a:lstStyle/>
                    <a:p>
                      <a:r>
                        <a:rPr sz="900">
                          <a:solidFill>
                            <a:srgbClr val="0B0E26"/>
                          </a:solidFill>
                        </a:rPr>
                        <a:t>Medium</a:t>
                      </a:r>
                    </a:p>
                  </a:txBody>
                  <a:tcPr anchor="ctr">
                    <a:solidFill>
                      <a:srgbClr val="FFF2A8"/>
                    </a:solidFill>
                  </a:tcPr>
                </a:tc>
                <a:tc>
                  <a:txBody>
                    <a:bodyPr/>
                    <a:lstStyle/>
                    <a:p>
                      <a:r>
                        <a:rPr sz="900">
                          <a:solidFill>
                            <a:srgbClr val="0B0E26"/>
                          </a:solidFill>
                        </a:rPr>
                        <a:t>Open</a:t>
                      </a:r>
                    </a:p>
                  </a:txBody>
                  <a:tcPr anchor="ctr">
                    <a:solidFill>
                      <a:srgbClr val="F7F8FB"/>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