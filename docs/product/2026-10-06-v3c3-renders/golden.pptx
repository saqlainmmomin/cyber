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Domain score</c:v>
                </c:pt>
              </c:strCache>
            </c:strRef>
          </c:tx>
          <c:spPr>
            <a:solidFill>
              <a:srgbClr val="161A5C"/>
            </a:solidFill>
            <a:ln>
              <a:solidFill>
                <a:srgbClr val="161A5C"/>
              </a:solidFill>
            </a:ln>
          </c:spPr>
          <c:cat>
            <c:strRef>
              <c:f>Sheet1!$A$2:$A$10</c:f>
              <c:strCache>
                <c:ptCount val="9"/>
                <c:pt idx="0">
                  <c:v>India DPDPA: Breach Notification</c:v>
                </c:pt>
                <c:pt idx="1">
                  <c:v>India DPDPA: Rights of Data Principal</c:v>
                </c:pt>
                <c:pt idx="2">
                  <c:v>India DPDPA: Obligations of Data Fiduciary</c:v>
                </c:pt>
                <c:pt idx="3">
                  <c:v>India DPDPA: Special Provisions</c:v>
                </c:pt>
                <c:pt idx="4">
                  <c:v>India DPDPA: Consent Management (Detailed)</c:v>
                </c:pt>
                <c:pt idx="5">
                  <c:v>India DPDPA: Cross-Border Data Transfer</c:v>
                </c:pt>
                <c:pt idx="6">
                  <c:v>ISO 27001: People Controls</c:v>
                </c:pt>
                <c:pt idx="7">
                  <c:v>ISO 27001: Organizational Controls</c:v>
                </c:pt>
                <c:pt idx="8">
                  <c:v>ISO 27001: Technological Controls</c:v>
                </c:pt>
              </c:strCache>
            </c:strRef>
          </c:cat>
          <c:val>
            <c:numRef>
              <c:f>Sheet1!$B$2:$B$10</c:f>
              <c:numCache>
                <c:formatCode>General</c:formatCode>
                <c:ptCount val="9"/>
                <c:pt idx="0">
                  <c:v>25.0</c:v>
                </c:pt>
                <c:pt idx="1">
                  <c:v>45.0</c:v>
                </c:pt>
                <c:pt idx="2">
                  <c:v>49.2</c:v>
                </c:pt>
                <c:pt idx="3">
                  <c:v>60.0</c:v>
                </c:pt>
                <c:pt idx="4">
                  <c:v>87.5</c:v>
                </c:pt>
                <c:pt idx="5">
                  <c:v>100.0</c:v>
                </c:pt>
                <c:pt idx="6">
                  <c:v>60.0</c:v>
                </c:pt>
                <c:pt idx="7">
                  <c:v>65.3</c:v>
                </c:pt>
                <c:pt idx="8">
                  <c:v>75.5</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max val="100.0"/>
          <c:min val="0.0"/>
        </c:scaling>
        <c:delete val="0"/>
        <c:axPos val="b"/>
        <c:majorGridlines/>
        <c:majorTickMark val="out"/>
        <c:minorTickMark val="none"/>
        <c:tickLblPos val="nextTo"/>
        <c:txPr>
          <a:bodyPr/>
          <a:lstStyle/>
          <a:p>
            <a:pPr>
              <a:defRPr sz="9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Compliant</c:v>
                </c:pt>
              </c:strCache>
            </c:strRef>
          </c:tx>
          <c:spPr>
            <a:solidFill>
              <a:srgbClr val="0E8F86"/>
            </a:solidFill>
            <a:ln>
              <a:solidFill>
                <a:srgbClr val="0E8F86"/>
              </a:solidFill>
            </a:ln>
          </c:spPr>
          <c:cat>
            <c:strRef>
              <c:f>Sheet1!$A$2:$A$3</c:f>
              <c:strCache>
                <c:ptCount val="2"/>
                <c:pt idx="0">
                  <c:v>India DPDPA</c:v>
                </c:pt>
                <c:pt idx="1">
                  <c:v>ISO 27001</c:v>
                </c:pt>
              </c:strCache>
            </c:strRef>
          </c:cat>
          <c:val>
            <c:numRef>
              <c:f>Sheet1!$B$2:$B$3</c:f>
              <c:numCache>
                <c:formatCode>General</c:formatCode>
                <c:ptCount val="2"/>
                <c:pt idx="0">
                  <c:v>10</c:v>
                </c:pt>
                <c:pt idx="1">
                  <c:v>33</c:v>
                </c:pt>
              </c:numCache>
            </c:numRef>
          </c:val>
        </c:ser>
        <c:ser>
          <c:idx val="1"/>
          <c:order val="1"/>
          <c:tx>
            <c:strRef>
              <c:f>Sheet1!$C$1</c:f>
              <c:strCache>
                <c:ptCount val="1"/>
                <c:pt idx="0">
                  <c:v>Partially compliant</c:v>
                </c:pt>
              </c:strCache>
            </c:strRef>
          </c:tx>
          <c:spPr>
            <a:solidFill>
              <a:srgbClr val="E39A1F"/>
            </a:solidFill>
            <a:ln>
              <a:solidFill>
                <a:srgbClr val="E39A1F"/>
              </a:solidFill>
            </a:ln>
          </c:spPr>
          <c:cat>
            <c:strRef>
              <c:f>Sheet1!$A$2:$A$3</c:f>
              <c:strCache>
                <c:ptCount val="2"/>
                <c:pt idx="0">
                  <c:v>India DPDPA</c:v>
                </c:pt>
                <c:pt idx="1">
                  <c:v>ISO 27001</c:v>
                </c:pt>
              </c:strCache>
            </c:strRef>
          </c:cat>
          <c:val>
            <c:numRef>
              <c:f>Sheet1!$C$2:$C$3</c:f>
              <c:numCache>
                <c:formatCode>General</c:formatCode>
                <c:ptCount val="2"/>
                <c:pt idx="0">
                  <c:v>21</c:v>
                </c:pt>
                <c:pt idx="1">
                  <c:v>27</c:v>
                </c:pt>
              </c:numCache>
            </c:numRef>
          </c:val>
        </c:ser>
        <c:ser>
          <c:idx val="2"/>
          <c:order val="2"/>
          <c:tx>
            <c:strRef>
              <c:f>Sheet1!$D$1</c:f>
              <c:strCache>
                <c:ptCount val="1"/>
                <c:pt idx="0">
                  <c:v>Non-compliant</c:v>
                </c:pt>
              </c:strCache>
            </c:strRef>
          </c:tx>
          <c:spPr>
            <a:solidFill>
              <a:srgbClr val="C0392B"/>
            </a:solidFill>
            <a:ln>
              <a:solidFill>
                <a:srgbClr val="C0392B"/>
              </a:solidFill>
            </a:ln>
          </c:spPr>
          <c:cat>
            <c:strRef>
              <c:f>Sheet1!$A$2:$A$3</c:f>
              <c:strCache>
                <c:ptCount val="2"/>
                <c:pt idx="0">
                  <c:v>India DPDPA</c:v>
                </c:pt>
                <c:pt idx="1">
                  <c:v>ISO 27001</c:v>
                </c:pt>
              </c:strCache>
            </c:strRef>
          </c:cat>
          <c:val>
            <c:numRef>
              <c:f>Sheet1!$D$2:$D$3</c:f>
              <c:numCache>
                <c:formatCode>General</c:formatCode>
                <c:ptCount val="2"/>
                <c:pt idx="0">
                  <c:v>5</c:v>
                </c:pt>
                <c:pt idx="1">
                  <c:v>6</c:v>
                </c:pt>
              </c:numCache>
            </c:numRef>
          </c:val>
        </c:ser>
        <c:ser>
          <c:idx val="3"/>
          <c:order val="3"/>
          <c:tx>
            <c:strRef>
              <c:f>Sheet1!$E$1</c:f>
              <c:strCache>
                <c:ptCount val="1"/>
                <c:pt idx="0">
                  <c:v>Not concluded</c:v>
                </c:pt>
              </c:strCache>
            </c:strRef>
          </c:tx>
          <c:spPr>
            <a:solidFill>
              <a:srgbClr val="9AA3B5"/>
            </a:solidFill>
            <a:ln>
              <a:solidFill>
                <a:srgbClr val="9AA3B5"/>
              </a:solidFill>
            </a:ln>
          </c:spPr>
          <c:cat>
            <c:strRef>
              <c:f>Sheet1!$A$2:$A$3</c:f>
              <c:strCache>
                <c:ptCount val="2"/>
                <c:pt idx="0">
                  <c:v>India DPDPA</c:v>
                </c:pt>
                <c:pt idx="1">
                  <c:v>ISO 27001</c:v>
                </c:pt>
              </c:strCache>
            </c:strRef>
          </c:cat>
          <c:val>
            <c:numRef>
              <c:f>Sheet1!$E$2:$E$3</c:f>
              <c:numCache>
                <c:formatCode>General</c:formatCode>
                <c:ptCount val="2"/>
                <c:pt idx="0">
                  <c:v>5</c:v>
                </c:pt>
                <c:pt idx="1">
                  <c:v>10</c:v>
                </c:pt>
              </c:numCache>
            </c:numRef>
          </c:val>
        </c:ser>
        <c:ser>
          <c:idx val="4"/>
          <c:order val="4"/>
          <c:tx>
            <c:strRef>
              <c:f>Sheet1!$F$1</c:f>
              <c:strCache>
                <c:ptCount val="1"/>
                <c:pt idx="0">
                  <c:v>Not applicable</c:v>
                </c:pt>
              </c:strCache>
            </c:strRef>
          </c:tx>
          <c:spPr>
            <a:solidFill>
              <a:srgbClr val="D5D9E3"/>
            </a:solidFill>
            <a:ln>
              <a:solidFill>
                <a:srgbClr val="D5D9E3"/>
              </a:solidFill>
            </a:ln>
          </c:spPr>
          <c:cat>
            <c:strRef>
              <c:f>Sheet1!$A$2:$A$3</c:f>
              <c:strCache>
                <c:ptCount val="2"/>
                <c:pt idx="0">
                  <c:v>India DPDPA</c:v>
                </c:pt>
                <c:pt idx="1">
                  <c:v>ISO 27001</c:v>
                </c:pt>
              </c:strCache>
            </c:strRef>
          </c:cat>
          <c:val>
            <c:numRef>
              <c:f>Sheet1!$F$2:$F$3</c:f>
              <c:numCache>
                <c:formatCode>General</c:formatCode>
                <c:ptCount val="2"/>
                <c:pt idx="0">
                  <c:v>0</c:v>
                </c:pt>
                <c:pt idx="1">
                  <c:v>3</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min val="0.0"/>
        </c:scaling>
        <c:delete val="0"/>
        <c:axPos val="b"/>
        <c:majorGridlines/>
        <c:majorTickMark val="out"/>
        <c:minorTickMark val="none"/>
        <c:tickLblPos val="nextTo"/>
        <c:txPr>
          <a:bodyPr/>
          <a:lstStyle/>
          <a:p>
            <a:pPr>
              <a:defRPr sz="900">
                <a:latin typeface="Calibri"/>
              </a:defRPr>
            </a:pPr>
          </a:p>
        </c:txPr>
        <c:crossAx val="-2068027336"/>
        <c:crosses val="autoZero"/>
      </c:valAx>
    </c:plotArea>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rk slide background"/>
          <p:cNvSpPr/>
          <p:nvPr/>
        </p:nvSpPr>
        <p:spPr>
          <a:xfrm>
            <a:off x="0" y="0"/>
            <a:ext cx="12192120" cy="685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FFFFFF"/>
                </a:solidFill>
                <a:latin typeface="Calibri"/>
              </a:defRPr>
            </a:pPr>
            <a:r>
              <a:t>Board report</a:t>
            </a:r>
          </a:p>
        </p:txBody>
      </p:sp>
      <p:sp>
        <p:nvSpPr>
          <p:cNvPr id="6" name="TextBox 5"/>
          <p:cNvSpPr txBox="1"/>
          <p:nvPr/>
        </p:nvSpPr>
        <p:spPr>
          <a:xfrm>
            <a:off x="648000" y="1008000"/>
            <a:ext cx="6840000" cy="360000"/>
          </a:xfrm>
          <a:prstGeom prst="rect">
            <a:avLst/>
          </a:prstGeom>
          <a:noFill/>
          <a:ln>
            <a:noFill/>
          </a:ln>
        </p:spPr>
        <p:txBody>
          <a:bodyPr wrap="square" anchor="t" lIns="43200" rIns="43200" tIns="25200" bIns="25200">
            <a:spAutoFit/>
          </a:bodyPr>
          <a:lstStyle/>
          <a:p>
            <a:pPr>
              <a:defRPr sz="1200" b="1">
                <a:solidFill>
                  <a:srgbClr val="FFFFFF"/>
                </a:solidFill>
                <a:latin typeface="Calibri"/>
              </a:defRPr>
            </a:pPr>
            <a:r>
              <a:t>Golden Advisory</a:t>
            </a:r>
          </a:p>
        </p:txBody>
      </p:sp>
      <p:sp>
        <p:nvSpPr>
          <p:cNvPr id="7" name="Draft badge"/>
          <p:cNvSpPr txBox="1"/>
          <p:nvPr/>
        </p:nvSpPr>
        <p:spPr>
          <a:xfrm>
            <a:off x="648000" y="1512000"/>
            <a:ext cx="1944000" cy="324000"/>
          </a:xfrm>
          <a:prstGeom prst="rect">
            <a:avLst/>
          </a:prstGeom>
          <a:solidFill>
            <a:srgbClr val="F2C14E"/>
          </a:solidFill>
          <a:ln>
            <a:noFill/>
          </a:ln>
        </p:spPr>
        <p:txBody>
          <a:bodyPr wrap="square" anchor="t" lIns="43200" rIns="43200" tIns="25200" bIns="25200">
            <a:spAutoFit/>
          </a:bodyPr>
          <a:lstStyle/>
          <a:p>
            <a:pPr>
              <a:defRPr sz="900" b="1">
                <a:solidFill>
                  <a:srgbClr val="0B0E26"/>
                </a:solidFill>
                <a:latin typeface="Calibri"/>
              </a:defRPr>
            </a:pPr>
            <a:r>
              <a:t>DRAFT UNTIL ISSUED</a:t>
            </a:r>
          </a:p>
        </p:txBody>
      </p:sp>
      <p:sp>
        <p:nvSpPr>
          <p:cNvPr id="8" name="TextBox 7"/>
          <p:cNvSpPr txBox="1"/>
          <p:nvPr/>
        </p:nvSpPr>
        <p:spPr>
          <a:xfrm>
            <a:off x="648000" y="2052000"/>
            <a:ext cx="6840000" cy="360000"/>
          </a:xfrm>
          <a:prstGeom prst="rect">
            <a:avLst/>
          </a:prstGeom>
          <a:noFill/>
          <a:ln>
            <a:noFill/>
          </a:ln>
        </p:spPr>
        <p:txBody>
          <a:bodyPr wrap="square" anchor="t" lIns="43200" rIns="43200" tIns="25200" bIns="25200">
            <a:spAutoFit/>
          </a:bodyPr>
          <a:lstStyle/>
          <a:p>
            <a:pPr>
              <a:defRPr sz="1100" b="1">
                <a:solidFill>
                  <a:srgbClr val="12B3A6"/>
                </a:solidFill>
                <a:latin typeface="Calibri"/>
              </a:defRPr>
            </a:pPr>
            <a:r>
              <a:t>FY26 privacy and security review</a:t>
            </a:r>
          </a:p>
        </p:txBody>
      </p:sp>
      <p:sp>
        <p:nvSpPr>
          <p:cNvPr id="9" name="TextBox 8"/>
          <p:cNvSpPr txBox="1"/>
          <p:nvPr/>
        </p:nvSpPr>
        <p:spPr>
          <a:xfrm>
            <a:off x="648000" y="2520000"/>
            <a:ext cx="7380000" cy="900000"/>
          </a:xfrm>
          <a:prstGeom prst="rect">
            <a:avLst/>
          </a:prstGeom>
          <a:noFill/>
          <a:ln>
            <a:noFill/>
          </a:ln>
        </p:spPr>
        <p:txBody>
          <a:bodyPr wrap="square" anchor="t" lIns="43200" rIns="43200" tIns="25200" bIns="25200">
            <a:spAutoFit/>
          </a:bodyPr>
          <a:lstStyle/>
          <a:p>
            <a:pPr>
              <a:defRPr sz="3000" b="1">
                <a:solidFill>
                  <a:srgbClr val="FFFFFF"/>
                </a:solidFill>
                <a:latin typeface="Calibri"/>
              </a:defRPr>
            </a:pPr>
            <a:r>
              <a:t>भारत डेटा प्राइवेट लिमिटेड</a:t>
            </a:r>
          </a:p>
        </p:txBody>
      </p:sp>
      <p:sp>
        <p:nvSpPr>
          <p:cNvPr id="10" name="TextBox 9"/>
          <p:cNvSpPr txBox="1"/>
          <p:nvPr/>
        </p:nvSpPr>
        <p:spPr>
          <a:xfrm>
            <a:off x="648000" y="3636000"/>
            <a:ext cx="7920000" cy="900000"/>
          </a:xfrm>
          <a:prstGeom prst="rect">
            <a:avLst/>
          </a:prstGeom>
          <a:noFill/>
          <a:ln>
            <a:noFill/>
          </a:ln>
        </p:spPr>
        <p:txBody>
          <a:bodyPr wrap="square" anchor="t" lIns="43200" rIns="43200" tIns="25200" bIns="25200">
            <a:spAutoFit/>
          </a:bodyPr>
          <a:lstStyle/>
          <a:p>
            <a:pPr>
              <a:defRPr sz="2200" b="1">
                <a:solidFill>
                  <a:srgbClr val="C9D0FF"/>
                </a:solidFill>
                <a:latin typeface="Calibri"/>
              </a:defRPr>
            </a:pPr>
            <a:r>
              <a:t>Privacy and information security compliance assessment</a:t>
            </a:r>
          </a:p>
        </p:txBody>
      </p:sp>
      <p:sp>
        <p:nvSpPr>
          <p:cNvPr id="11" name="Framework chip"/>
          <p:cNvSpPr/>
          <p:nvPr/>
        </p:nvSpPr>
        <p:spPr>
          <a:xfrm>
            <a:off x="648000" y="4788000"/>
            <a:ext cx="1209600" cy="360000"/>
          </a:xfrm>
          <a:prstGeom prst="roundRect">
            <a:avLst/>
          </a:prstGeom>
          <a:noFill/>
          <a:ln w="7620">
            <a:solidFill>
              <a:srgbClr val="6D7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4824000"/>
            <a:ext cx="1137600" cy="252000"/>
          </a:xfrm>
          <a:prstGeom prst="rect">
            <a:avLst/>
          </a:prstGeom>
          <a:noFill/>
          <a:ln>
            <a:noFill/>
          </a:ln>
        </p:spPr>
        <p:txBody>
          <a:bodyPr wrap="square" anchor="t" lIns="43200" rIns="43200" tIns="25200" bIns="25200">
            <a:spAutoFit/>
          </a:bodyPr>
          <a:lstStyle/>
          <a:p>
            <a:pPr>
              <a:defRPr sz="900" b="1">
                <a:solidFill>
                  <a:srgbClr val="E4E8FF"/>
                </a:solidFill>
                <a:latin typeface="Calibri"/>
              </a:defRPr>
            </a:pPr>
            <a:r>
              <a:t>India DPDPA 2023</a:t>
            </a:r>
          </a:p>
        </p:txBody>
      </p:sp>
      <p:sp>
        <p:nvSpPr>
          <p:cNvPr id="13" name="Framework chip"/>
          <p:cNvSpPr/>
          <p:nvPr/>
        </p:nvSpPr>
        <p:spPr>
          <a:xfrm>
            <a:off x="1965600" y="4788000"/>
            <a:ext cx="1058400" cy="360000"/>
          </a:xfrm>
          <a:prstGeom prst="roundRect">
            <a:avLst/>
          </a:prstGeom>
          <a:noFill/>
          <a:ln w="7620">
            <a:solidFill>
              <a:srgbClr val="6D7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1600" y="4824000"/>
            <a:ext cx="986400" cy="252000"/>
          </a:xfrm>
          <a:prstGeom prst="rect">
            <a:avLst/>
          </a:prstGeom>
          <a:noFill/>
          <a:ln>
            <a:noFill/>
          </a:ln>
        </p:spPr>
        <p:txBody>
          <a:bodyPr wrap="square" anchor="t" lIns="43200" rIns="43200" tIns="25200" bIns="25200">
            <a:spAutoFit/>
          </a:bodyPr>
          <a:lstStyle/>
          <a:p>
            <a:pPr>
              <a:defRPr sz="900" b="1">
                <a:solidFill>
                  <a:srgbClr val="E4E8FF"/>
                </a:solidFill>
                <a:latin typeface="Calibri"/>
              </a:defRPr>
            </a:pPr>
            <a:r>
              <a:t>ISO 27001 2022</a:t>
            </a:r>
          </a:p>
        </p:txBody>
      </p:sp>
      <p:sp>
        <p:nvSpPr>
          <p:cNvPr id="15" name="TextBox 14"/>
          <p:cNvSpPr txBox="1"/>
          <p:nvPr/>
        </p:nvSpPr>
        <p:spPr>
          <a:xfrm>
            <a:off x="648000" y="5688000"/>
            <a:ext cx="244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Assessment period</a:t>
            </a:r>
          </a:p>
          <a:p>
            <a:pPr>
              <a:defRPr sz="1100" b="1">
                <a:solidFill>
                  <a:srgbClr val="FFFFFF"/>
                </a:solidFill>
                <a:latin typeface="Calibri"/>
              </a:defRPr>
            </a:pPr>
            <a:r>
              <a:t>01 Apr 2026 to 30 Jun 2026</a:t>
            </a:r>
          </a:p>
        </p:txBody>
      </p:sp>
      <p:sp>
        <p:nvSpPr>
          <p:cNvPr id="16" name="TextBox 15"/>
          <p:cNvSpPr txBox="1"/>
          <p:nvPr/>
        </p:nvSpPr>
        <p:spPr>
          <a:xfrm>
            <a:off x="3240000" y="5688000"/>
            <a:ext cx="244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Evidence cut-off</a:t>
            </a:r>
          </a:p>
          <a:p>
            <a:pPr>
              <a:defRPr sz="1100" b="1">
                <a:solidFill>
                  <a:srgbClr val="FFFFFF"/>
                </a:solidFill>
                <a:latin typeface="Calibri"/>
              </a:defRPr>
            </a:pPr>
            <a:r>
              <a:t>15 Jul 2026</a:t>
            </a:r>
          </a:p>
        </p:txBody>
      </p:sp>
      <p:sp>
        <p:nvSpPr>
          <p:cNvPr id="17" name="TextBox 16"/>
          <p:cNvSpPr txBox="1"/>
          <p:nvPr/>
        </p:nvSpPr>
        <p:spPr>
          <a:xfrm>
            <a:off x="5832000" y="5688000"/>
            <a:ext cx="280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Version</a:t>
            </a:r>
          </a:p>
          <a:p>
            <a:pPr>
              <a:defRPr sz="1100" b="1">
                <a:solidFill>
                  <a:srgbClr val="FFFFFF"/>
                </a:solidFill>
                <a:latin typeface="Calibri"/>
              </a:defRPr>
            </a:pPr>
            <a:r>
              <a:t>v2 · 28 Sep 2026</a:t>
            </a:r>
          </a:p>
        </p:txBody>
      </p:sp>
      <p:sp>
        <p:nvSpPr>
          <p:cNvPr id="18" name="TextBox 17"/>
          <p:cNvSpPr txBox="1"/>
          <p:nvPr/>
        </p:nvSpPr>
        <p:spPr>
          <a:xfrm>
            <a:off x="8784000" y="5688000"/>
            <a:ext cx="2160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Snapshot</a:t>
            </a:r>
          </a:p>
          <a:p>
            <a:pPr>
              <a:defRPr sz="1100" b="1">
                <a:solidFill>
                  <a:srgbClr val="FFFFFF"/>
                </a:solidFill>
                <a:latin typeface="Calibri"/>
              </a:defRPr>
            </a:pPr>
            <a:r>
              <a:t>5f2c9e1a</a:t>
            </a:r>
          </a:p>
        </p:txBody>
      </p:sp>
      <p:sp>
        <p:nvSpPr>
          <p:cNvPr id="19" name="Footer rule"/>
          <p:cNvSpPr/>
          <p:nvPr/>
        </p:nvSpPr>
        <p:spPr>
          <a:xfrm>
            <a:off x="0" y="6480000"/>
            <a:ext cx="12192120" cy="14400"/>
          </a:xfrm>
          <a:prstGeom prst="rect">
            <a:avLst/>
          </a:prstGeom>
          <a:solidFill>
            <a:srgbClr val="6D7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C9D0FF"/>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21"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 of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Contents</a:t>
            </a:r>
          </a:p>
        </p:txBody>
      </p:sp>
      <p:sp>
        <p:nvSpPr>
          <p:cNvPr id="5" name="TextBox 4"/>
          <p:cNvSpPr txBox="1"/>
          <p:nvPr/>
        </p:nvSpPr>
        <p:spPr>
          <a:xfrm>
            <a:off x="936000" y="1584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01</a:t>
            </a:r>
          </a:p>
        </p:txBody>
      </p:sp>
      <p:sp>
        <p:nvSpPr>
          <p:cNvPr id="6" name="TextBox 5"/>
          <p:cNvSpPr txBox="1"/>
          <p:nvPr/>
        </p:nvSpPr>
        <p:spPr>
          <a:xfrm>
            <a:off x="1800000" y="1620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How to read this report</a:t>
            </a:r>
          </a:p>
        </p:txBody>
      </p:sp>
      <p:sp>
        <p:nvSpPr>
          <p:cNvPr id="7" name="TextBox 6"/>
          <p:cNvSpPr txBox="1"/>
          <p:nvPr/>
        </p:nvSpPr>
        <p:spPr>
          <a:xfrm>
            <a:off x="1800000" y="1980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Outcomes, risk levels and ratings</a:t>
            </a:r>
          </a:p>
        </p:txBody>
      </p:sp>
      <p:sp>
        <p:nvSpPr>
          <p:cNvPr id="8" name="TextBox 7"/>
          <p:cNvSpPr txBox="1"/>
          <p:nvPr/>
        </p:nvSpPr>
        <p:spPr>
          <a:xfrm>
            <a:off x="9792000" y="1764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3</a:t>
            </a:r>
          </a:p>
        </p:txBody>
      </p:sp>
      <p:sp>
        <p:nvSpPr>
          <p:cNvPr id="9" name="TextBox 8"/>
          <p:cNvSpPr txBox="1"/>
          <p:nvPr/>
        </p:nvSpPr>
        <p:spPr>
          <a:xfrm>
            <a:off x="936000" y="2448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02</a:t>
            </a:r>
          </a:p>
        </p:txBody>
      </p:sp>
      <p:sp>
        <p:nvSpPr>
          <p:cNvPr id="10" name="TextBox 9"/>
          <p:cNvSpPr txBox="1"/>
          <p:nvPr/>
        </p:nvSpPr>
        <p:spPr>
          <a:xfrm>
            <a:off x="1800000" y="2484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Executive summary</a:t>
            </a:r>
          </a:p>
        </p:txBody>
      </p:sp>
      <p:sp>
        <p:nvSpPr>
          <p:cNvPr id="11" name="TextBox 10"/>
          <p:cNvSpPr txBox="1"/>
          <p:nvPr/>
        </p:nvSpPr>
        <p:spPr>
          <a:xfrm>
            <a:off x="1800000" y="2844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Position, posture, domains, risk and decisions</a:t>
            </a:r>
          </a:p>
        </p:txBody>
      </p:sp>
      <p:sp>
        <p:nvSpPr>
          <p:cNvPr id="12" name="TextBox 11"/>
          <p:cNvSpPr txBox="1"/>
          <p:nvPr/>
        </p:nvSpPr>
        <p:spPr>
          <a:xfrm>
            <a:off x="9792000" y="2628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5</a:t>
            </a:r>
          </a:p>
        </p:txBody>
      </p:sp>
      <p:sp>
        <p:nvSpPr>
          <p:cNvPr id="13" name="TextBox 12"/>
          <p:cNvSpPr txBox="1"/>
          <p:nvPr/>
        </p:nvSpPr>
        <p:spPr>
          <a:xfrm>
            <a:off x="936000" y="3312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03</a:t>
            </a:r>
          </a:p>
        </p:txBody>
      </p:sp>
      <p:sp>
        <p:nvSpPr>
          <p:cNvPr id="14" name="TextBox 13"/>
          <p:cNvSpPr txBox="1"/>
          <p:nvPr/>
        </p:nvSpPr>
        <p:spPr>
          <a:xfrm>
            <a:off x="1800000" y="3348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Key observations</a:t>
            </a:r>
          </a:p>
        </p:txBody>
      </p:sp>
      <p:sp>
        <p:nvSpPr>
          <p:cNvPr id="15" name="TextBox 14"/>
          <p:cNvSpPr txBox="1"/>
          <p:nvPr/>
        </p:nvSpPr>
        <p:spPr>
          <a:xfrm>
            <a:off x="1800000" y="3708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10 approved findings</a:t>
            </a:r>
          </a:p>
        </p:txBody>
      </p:sp>
      <p:sp>
        <p:nvSpPr>
          <p:cNvPr id="16" name="TextBox 15"/>
          <p:cNvSpPr txBox="1"/>
          <p:nvPr/>
        </p:nvSpPr>
        <p:spPr>
          <a:xfrm>
            <a:off x="9792000" y="3492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10</a:t>
            </a:r>
          </a:p>
        </p:txBody>
      </p:sp>
      <p:sp>
        <p:nvSpPr>
          <p:cNvPr id="17" name="TextBox 16"/>
          <p:cNvSpPr txBox="1"/>
          <p:nvPr/>
        </p:nvSpPr>
        <p:spPr>
          <a:xfrm>
            <a:off x="936000" y="4176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04</a:t>
            </a:r>
          </a:p>
        </p:txBody>
      </p:sp>
      <p:sp>
        <p:nvSpPr>
          <p:cNvPr id="18" name="TextBox 17"/>
          <p:cNvSpPr txBox="1"/>
          <p:nvPr/>
        </p:nvSpPr>
        <p:spPr>
          <a:xfrm>
            <a:off x="1800000" y="4212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Remediation roadmap</a:t>
            </a:r>
          </a:p>
        </p:txBody>
      </p:sp>
      <p:sp>
        <p:nvSpPr>
          <p:cNvPr id="19" name="TextBox 18"/>
          <p:cNvSpPr txBox="1"/>
          <p:nvPr/>
        </p:nvSpPr>
        <p:spPr>
          <a:xfrm>
            <a:off x="1800000" y="4572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Initiatives, effort, benefit and change</a:t>
            </a:r>
          </a:p>
        </p:txBody>
      </p:sp>
      <p:sp>
        <p:nvSpPr>
          <p:cNvPr id="20" name="TextBox 19"/>
          <p:cNvSpPr txBox="1"/>
          <p:nvPr/>
        </p:nvSpPr>
        <p:spPr>
          <a:xfrm>
            <a:off x="9792000" y="4356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14</a:t>
            </a:r>
          </a:p>
        </p:txBody>
      </p:sp>
      <p:sp>
        <p:nvSpPr>
          <p:cNvPr id="21" name="TextBox 20"/>
          <p:cNvSpPr txBox="1"/>
          <p:nvPr/>
        </p:nvSpPr>
        <p:spPr>
          <a:xfrm>
            <a:off x="936000" y="5040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05</a:t>
            </a:r>
          </a:p>
        </p:txBody>
      </p:sp>
      <p:sp>
        <p:nvSpPr>
          <p:cNvPr id="22" name="TextBox 21"/>
          <p:cNvSpPr txBox="1"/>
          <p:nvPr/>
        </p:nvSpPr>
        <p:spPr>
          <a:xfrm>
            <a:off x="1800000" y="5076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Annexure</a:t>
            </a:r>
          </a:p>
        </p:txBody>
      </p:sp>
      <p:sp>
        <p:nvSpPr>
          <p:cNvPr id="23" name="TextBox 22"/>
          <p:cNvSpPr txBox="1"/>
          <p:nvPr/>
        </p:nvSpPr>
        <p:spPr>
          <a:xfrm>
            <a:off x="1800000" y="5436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Methodology, requirement and evidence registers</a:t>
            </a:r>
          </a:p>
        </p:txBody>
      </p:sp>
      <p:sp>
        <p:nvSpPr>
          <p:cNvPr id="24" name="TextBox 23"/>
          <p:cNvSpPr txBox="1"/>
          <p:nvPr/>
        </p:nvSpPr>
        <p:spPr>
          <a:xfrm>
            <a:off x="9792000" y="5220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19</a:t>
            </a:r>
          </a:p>
        </p:txBody>
      </p:sp>
      <p:sp>
        <p:nvSpPr>
          <p:cNvPr id="25"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27"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 of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How to read this report</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Every requirement gets one outcome, every gap gets a risk level, and each framework gets a score.</a:t>
            </a:r>
          </a:p>
        </p:txBody>
      </p:sp>
      <p:graphicFrame>
        <p:nvGraphicFramePr>
          <p:cNvPr id="6" name="Native evidence table"/>
          <p:cNvGraphicFramePr>
            <a:graphicFrameLocks noGrp="1"/>
          </p:cNvGraphicFramePr>
          <p:nvPr/>
        </p:nvGraphicFramePr>
        <p:xfrm>
          <a:off x="504000" y="1728000"/>
          <a:ext cx="5760000" cy="1872000"/>
        </p:xfrm>
        <a:graphic>
          <a:graphicData uri="http://schemas.openxmlformats.org/drawingml/2006/table">
            <a:tbl>
              <a:tblPr firstRow="1" bandRow="1">
                <a:tableStyleId>{5C22544A-7EE6-4342-B048-85BDC9FD1C3A}</a:tableStyleId>
              </a:tblPr>
              <a:tblGrid>
                <a:gridCol w="1872000"/>
                <a:gridCol w="3888000"/>
              </a:tblGrid>
              <a:tr h="312000">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Meaning</a:t>
                      </a:r>
                    </a:p>
                  </a:txBody>
                  <a:tcPr marL="43200" marR="43200" marT="21600" marB="21600" anchor="ctr">
                    <a:solidFill>
                      <a:srgbClr val="161A5C"/>
                    </a:solidFill>
                  </a:tcPr>
                </a:tc>
              </a:tr>
              <a:tr h="312000">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Met, and the evidence shows it.</a:t>
                      </a:r>
                    </a:p>
                  </a:txBody>
                  <a:tcPr marL="43200" marR="43200" marT="21600" marB="21600" anchor="ctr">
                    <a:solidFill>
                      <a:srgbClr val="FFFFFF"/>
                    </a:solidFill>
                  </a:tcPr>
                </a:tc>
              </a:tr>
              <a:tr h="312000">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Met in part; a gap remains.</a:t>
                      </a:r>
                    </a:p>
                  </a:txBody>
                  <a:tcPr marL="43200" marR="43200" marT="21600" marB="21600" anchor="ctr">
                    <a:solidFill>
                      <a:srgbClr val="F1F3F8"/>
                    </a:solidFill>
                  </a:tcPr>
                </a:tc>
              </a:tr>
              <a:tr h="312000">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Not met.</a:t>
                      </a:r>
                    </a:p>
                  </a:txBody>
                  <a:tcPr marL="43200" marR="43200" marT="21600" marB="21600" anchor="ctr">
                    <a:solidFill>
                      <a:srgbClr val="FFFFFF"/>
                    </a:solidFill>
                  </a:tcPr>
                </a:tc>
              </a:tr>
              <a:tr h="312000">
                <a:tc>
                  <a:txBody>
                    <a:bodyPr/>
                    <a:lstStyle/>
                    <a:p>
                      <a:pPr>
                        <a:defRPr sz="900" b="0">
                          <a:solidFill>
                            <a:srgbClr val="0B0E26"/>
                          </a:solidFill>
                          <a:latin typeface="Calibri"/>
                        </a:defRPr>
                      </a:pPr>
                      <a:r>
                        <a:t>Not concluded</a:t>
                      </a:r>
                    </a:p>
                  </a:txBody>
                  <a:tcPr marL="43200" marR="43200" marT="21600" marB="21600" anchor="ctr">
                    <a:solidFill>
                      <a:srgbClr val="F1F3F8"/>
                    </a:solidFill>
                  </a:tcPr>
                </a:tc>
                <a:tc>
                  <a:txBody>
                    <a:bodyPr/>
                    <a:lstStyle/>
                    <a:p>
                      <a:pPr>
                        <a:defRPr sz="900" b="0">
                          <a:solidFill>
                            <a:srgbClr val="0B0E26"/>
                          </a:solidFill>
                          <a:latin typeface="Calibri"/>
                        </a:defRPr>
                      </a:pPr>
                      <a:r>
                        <a:t>Evidence does not support a conclusion; left out of scores.</a:t>
                      </a:r>
                    </a:p>
                  </a:txBody>
                  <a:tcPr marL="43200" marR="43200" marT="21600" marB="21600" anchor="ctr">
                    <a:solidFill>
                      <a:srgbClr val="F1F3F8"/>
                    </a:solidFill>
                  </a:tcPr>
                </a:tc>
              </a:tr>
              <a:tr h="312000">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Does not apply within the assessed scope.</a:t>
                      </a:r>
                    </a:p>
                  </a:txBody>
                  <a:tcPr marL="43200" marR="43200" marT="21600" marB="21600" anchor="ctr">
                    <a:solidFill>
                      <a:srgbClr val="FFFFFF"/>
                    </a:solidFill>
                  </a:tcPr>
                </a:tc>
              </a:tr>
            </a:tbl>
          </a:graphicData>
        </a:graphic>
      </p:graphicFrame>
      <p:sp>
        <p:nvSpPr>
          <p:cNvPr id="7" name="TextBox 6"/>
          <p:cNvSpPr txBox="1"/>
          <p:nvPr/>
        </p:nvSpPr>
        <p:spPr>
          <a:xfrm>
            <a:off x="6624000" y="1728000"/>
            <a:ext cx="486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Risk levels</a:t>
            </a:r>
          </a:p>
        </p:txBody>
      </p:sp>
      <p:sp>
        <p:nvSpPr>
          <p:cNvPr id="8" name="Risk level legend"/>
          <p:cNvSpPr/>
          <p:nvPr/>
        </p:nvSpPr>
        <p:spPr>
          <a:xfrm>
            <a:off x="6624000" y="2196000"/>
            <a:ext cx="2304000" cy="720000"/>
          </a:xfrm>
          <a:prstGeom prst="round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6000" y="22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Critical</a:t>
            </a:r>
          </a:p>
          <a:p>
            <a:pPr>
              <a:defRPr sz="1000" b="1">
                <a:solidFill>
                  <a:srgbClr val="FFFFFF"/>
                </a:solidFill>
                <a:latin typeface="Calibri"/>
              </a:defRPr>
            </a:pPr>
            <a:r>
              <a:t>Material exposure. Act now.</a:t>
            </a:r>
          </a:p>
        </p:txBody>
      </p:sp>
      <p:sp>
        <p:nvSpPr>
          <p:cNvPr id="10" name="Risk level legend"/>
          <p:cNvSpPr/>
          <p:nvPr/>
        </p:nvSpPr>
        <p:spPr>
          <a:xfrm>
            <a:off x="9144000" y="2196000"/>
            <a:ext cx="2304000" cy="720000"/>
          </a:xfrm>
          <a:prstGeom prst="roundRect">
            <a:avLst/>
          </a:prstGeom>
          <a:solidFill>
            <a:srgbClr val="D94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16000" y="22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High</a:t>
            </a:r>
          </a:p>
          <a:p>
            <a:pPr>
              <a:defRPr sz="1000" b="1">
                <a:solidFill>
                  <a:srgbClr val="FFFFFF"/>
                </a:solidFill>
                <a:latin typeface="Calibri"/>
              </a:defRPr>
            </a:pPr>
            <a:r>
              <a:t>Significant exposure. Act this quarter.</a:t>
            </a:r>
          </a:p>
        </p:txBody>
      </p:sp>
      <p:sp>
        <p:nvSpPr>
          <p:cNvPr id="12" name="Risk level legend"/>
          <p:cNvSpPr/>
          <p:nvPr/>
        </p:nvSpPr>
        <p:spPr>
          <a:xfrm>
            <a:off x="6624000" y="3096000"/>
            <a:ext cx="2304000" cy="720000"/>
          </a:xfrm>
          <a:prstGeom prst="roundRect">
            <a:avLst/>
          </a:prstGeom>
          <a:solidFill>
            <a:srgbClr val="F0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6000" y="3168000"/>
            <a:ext cx="2160000" cy="576000"/>
          </a:xfrm>
          <a:prstGeom prst="rect">
            <a:avLst/>
          </a:prstGeom>
          <a:noFill/>
          <a:ln>
            <a:noFill/>
          </a:ln>
        </p:spPr>
        <p:txBody>
          <a:bodyPr wrap="square" anchor="t" lIns="43200" rIns="43200" tIns="25200" bIns="25200">
            <a:spAutoFit/>
          </a:bodyPr>
          <a:lstStyle/>
          <a:p>
            <a:pPr>
              <a:defRPr sz="1000" b="1">
                <a:solidFill>
                  <a:srgbClr val="0B0E26"/>
                </a:solidFill>
                <a:latin typeface="Calibri"/>
              </a:defRPr>
            </a:pPr>
            <a:r>
              <a:t>Medium</a:t>
            </a:r>
          </a:p>
          <a:p>
            <a:pPr>
              <a:defRPr sz="1000" b="1">
                <a:solidFill>
                  <a:srgbClr val="0B0E26"/>
                </a:solidFill>
                <a:latin typeface="Calibri"/>
              </a:defRPr>
            </a:pPr>
            <a:r>
              <a:t>Moderate exposure. Plan within six months.</a:t>
            </a:r>
          </a:p>
        </p:txBody>
      </p:sp>
      <p:sp>
        <p:nvSpPr>
          <p:cNvPr id="14" name="Risk level legend"/>
          <p:cNvSpPr/>
          <p:nvPr/>
        </p:nvSpPr>
        <p:spPr>
          <a:xfrm>
            <a:off x="9144000" y="3096000"/>
            <a:ext cx="2304000" cy="720000"/>
          </a:xfrm>
          <a:prstGeom prst="roundRect">
            <a:avLst/>
          </a:prstGeom>
          <a:solidFill>
            <a:srgbClr val="3C9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6000" y="31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Low</a:t>
            </a:r>
          </a:p>
          <a:p>
            <a:pPr>
              <a:defRPr sz="1000" b="1">
                <a:solidFill>
                  <a:srgbClr val="FFFFFF"/>
                </a:solidFill>
                <a:latin typeface="Calibri"/>
              </a:defRPr>
            </a:pPr>
            <a:r>
              <a:t>Limited exposure. Fix normally.</a:t>
            </a:r>
          </a:p>
        </p:txBody>
      </p:sp>
      <p:sp>
        <p:nvSpPr>
          <p:cNvPr id="16" name="TextBox 15"/>
          <p:cNvSpPr txBox="1"/>
          <p:nvPr/>
        </p:nvSpPr>
        <p:spPr>
          <a:xfrm>
            <a:off x="504000" y="4068000"/>
            <a:ext cx="324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Rating bands</a:t>
            </a:r>
          </a:p>
        </p:txBody>
      </p:sp>
      <p:sp>
        <p:nvSpPr>
          <p:cNvPr id="17" name="Rating band legend"/>
          <p:cNvSpPr/>
          <p:nvPr/>
        </p:nvSpPr>
        <p:spPr>
          <a:xfrm>
            <a:off x="504000" y="4536000"/>
            <a:ext cx="2664000" cy="504000"/>
          </a:xfrm>
          <a:prstGeom prst="rect">
            <a:avLst/>
          </a:prstGeom>
          <a:solidFill>
            <a:srgbClr val="CDD2DE"/>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Non-Compliant</a:t>
            </a:r>
          </a:p>
        </p:txBody>
      </p:sp>
      <p:sp>
        <p:nvSpPr>
          <p:cNvPr id="19" name="Rating band legend"/>
          <p:cNvSpPr/>
          <p:nvPr/>
        </p:nvSpPr>
        <p:spPr>
          <a:xfrm>
            <a:off x="3276000" y="4536000"/>
            <a:ext cx="2664000" cy="504000"/>
          </a:xfrm>
          <a:prstGeom prst="rect">
            <a:avLst/>
          </a:prstGeom>
          <a:solidFill>
            <a:srgbClr val="DCE0E9"/>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48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Needs Significant Improvement</a:t>
            </a:r>
          </a:p>
        </p:txBody>
      </p:sp>
      <p:sp>
        <p:nvSpPr>
          <p:cNvPr id="21" name="Rating band legend"/>
          <p:cNvSpPr/>
          <p:nvPr/>
        </p:nvSpPr>
        <p:spPr>
          <a:xfrm>
            <a:off x="6048000" y="4536000"/>
            <a:ext cx="2664000" cy="504000"/>
          </a:xfrm>
          <a:prstGeom prst="rect">
            <a:avLst/>
          </a:prstGeom>
          <a:solidFill>
            <a:srgbClr val="E9ECF2"/>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0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Partially Compliant</a:t>
            </a:r>
          </a:p>
        </p:txBody>
      </p:sp>
      <p:sp>
        <p:nvSpPr>
          <p:cNvPr id="23" name="Rating band legend"/>
          <p:cNvSpPr/>
          <p:nvPr/>
        </p:nvSpPr>
        <p:spPr>
          <a:xfrm>
            <a:off x="8820000" y="4536000"/>
            <a:ext cx="2664000" cy="504000"/>
          </a:xfrm>
          <a:prstGeom prst="rect">
            <a:avLst/>
          </a:prstGeom>
          <a:solidFill>
            <a:srgbClr val="F5F6F9"/>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92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Compliant</a:t>
            </a:r>
          </a:p>
        </p:txBody>
      </p:sp>
      <p:sp>
        <p:nvSpPr>
          <p:cNvPr id="25" name="TextBox 24"/>
          <p:cNvSpPr txBox="1"/>
          <p:nvPr/>
        </p:nvSpPr>
        <p:spPr>
          <a:xfrm>
            <a:off x="504000" y="5400000"/>
            <a:ext cx="11160000" cy="612000"/>
          </a:xfrm>
          <a:prstGeom prst="rect">
            <a:avLst/>
          </a:prstGeom>
          <a:solidFill>
            <a:srgbClr val="F1F3F8"/>
          </a:solidFill>
          <a:ln>
            <a:noFill/>
          </a:ln>
        </p:spPr>
        <p:txBody>
          <a:bodyPr wrap="square" anchor="t" lIns="43200" rIns="43200" tIns="25200" bIns="25200">
            <a:spAutoFit/>
          </a:bodyPr>
          <a:lstStyle/>
          <a:p>
            <a:pPr>
              <a:defRPr sz="1200" b="0">
                <a:solidFill>
                  <a:srgbClr val="3A4060"/>
                </a:solidFill>
                <a:latin typeface="Calibri"/>
              </a:defRPr>
            </a:pPr>
            <a:r>
              <a:t>Scores are deterministic and never combined across frameworks. Priority, effort and benefit describe remediation choices, not likelihood.</a:t>
            </a:r>
          </a:p>
        </p:txBody>
      </p:sp>
      <p:sp>
        <p:nvSpPr>
          <p:cNvPr id="2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2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3 of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We assessed 120 requirements</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Scope, the evidence we used and how every outcome was approved. 120 requirements across 2 framework(s).</a:t>
            </a:r>
          </a:p>
        </p:txBody>
      </p:sp>
      <p:graphicFrame>
        <p:nvGraphicFramePr>
          <p:cNvPr id="6" name="Native evidence table"/>
          <p:cNvGraphicFramePr>
            <a:graphicFrameLocks noGrp="1"/>
          </p:cNvGraphicFramePr>
          <p:nvPr/>
        </p:nvGraphicFramePr>
        <p:xfrm>
          <a:off x="504000" y="1728000"/>
          <a:ext cx="5580000" cy="1512000"/>
        </p:xfrm>
        <a:graphic>
          <a:graphicData uri="http://schemas.openxmlformats.org/drawingml/2006/table">
            <a:tbl>
              <a:tblPr firstRow="1" bandRow="1">
                <a:tableStyleId>{5C22544A-7EE6-4342-B048-85BDC9FD1C3A}</a:tableStyleId>
              </a:tblPr>
              <a:tblGrid>
                <a:gridCol w="1800000"/>
                <a:gridCol w="900000"/>
                <a:gridCol w="1980000"/>
                <a:gridCol w="900000"/>
              </a:tblGrid>
              <a:tr h="504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Version</a:t>
                      </a:r>
                    </a:p>
                  </a:txBody>
                  <a:tcPr marL="43200" marR="43200" marT="21600" marB="21600" anchor="ctr">
                    <a:solidFill>
                      <a:srgbClr val="161A5C"/>
                    </a:solidFill>
                  </a:tcPr>
                </a:tc>
                <a:tc>
                  <a:txBody>
                    <a:bodyPr/>
                    <a:lstStyle/>
                    <a:p>
                      <a:pPr>
                        <a:defRPr sz="900" b="1">
                          <a:solidFill>
                            <a:srgbClr val="FFFFFF"/>
                          </a:solidFill>
                          <a:latin typeface="Calibri"/>
                        </a:defRPr>
                      </a:pPr>
                      <a:r>
                        <a:t>Scope</a:t>
                      </a:r>
                    </a:p>
                  </a:txBody>
                  <a:tcPr marL="43200" marR="43200" marT="21600" marB="21600" anchor="ctr">
                    <a:solidFill>
                      <a:srgbClr val="161A5C"/>
                    </a:solidFill>
                  </a:tcPr>
                </a:tc>
                <a:tc>
                  <a:txBody>
                    <a:bodyPr/>
                    <a:lstStyle/>
                    <a:p>
                      <a:pPr>
                        <a:defRPr sz="900" b="1">
                          <a:solidFill>
                            <a:srgbClr val="FFFFFF"/>
                          </a:solidFill>
                          <a:latin typeface="Calibri"/>
                        </a:defRPr>
                      </a:pPr>
                      <a:r>
                        <a:t>Requirements</a:t>
                      </a:r>
                    </a:p>
                  </a:txBody>
                  <a:tcPr marL="43200" marR="43200" marT="21600" marB="21600" anchor="ctr">
                    <a:solidFill>
                      <a:srgbClr val="161A5C"/>
                    </a:solidFill>
                  </a:tcPr>
                </a:tc>
              </a:tr>
              <a:tr h="50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2023</a:t>
                      </a:r>
                    </a:p>
                  </a:txBody>
                  <a:tcPr marL="43200" marR="43200" marT="21600" marB="21600" anchor="ctr">
                    <a:solidFill>
                      <a:srgbClr val="FFFFFF"/>
                    </a:solidFill>
                  </a:tcPr>
                </a:tc>
                <a:tc>
                  <a:txBody>
                    <a:bodyPr/>
                    <a:lstStyle/>
                    <a:p>
                      <a:pPr>
                        <a:defRPr sz="900" b="0">
                          <a:solidFill>
                            <a:srgbClr val="0B0E26"/>
                          </a:solidFill>
                          <a:latin typeface="Calibri"/>
                        </a:defRPr>
                      </a:pPr>
                      <a:r>
                        <a:t>India DPDPA: 41 requirements in scope</a:t>
                      </a:r>
                    </a:p>
                  </a:txBody>
                  <a:tcPr marL="43200" marR="43200" marT="21600" marB="21600" anchor="ctr">
                    <a:solidFill>
                      <a:srgbClr val="FFFFFF"/>
                    </a:solidFill>
                  </a:tcPr>
                </a:tc>
                <a:tc>
                  <a:txBody>
                    <a:bodyPr/>
                    <a:lstStyle/>
                    <a:p>
                      <a:pPr>
                        <a:defRPr sz="900" b="0">
                          <a:solidFill>
                            <a:srgbClr val="0B0E26"/>
                          </a:solidFill>
                          <a:latin typeface="Calibri"/>
                        </a:defRPr>
                      </a:pPr>
                      <a:r>
                        <a:t>41</a:t>
                      </a:r>
                    </a:p>
                  </a:txBody>
                  <a:tcPr marL="43200" marR="43200" marT="21600" marB="21600" anchor="ctr">
                    <a:solidFill>
                      <a:srgbClr val="FFFFFF"/>
                    </a:solidFill>
                  </a:tcPr>
                </a:tc>
              </a:tr>
              <a:tr h="50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2022</a:t>
                      </a:r>
                    </a:p>
                  </a:txBody>
                  <a:tcPr marL="43200" marR="43200" marT="21600" marB="21600" anchor="ctr">
                    <a:solidFill>
                      <a:srgbClr val="F1F3F8"/>
                    </a:solidFill>
                  </a:tcPr>
                </a:tc>
                <a:tc>
                  <a:txBody>
                    <a:bodyPr/>
                    <a:lstStyle/>
                    <a:p>
                      <a:pPr>
                        <a:defRPr sz="900" b="0">
                          <a:solidFill>
                            <a:srgbClr val="0B0E26"/>
                          </a:solidFill>
                          <a:latin typeface="Calibri"/>
                        </a:defRPr>
                      </a:pPr>
                      <a:r>
                        <a:t>ISO 27001: 79 requirements in scope (Physical Controls excluded: single cloud-hosted office)</a:t>
                      </a:r>
                    </a:p>
                  </a:txBody>
                  <a:tcPr marL="43200" marR="43200" marT="21600" marB="21600" anchor="ctr">
                    <a:solidFill>
                      <a:srgbClr val="F1F3F8"/>
                    </a:solidFill>
                  </a:tcPr>
                </a:tc>
                <a:tc>
                  <a:txBody>
                    <a:bodyPr/>
                    <a:lstStyle/>
                    <a:p>
                      <a:pPr>
                        <a:defRPr sz="900" b="0">
                          <a:solidFill>
                            <a:srgbClr val="0B0E26"/>
                          </a:solidFill>
                          <a:latin typeface="Calibri"/>
                        </a:defRPr>
                      </a:pPr>
                      <a:r>
                        <a:t>79</a:t>
                      </a:r>
                    </a:p>
                  </a:txBody>
                  <a:tcPr marL="43200" marR="43200" marT="21600" marB="21600" anchor="ctr">
                    <a:solidFill>
                      <a:srgbClr val="F1F3F8"/>
                    </a:solidFill>
                  </a:tcPr>
                </a:tc>
              </a:tr>
            </a:tbl>
          </a:graphicData>
        </a:graphic>
      </p:graphicFrame>
      <p:sp>
        <p:nvSpPr>
          <p:cNvPr id="7" name="TextBox 6"/>
          <p:cNvSpPr txBox="1"/>
          <p:nvPr/>
        </p:nvSpPr>
        <p:spPr>
          <a:xfrm>
            <a:off x="6624000" y="1728000"/>
            <a:ext cx="468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Approach</a:t>
            </a:r>
          </a:p>
        </p:txBody>
      </p:sp>
      <p:sp>
        <p:nvSpPr>
          <p:cNvPr id="8" name="Approach step"/>
          <p:cNvSpPr/>
          <p:nvPr/>
        </p:nvSpPr>
        <p:spPr>
          <a:xfrm>
            <a:off x="6624000" y="2232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60000" y="2304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1</a:t>
            </a:r>
          </a:p>
        </p:txBody>
      </p:sp>
      <p:sp>
        <p:nvSpPr>
          <p:cNvPr id="10" name="TextBox 9"/>
          <p:cNvSpPr txBox="1"/>
          <p:nvPr/>
        </p:nvSpPr>
        <p:spPr>
          <a:xfrm>
            <a:off x="7236000" y="2232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Collect evidence</a:t>
            </a:r>
          </a:p>
          <a:p>
            <a:pPr>
              <a:defRPr sz="1100" b="0">
                <a:solidFill>
                  <a:srgbClr val="3A4060"/>
                </a:solidFill>
                <a:latin typeface="Calibri"/>
              </a:defRPr>
            </a:pPr>
            <a:r>
              <a:t>Documents and notes up to the cut-off.</a:t>
            </a:r>
          </a:p>
        </p:txBody>
      </p:sp>
      <p:sp>
        <p:nvSpPr>
          <p:cNvPr id="11" name="Approach step"/>
          <p:cNvSpPr/>
          <p:nvPr/>
        </p:nvSpPr>
        <p:spPr>
          <a:xfrm>
            <a:off x="6624000" y="3384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0000" y="3456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2</a:t>
            </a:r>
          </a:p>
        </p:txBody>
      </p:sp>
      <p:sp>
        <p:nvSpPr>
          <p:cNvPr id="13" name="TextBox 12"/>
          <p:cNvSpPr txBox="1"/>
          <p:nvPr/>
        </p:nvSpPr>
        <p:spPr>
          <a:xfrm>
            <a:off x="7236000" y="3384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Assess and approve</a:t>
            </a:r>
          </a:p>
          <a:p>
            <a:pPr>
              <a:defRPr sz="1100" b="0">
                <a:solidFill>
                  <a:srgbClr val="3A4060"/>
                </a:solidFill>
                <a:latin typeface="Calibri"/>
              </a:defRPr>
            </a:pPr>
            <a:r>
              <a:t>Each outcome is reviewed against its evidence.</a:t>
            </a:r>
          </a:p>
        </p:txBody>
      </p:sp>
      <p:sp>
        <p:nvSpPr>
          <p:cNvPr id="14" name="Approach step"/>
          <p:cNvSpPr/>
          <p:nvPr/>
        </p:nvSpPr>
        <p:spPr>
          <a:xfrm>
            <a:off x="6624000" y="4536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0000" y="4608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3</a:t>
            </a:r>
          </a:p>
        </p:txBody>
      </p:sp>
      <p:sp>
        <p:nvSpPr>
          <p:cNvPr id="16" name="TextBox 15"/>
          <p:cNvSpPr txBox="1"/>
          <p:nvPr/>
        </p:nvSpPr>
        <p:spPr>
          <a:xfrm>
            <a:off x="7236000" y="4536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Score and report</a:t>
            </a:r>
          </a:p>
          <a:p>
            <a:pPr>
              <a:defRPr sz="1100" b="0">
                <a:solidFill>
                  <a:srgbClr val="3A4060"/>
                </a:solidFill>
                <a:latin typeface="Calibri"/>
              </a:defRPr>
            </a:pPr>
            <a:r>
              <a:t>Scores come from approved outcomes.</a:t>
            </a:r>
          </a:p>
        </p:txBody>
      </p:sp>
      <p:sp>
        <p:nvSpPr>
          <p:cNvPr id="1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4 of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22 of 59 gaps are critical or high, and neither framework is yet rated Compliant</a:t>
            </a:r>
          </a:p>
        </p:txBody>
      </p:sp>
      <p:sp>
        <p:nvSpPr>
          <p:cNvPr id="5" name="TextBox 4"/>
          <p:cNvSpPr txBox="1"/>
          <p:nvPr/>
        </p:nvSpPr>
        <p:spPr>
          <a:xfrm>
            <a:off x="504000" y="1224000"/>
            <a:ext cx="11160000" cy="432000"/>
          </a:xfrm>
          <a:prstGeom prst="rect">
            <a:avLst/>
          </a:prstGeom>
          <a:noFill/>
          <a:ln>
            <a:noFill/>
          </a:ln>
        </p:spPr>
        <p:txBody>
          <a:bodyPr wrap="square" anchor="t" lIns="43200" rIns="43200" tIns="25200" bIns="25200">
            <a:spAutoFit/>
          </a:bodyPr>
          <a:lstStyle/>
          <a:p>
            <a:pPr>
              <a:defRPr sz="1200" b="1">
                <a:solidFill>
                  <a:srgbClr val="3A4060"/>
                </a:solidFill>
                <a:latin typeface="Calibri"/>
              </a:defRPr>
            </a:pPr>
            <a:r>
              <a:t>120 requirements · 59 approved gaps · Scores are per framework and are never combined; the totals above are counts.</a:t>
            </a:r>
          </a:p>
        </p:txBody>
      </p:sp>
      <p:graphicFrame>
        <p:nvGraphicFramePr>
          <p:cNvPr id="6" name="Native evidence table"/>
          <p:cNvGraphicFramePr>
            <a:graphicFrameLocks noGrp="1"/>
          </p:cNvGraphicFramePr>
          <p:nvPr/>
        </p:nvGraphicFramePr>
        <p:xfrm>
          <a:off x="504000" y="1800000"/>
          <a:ext cx="5760000" cy="1872000"/>
        </p:xfrm>
        <a:graphic>
          <a:graphicData uri="http://schemas.openxmlformats.org/drawingml/2006/table">
            <a:tbl>
              <a:tblPr firstRow="1" bandRow="1">
                <a:tableStyleId>{5C22544A-7EE6-4342-B048-85BDC9FD1C3A}</a:tableStyleId>
              </a:tblPr>
              <a:tblGrid>
                <a:gridCol w="2160000"/>
                <a:gridCol w="900000"/>
                <a:gridCol w="1620000"/>
                <a:gridCol w="1080000"/>
              </a:tblGrid>
              <a:tr h="624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Score</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r h="62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57.0%</a:t>
                      </a:r>
                    </a:p>
                  </a:txBody>
                  <a:tcPr marL="43200" marR="43200" marT="21600" marB="21600" anchor="ctr">
                    <a:solidFill>
                      <a:srgbClr val="FFFFFF"/>
                    </a:solidFill>
                  </a:tcPr>
                </a:tc>
                <a:tc>
                  <a:txBody>
                    <a:bodyPr/>
                    <a:lstStyle/>
                    <a:p>
                      <a:pPr>
                        <a:defRPr sz="900" b="0">
                          <a:solidFill>
                            <a:srgbClr val="0B0E26"/>
                          </a:solidFill>
                          <a:latin typeface="Calibri"/>
                        </a:defRPr>
                      </a:pPr>
                      <a:r>
                        <a:t>Needs Significant Improvement</a:t>
                      </a:r>
                    </a:p>
                  </a:txBody>
                  <a:tcPr marL="43200" marR="43200" marT="21600" marB="21600" anchor="ctr">
                    <a:solidFill>
                      <a:srgbClr val="FFFFFF"/>
                    </a:solidFill>
                  </a:tcPr>
                </a:tc>
                <a:tc>
                  <a:txBody>
                    <a:bodyPr/>
                    <a:lstStyle/>
                    <a:p>
                      <a:pPr>
                        <a:defRPr sz="900" b="0">
                          <a:solidFill>
                            <a:srgbClr val="0B0E26"/>
                          </a:solidFill>
                          <a:latin typeface="Calibri"/>
                        </a:defRPr>
                      </a:pPr>
                      <a:r>
                        <a:t>▲ 16.0 pts</a:t>
                      </a:r>
                    </a:p>
                  </a:txBody>
                  <a:tcPr marL="43200" marR="43200" marT="21600" marB="21600" anchor="ctr">
                    <a:solidFill>
                      <a:srgbClr val="FFFFFF"/>
                    </a:solidFill>
                  </a:tcPr>
                </a:tc>
              </a:tr>
              <a:tr h="62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68.6%</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 10.1 pts</a:t>
                      </a:r>
                    </a:p>
                  </a:txBody>
                  <a:tcPr marL="43200" marR="43200" marT="21600" marB="21600" anchor="ctr">
                    <a:solidFill>
                      <a:srgbClr val="F1F3F8"/>
                    </a:solidFill>
                  </a:tcPr>
                </a:tc>
              </a:tr>
            </a:tbl>
          </a:graphicData>
        </a:graphic>
      </p:graphicFrame>
      <p:sp>
        <p:nvSpPr>
          <p:cNvPr id="7" name="TextBox 6"/>
          <p:cNvSpPr txBox="1"/>
          <p:nvPr/>
        </p:nvSpPr>
        <p:spPr>
          <a:xfrm>
            <a:off x="6624000" y="1800000"/>
            <a:ext cx="5040000" cy="1728000"/>
          </a:xfrm>
          <a:prstGeom prst="rect">
            <a:avLst/>
          </a:prstGeom>
          <a:solidFill>
            <a:srgbClr val="F1F3F8"/>
          </a:solidFill>
          <a:ln w="7620">
            <a:solidFill>
              <a:srgbClr val="12B3A6"/>
            </a:solidFill>
          </a:ln>
        </p:spPr>
        <p:txBody>
          <a:bodyPr wrap="square" anchor="t" lIns="43200" rIns="43200" tIns="25200" bIns="25200">
            <a:spAutoFit/>
          </a:bodyPr>
          <a:lstStyle/>
          <a:p>
            <a:pPr>
              <a:defRPr sz="1100" b="0">
                <a:solidFill>
                  <a:srgbClr val="3A4060"/>
                </a:solidFill>
                <a:latin typeface="Calibri"/>
              </a:defRPr>
            </a:pPr>
            <a:r>
              <a:t>In brief</a:t>
            </a:r>
          </a:p>
          <a:p>
            <a:pPr>
              <a:defRPr sz="1100" b="0">
                <a:solidFill>
                  <a:srgbClr val="3A4060"/>
                </a:solidFill>
                <a:latin typeface="Calibri"/>
              </a:defRPr>
            </a:pPr>
            <a:r>
              <a:t>The organisation has a sound policy base, but several controls that protect customer data exist on paper only and are not operated.</a:t>
            </a:r>
          </a:p>
          <a:p>
            <a:pPr>
              <a:defRPr sz="1100" b="0">
                <a:solidFill>
                  <a:srgbClr val="3A4060"/>
                </a:solidFill>
                <a:latin typeface="Calibri"/>
              </a:defRPr>
            </a:pPr>
            <a:r>
              <a:t>The most serious exposures are consent that is unlikely to be valid, no procedure for notifying the regulator of a breach, and access rights that are never reviewed.</a:t>
            </a:r>
          </a:p>
          <a:p>
            <a:pPr>
              <a:defRPr sz="1100" b="0">
                <a:solidFill>
                  <a:srgbClr val="3A4060"/>
                </a:solidFill>
                <a:latin typeface="Calibri"/>
              </a:defRPr>
            </a:pPr>
            <a:r>
              <a:t>Most gaps are process gaps with clear owners, and closing access control and supplier security once addresses findings under both frameworks.</a:t>
            </a:r>
          </a:p>
        </p:txBody>
      </p:sp>
      <p:graphicFrame>
        <p:nvGraphicFramePr>
          <p:cNvPr id="8" name="Native evidence table"/>
          <p:cNvGraphicFramePr>
            <a:graphicFrameLocks noGrp="1"/>
          </p:cNvGraphicFramePr>
          <p:nvPr/>
        </p:nvGraphicFramePr>
        <p:xfrm>
          <a:off x="504000" y="3852000"/>
          <a:ext cx="6840000" cy="1080000"/>
        </p:xfrm>
        <a:graphic>
          <a:graphicData uri="http://schemas.openxmlformats.org/drawingml/2006/table">
            <a:tbl>
              <a:tblPr firstRow="1" bandRow="1">
                <a:tableStyleId>{5C22544A-7EE6-4342-B048-85BDC9FD1C3A}</a:tableStyleId>
              </a:tblPr>
              <a:tblGrid>
                <a:gridCol w="720000"/>
                <a:gridCol w="3420000"/>
                <a:gridCol w="1620000"/>
                <a:gridCol w="1080000"/>
              </a:tblGrid>
              <a:tr h="270000">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r>
              <a:tr h="270000">
                <a:tc>
                  <a:txBody>
                    <a:bodyPr/>
                    <a:lstStyle/>
                    <a:p>
                      <a:pPr>
                        <a:defRPr sz="900" b="0">
                          <a:solidFill>
                            <a:srgbClr val="0B0E26"/>
                          </a:solidFill>
                          <a:latin typeface="Calibri"/>
                        </a:defRPr>
                      </a:pPr>
                      <a:r>
                        <a:t>R-01</a:t>
                      </a:r>
                    </a:p>
                  </a:txBody>
                  <a:tcPr marL="43200" marR="43200" marT="21600" marB="21600" anchor="ctr">
                    <a:solidFill>
                      <a:srgbClr val="FFFFFF"/>
                    </a:solidFill>
                  </a:tcPr>
                </a:tc>
                <a:tc>
                  <a:txBody>
                    <a:bodyPr/>
                    <a:lstStyle/>
                    <a:p>
                      <a:pPr>
                        <a:defRPr sz="900" b="0">
                          <a:solidFill>
                            <a:srgbClr val="0B0E26"/>
                          </a:solidFill>
                          <a:latin typeface="Calibri"/>
                        </a:defRPr>
                      </a:pPr>
                      <a:r>
                        <a:t>Consent is collected through pre-ticked boxes</a:t>
                      </a:r>
                    </a:p>
                  </a:txBody>
                  <a:tcPr marL="43200" marR="43200" marT="21600" marB="21600" anchor="ctr">
                    <a:solidFill>
                      <a:srgbClr val="FFFFFF"/>
                    </a:solidFill>
                  </a:tcPr>
                </a:tc>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r>
              <a:tr h="270000">
                <a:tc>
                  <a:txBody>
                    <a:bodyPr/>
                    <a:lstStyle/>
                    <a:p>
                      <a:pPr>
                        <a:defRPr sz="900" b="0">
                          <a:solidFill>
                            <a:srgbClr val="0B0E26"/>
                          </a:solidFill>
                          <a:latin typeface="Calibri"/>
                        </a:defRPr>
                      </a:pPr>
                      <a:r>
                        <a:t>R-02</a:t>
                      </a:r>
                    </a:p>
                  </a:txBody>
                  <a:tcPr marL="43200" marR="43200" marT="21600" marB="21600" anchor="ctr">
                    <a:solidFill>
                      <a:srgbClr val="F1F3F8"/>
                    </a:solidFill>
                  </a:tcPr>
                </a:tc>
                <a:tc>
                  <a:txBody>
                    <a:bodyPr/>
                    <a:lstStyle/>
                    <a:p>
                      <a:pPr>
                        <a:defRPr sz="900" b="0">
                          <a:solidFill>
                            <a:srgbClr val="0B0E26"/>
                          </a:solidFill>
                          <a:latin typeface="Calibri"/>
                        </a:defRPr>
                      </a:pPr>
                      <a:r>
                        <a:t>No procedure to notify the Data Protection Board of a breach</a:t>
                      </a:r>
                    </a:p>
                  </a:txBody>
                  <a:tcPr marL="43200" marR="43200" marT="21600" marB="21600" anchor="ctr">
                    <a:solidFill>
                      <a:srgbClr val="F1F3F8"/>
                    </a:solidFill>
                  </a:tcPr>
                </a:tc>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r>
              <a:tr h="270000">
                <a:tc>
                  <a:txBody>
                    <a:bodyPr/>
                    <a:lstStyle/>
                    <a:p>
                      <a:pPr>
                        <a:defRPr sz="900" b="0">
                          <a:solidFill>
                            <a:srgbClr val="0B0E26"/>
                          </a:solidFill>
                          <a:latin typeface="Calibri"/>
                        </a:defRPr>
                      </a:pPr>
                      <a:r>
                        <a:t>R-03</a:t>
                      </a:r>
                    </a:p>
                  </a:txBody>
                  <a:tcPr marL="43200" marR="43200" marT="21600" marB="21600" anchor="ctr">
                    <a:solidFill>
                      <a:srgbClr val="FFFFFF"/>
                    </a:solidFill>
                  </a:tcPr>
                </a:tc>
                <a:tc>
                  <a:txBody>
                    <a:bodyPr/>
                    <a:lstStyle/>
                    <a:p>
                      <a:pPr>
                        <a:defRPr sz="900" b="0">
                          <a:solidFill>
                            <a:srgbClr val="0B0E26"/>
                          </a:solidFill>
                          <a:latin typeface="Calibri"/>
                        </a:defRPr>
                      </a:pPr>
                      <a:r>
                        <a:t>Access rights are never reviewed</a:t>
                      </a:r>
                    </a:p>
                  </a:txBody>
                  <a:tcPr marL="43200" marR="43200" marT="21600" marB="21600" anchor="ctr">
                    <a:solidFill>
                      <a:srgbClr val="FFFFFF"/>
                    </a:solidFill>
                  </a:tcPr>
                </a:tc>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r>
            </a:tbl>
          </a:graphicData>
        </a:graphic>
      </p:graphicFrame>
      <p:sp>
        <p:nvSpPr>
          <p:cNvPr id="9" name="TextBox 8"/>
          <p:cNvSpPr txBox="1"/>
          <p:nvPr/>
        </p:nvSpPr>
        <p:spPr>
          <a:xfrm>
            <a:off x="7560000" y="3852000"/>
            <a:ext cx="4104000" cy="1368000"/>
          </a:xfrm>
          <a:prstGeom prst="rect">
            <a:avLst/>
          </a:prstGeom>
          <a:solidFill>
            <a:srgbClr val="161A5C"/>
          </a:solidFill>
          <a:ln>
            <a:noFill/>
          </a:ln>
        </p:spPr>
        <p:txBody>
          <a:bodyPr wrap="square" anchor="t" lIns="43200" rIns="43200" tIns="25200" bIns="25200">
            <a:spAutoFit/>
          </a:bodyPr>
          <a:lstStyle/>
          <a:p>
            <a:pPr>
              <a:defRPr sz="1100" b="0">
                <a:solidFill>
                  <a:srgbClr val="FFFFFF"/>
                </a:solidFill>
                <a:latin typeface="Calibri"/>
              </a:defRPr>
            </a:pPr>
            <a:r>
              <a:t>Board asks</a:t>
            </a:r>
          </a:p>
          <a:p>
            <a:pPr>
              <a:defRPr sz="1100" b="0">
                <a:solidFill>
                  <a:srgbClr val="FFFFFF"/>
                </a:solidFill>
                <a:latin typeface="Calibri"/>
              </a:defRPr>
            </a:pPr>
            <a:r>
              <a:t>1. Approve funding for a consent-management platform before the May 2027 DPDPA commencement.</a:t>
            </a:r>
          </a:p>
          <a:p>
            <a:pPr>
              <a:defRPr sz="1100" b="0">
                <a:solidFill>
                  <a:srgbClr val="FFFFFF"/>
                </a:solidFill>
                <a:latin typeface="Calibri"/>
              </a:defRPr>
            </a:pPr>
            <a:r>
              <a:t>2. Confirm the CISO as accountable owner for vulnerability management and set the patch SLA as a board-tracked KPI.</a:t>
            </a:r>
          </a:p>
        </p:txBody>
      </p:sp>
      <p:sp>
        <p:nvSpPr>
          <p:cNvPr id="10"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2"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5 of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43 of 102 concluded requirements are met; 59 have gaps to close</a:t>
            </a:r>
          </a:p>
        </p:txBody>
      </p:sp>
      <p:sp>
        <p:nvSpPr>
          <p:cNvPr id="5" name="Waffle India DPDPA"/>
          <p:cNvSpPr/>
          <p:nvPr/>
        </p:nvSpPr>
        <p:spPr>
          <a:xfrm>
            <a:off x="576000"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affle India DPDPA"/>
          <p:cNvSpPr/>
          <p:nvPr/>
        </p:nvSpPr>
        <p:spPr>
          <a:xfrm>
            <a:off x="576000"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affle India DPDPA"/>
          <p:cNvSpPr/>
          <p:nvPr/>
        </p:nvSpPr>
        <p:spPr>
          <a:xfrm>
            <a:off x="576000"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affle India DPDPA"/>
          <p:cNvSpPr/>
          <p:nvPr/>
        </p:nvSpPr>
        <p:spPr>
          <a:xfrm>
            <a:off x="576000"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affle India DPDPA"/>
          <p:cNvSpPr/>
          <p:nvPr/>
        </p:nvSpPr>
        <p:spPr>
          <a:xfrm>
            <a:off x="576000"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affle India DPDPA"/>
          <p:cNvSpPr/>
          <p:nvPr/>
        </p:nvSpPr>
        <p:spPr>
          <a:xfrm>
            <a:off x="576000"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affle India DPDPA"/>
          <p:cNvSpPr/>
          <p:nvPr/>
        </p:nvSpPr>
        <p:spPr>
          <a:xfrm>
            <a:off x="576000"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affle India DPDPA"/>
          <p:cNvSpPr/>
          <p:nvPr/>
        </p:nvSpPr>
        <p:spPr>
          <a:xfrm>
            <a:off x="576000"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affle India DPDPA"/>
          <p:cNvSpPr/>
          <p:nvPr/>
        </p:nvSpPr>
        <p:spPr>
          <a:xfrm>
            <a:off x="576000"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affle India DPDPA"/>
          <p:cNvSpPr/>
          <p:nvPr/>
        </p:nvSpPr>
        <p:spPr>
          <a:xfrm>
            <a:off x="576000"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affle India DPDPA"/>
          <p:cNvSpPr/>
          <p:nvPr/>
        </p:nvSpPr>
        <p:spPr>
          <a:xfrm>
            <a:off x="825984"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affle India DPDPA"/>
          <p:cNvSpPr/>
          <p:nvPr/>
        </p:nvSpPr>
        <p:spPr>
          <a:xfrm>
            <a:off x="825984"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Waffle India DPDPA"/>
          <p:cNvSpPr/>
          <p:nvPr/>
        </p:nvSpPr>
        <p:spPr>
          <a:xfrm>
            <a:off x="825984"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affle India DPDPA"/>
          <p:cNvSpPr/>
          <p:nvPr/>
        </p:nvSpPr>
        <p:spPr>
          <a:xfrm>
            <a:off x="825984"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affle India DPDPA"/>
          <p:cNvSpPr/>
          <p:nvPr/>
        </p:nvSpPr>
        <p:spPr>
          <a:xfrm>
            <a:off x="825984"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Waffle India DPDPA"/>
          <p:cNvSpPr/>
          <p:nvPr/>
        </p:nvSpPr>
        <p:spPr>
          <a:xfrm>
            <a:off x="825984"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Waffle India DPDPA"/>
          <p:cNvSpPr/>
          <p:nvPr/>
        </p:nvSpPr>
        <p:spPr>
          <a:xfrm>
            <a:off x="825984"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Waffle India DPDPA"/>
          <p:cNvSpPr/>
          <p:nvPr/>
        </p:nvSpPr>
        <p:spPr>
          <a:xfrm>
            <a:off x="825984"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Waffle India DPDPA"/>
          <p:cNvSpPr/>
          <p:nvPr/>
        </p:nvSpPr>
        <p:spPr>
          <a:xfrm>
            <a:off x="825984"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Waffle India DPDPA"/>
          <p:cNvSpPr/>
          <p:nvPr/>
        </p:nvSpPr>
        <p:spPr>
          <a:xfrm>
            <a:off x="825984"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Waffle India DPDPA"/>
          <p:cNvSpPr/>
          <p:nvPr/>
        </p:nvSpPr>
        <p:spPr>
          <a:xfrm>
            <a:off x="1075968"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affle India DPDPA"/>
          <p:cNvSpPr/>
          <p:nvPr/>
        </p:nvSpPr>
        <p:spPr>
          <a:xfrm>
            <a:off x="1075968"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Waffle India DPDPA"/>
          <p:cNvSpPr/>
          <p:nvPr/>
        </p:nvSpPr>
        <p:spPr>
          <a:xfrm>
            <a:off x="1075968"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Waffle India DPDPA"/>
          <p:cNvSpPr/>
          <p:nvPr/>
        </p:nvSpPr>
        <p:spPr>
          <a:xfrm>
            <a:off x="1075968"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affle India DPDPA"/>
          <p:cNvSpPr/>
          <p:nvPr/>
        </p:nvSpPr>
        <p:spPr>
          <a:xfrm>
            <a:off x="1075968"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Waffle India DPDPA"/>
          <p:cNvSpPr/>
          <p:nvPr/>
        </p:nvSpPr>
        <p:spPr>
          <a:xfrm>
            <a:off x="1075968"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affle India DPDPA"/>
          <p:cNvSpPr/>
          <p:nvPr/>
        </p:nvSpPr>
        <p:spPr>
          <a:xfrm>
            <a:off x="1075968"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Waffle India DPDPA"/>
          <p:cNvSpPr/>
          <p:nvPr/>
        </p:nvSpPr>
        <p:spPr>
          <a:xfrm>
            <a:off x="1075968"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affle India DPDPA"/>
          <p:cNvSpPr/>
          <p:nvPr/>
        </p:nvSpPr>
        <p:spPr>
          <a:xfrm>
            <a:off x="1075968"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affle India DPDPA"/>
          <p:cNvSpPr/>
          <p:nvPr/>
        </p:nvSpPr>
        <p:spPr>
          <a:xfrm>
            <a:off x="1075968"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affle India DPDPA"/>
          <p:cNvSpPr/>
          <p:nvPr/>
        </p:nvSpPr>
        <p:spPr>
          <a:xfrm>
            <a:off x="1325952"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Waffle India DPDPA"/>
          <p:cNvSpPr/>
          <p:nvPr/>
        </p:nvSpPr>
        <p:spPr>
          <a:xfrm>
            <a:off x="1325952" y="23112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Waffle India DPDPA"/>
          <p:cNvSpPr/>
          <p:nvPr/>
        </p:nvSpPr>
        <p:spPr>
          <a:xfrm>
            <a:off x="1325952" y="25344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affle India DPDPA"/>
          <p:cNvSpPr/>
          <p:nvPr/>
        </p:nvSpPr>
        <p:spPr>
          <a:xfrm>
            <a:off x="1325952" y="27576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Waffle India DPDPA"/>
          <p:cNvSpPr/>
          <p:nvPr/>
        </p:nvSpPr>
        <p:spPr>
          <a:xfrm>
            <a:off x="1325952" y="29808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Waffle India DPDPA"/>
          <p:cNvSpPr/>
          <p:nvPr/>
        </p:nvSpPr>
        <p:spPr>
          <a:xfrm>
            <a:off x="1325952" y="32040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Waffle India DPDPA"/>
          <p:cNvSpPr/>
          <p:nvPr/>
        </p:nvSpPr>
        <p:spPr>
          <a:xfrm>
            <a:off x="1325952" y="34272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Waffle India DPDPA"/>
          <p:cNvSpPr/>
          <p:nvPr/>
        </p:nvSpPr>
        <p:spPr>
          <a:xfrm>
            <a:off x="1325952" y="36504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Waffle India DPDPA"/>
          <p:cNvSpPr/>
          <p:nvPr/>
        </p:nvSpPr>
        <p:spPr>
          <a:xfrm>
            <a:off x="1325952" y="38736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Waffle India DPDPA"/>
          <p:cNvSpPr/>
          <p:nvPr/>
        </p:nvSpPr>
        <p:spPr>
          <a:xfrm>
            <a:off x="1325952" y="40968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Waffle India DPDPA"/>
          <p:cNvSpPr/>
          <p:nvPr/>
        </p:nvSpPr>
        <p:spPr>
          <a:xfrm>
            <a:off x="1575936" y="20880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6000" y="1800000"/>
            <a:ext cx="2952000" cy="252000"/>
          </a:xfrm>
          <a:prstGeom prst="rect">
            <a:avLst/>
          </a:prstGeom>
          <a:noFill/>
          <a:ln>
            <a:noFill/>
          </a:ln>
        </p:spPr>
        <p:txBody>
          <a:bodyPr wrap="square" anchor="t" lIns="43200" rIns="43200" tIns="25200" bIns="25200">
            <a:spAutoFit/>
          </a:bodyPr>
          <a:lstStyle/>
          <a:p>
            <a:pPr>
              <a:defRPr sz="1200" b="1">
                <a:solidFill>
                  <a:srgbClr val="0B0E26"/>
                </a:solidFill>
                <a:latin typeface="Calibri"/>
              </a:defRPr>
            </a:pPr>
            <a:r>
              <a:t>India DPDPA · 41 requirements</a:t>
            </a:r>
          </a:p>
        </p:txBody>
      </p:sp>
      <p:graphicFrame>
        <p:nvGraphicFramePr>
          <p:cNvPr id="47" name="Native evidence table"/>
          <p:cNvGraphicFramePr>
            <a:graphicFrameLocks noGrp="1"/>
          </p:cNvGraphicFramePr>
          <p:nvPr/>
        </p:nvGraphicFramePr>
        <p:xfrm>
          <a:off x="3636000" y="2088000"/>
          <a:ext cx="2088000" cy="2808000"/>
        </p:xfrm>
        <a:graphic>
          <a:graphicData uri="http://schemas.openxmlformats.org/drawingml/2006/table">
            <a:tbl>
              <a:tblPr firstRow="1" bandRow="1">
                <a:tableStyleId>{5C22544A-7EE6-4342-B048-85BDC9FD1C3A}</a:tableStyleId>
              </a:tblPr>
              <a:tblGrid>
                <a:gridCol w="1152000"/>
                <a:gridCol w="468000"/>
                <a:gridCol w="468000"/>
              </a:tblGrid>
              <a:tr h="561600">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c>
                  <a:txBody>
                    <a:bodyPr/>
                    <a:lstStyle/>
                    <a:p>
                      <a:pPr>
                        <a:defRPr sz="900" b="1">
                          <a:solidFill>
                            <a:srgbClr val="FFFFFF"/>
                          </a:solidFill>
                          <a:latin typeface="Calibri"/>
                        </a:defRPr>
                      </a:pPr>
                      <a:r>
                        <a:t>%</a:t>
                      </a:r>
                    </a:p>
                  </a:txBody>
                  <a:tcPr marL="43200" marR="43200" marT="21600" marB="21600" anchor="ctr">
                    <a:solidFill>
                      <a:srgbClr val="161A5C"/>
                    </a:solidFill>
                  </a:tcPr>
                </a:tc>
              </a:tr>
              <a:tr h="561600">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10</a:t>
                      </a:r>
                    </a:p>
                  </a:txBody>
                  <a:tcPr marL="43200" marR="43200" marT="21600" marB="21600" anchor="ctr">
                    <a:solidFill>
                      <a:srgbClr val="FFFFFF"/>
                    </a:solidFill>
                  </a:tcPr>
                </a:tc>
                <a:tc>
                  <a:txBody>
                    <a:bodyPr/>
                    <a:lstStyle/>
                    <a:p>
                      <a:pPr>
                        <a:defRPr sz="900" b="0">
                          <a:solidFill>
                            <a:srgbClr val="0B0E26"/>
                          </a:solidFill>
                          <a:latin typeface="Calibri"/>
                        </a:defRPr>
                      </a:pPr>
                      <a:r>
                        <a:t>24%</a:t>
                      </a:r>
                    </a:p>
                  </a:txBody>
                  <a:tcPr marL="43200" marR="43200" marT="21600" marB="21600" anchor="ctr">
                    <a:solidFill>
                      <a:srgbClr val="FFFFFF"/>
                    </a:solidFill>
                  </a:tcPr>
                </a:tc>
              </a:tr>
              <a:tr h="561600">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21</a:t>
                      </a:r>
                    </a:p>
                  </a:txBody>
                  <a:tcPr marL="43200" marR="43200" marT="21600" marB="21600" anchor="ctr">
                    <a:solidFill>
                      <a:srgbClr val="F1F3F8"/>
                    </a:solidFill>
                  </a:tcPr>
                </a:tc>
                <a:tc>
                  <a:txBody>
                    <a:bodyPr/>
                    <a:lstStyle/>
                    <a:p>
                      <a:pPr>
                        <a:defRPr sz="900" b="0">
                          <a:solidFill>
                            <a:srgbClr val="0B0E26"/>
                          </a:solidFill>
                          <a:latin typeface="Calibri"/>
                        </a:defRPr>
                      </a:pPr>
                      <a:r>
                        <a:t>51%</a:t>
                      </a:r>
                    </a:p>
                  </a:txBody>
                  <a:tcPr marL="43200" marR="43200" marT="21600" marB="21600" anchor="ctr">
                    <a:solidFill>
                      <a:srgbClr val="F1F3F8"/>
                    </a:solidFill>
                  </a:tcPr>
                </a:tc>
              </a:tr>
              <a:tr h="561600">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5</a:t>
                      </a:r>
                    </a:p>
                  </a:txBody>
                  <a:tcPr marL="43200" marR="43200" marT="21600" marB="21600" anchor="ctr">
                    <a:solidFill>
                      <a:srgbClr val="FFFFFF"/>
                    </a:solidFill>
                  </a:tcPr>
                </a:tc>
                <a:tc>
                  <a:txBody>
                    <a:bodyPr/>
                    <a:lstStyle/>
                    <a:p>
                      <a:pPr>
                        <a:defRPr sz="900" b="0">
                          <a:solidFill>
                            <a:srgbClr val="0B0E26"/>
                          </a:solidFill>
                          <a:latin typeface="Calibri"/>
                        </a:defRPr>
                      </a:pPr>
                      <a:r>
                        <a:t>12%</a:t>
                      </a:r>
                    </a:p>
                  </a:txBody>
                  <a:tcPr marL="43200" marR="43200" marT="21600" marB="21600" anchor="ctr">
                    <a:solidFill>
                      <a:srgbClr val="FFFFFF"/>
                    </a:solidFill>
                  </a:tcPr>
                </a:tc>
              </a:tr>
              <a:tr h="561600">
                <a:tc>
                  <a:txBody>
                    <a:bodyPr/>
                    <a:lstStyle/>
                    <a:p>
                      <a:pPr>
                        <a:defRPr sz="900" b="0">
                          <a:solidFill>
                            <a:srgbClr val="0B0E26"/>
                          </a:solidFill>
                          <a:latin typeface="Calibri"/>
                        </a:defRPr>
                      </a:pPr>
                      <a:r>
                        <a:t>Not concluded</a:t>
                      </a:r>
                    </a:p>
                  </a:txBody>
                  <a:tcPr marL="43200" marR="43200" marT="21600" marB="21600" anchor="ctr">
                    <a:solidFill>
                      <a:srgbClr val="F1F3F8"/>
                    </a:solidFill>
                  </a:tcPr>
                </a:tc>
                <a:tc>
                  <a:txBody>
                    <a:bodyPr/>
                    <a:lstStyle/>
                    <a:p>
                      <a:pPr>
                        <a:defRPr sz="900" b="0">
                          <a:solidFill>
                            <a:srgbClr val="0B0E26"/>
                          </a:solidFill>
                          <a:latin typeface="Calibri"/>
                        </a:defRPr>
                      </a:pPr>
                      <a:r>
                        <a:t>5</a:t>
                      </a:r>
                    </a:p>
                  </a:txBody>
                  <a:tcPr marL="43200" marR="43200" marT="21600" marB="21600" anchor="ctr">
                    <a:solidFill>
                      <a:srgbClr val="F1F3F8"/>
                    </a:solidFill>
                  </a:tcPr>
                </a:tc>
                <a:tc>
                  <a:txBody>
                    <a:bodyPr/>
                    <a:lstStyle/>
                    <a:p>
                      <a:pPr>
                        <a:defRPr sz="900" b="0">
                          <a:solidFill>
                            <a:srgbClr val="0B0E26"/>
                          </a:solidFill>
                          <a:latin typeface="Calibri"/>
                        </a:defRPr>
                      </a:pPr>
                      <a:r>
                        <a:t>12%</a:t>
                      </a:r>
                    </a:p>
                  </a:txBody>
                  <a:tcPr marL="43200" marR="43200" marT="21600" marB="21600" anchor="ctr">
                    <a:solidFill>
                      <a:srgbClr val="F1F3F8"/>
                    </a:solidFill>
                  </a:tcPr>
                </a:tc>
              </a:tr>
            </a:tbl>
          </a:graphicData>
        </a:graphic>
      </p:graphicFrame>
      <p:sp>
        <p:nvSpPr>
          <p:cNvPr id="48" name="Waffle ISO 27001"/>
          <p:cNvSpPr/>
          <p:nvPr/>
        </p:nvSpPr>
        <p:spPr>
          <a:xfrm>
            <a:off x="6156000"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Waffle ISO 27001"/>
          <p:cNvSpPr/>
          <p:nvPr/>
        </p:nvSpPr>
        <p:spPr>
          <a:xfrm>
            <a:off x="6156000"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Waffle ISO 27001"/>
          <p:cNvSpPr/>
          <p:nvPr/>
        </p:nvSpPr>
        <p:spPr>
          <a:xfrm>
            <a:off x="6156000"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Waffle ISO 27001"/>
          <p:cNvSpPr/>
          <p:nvPr/>
        </p:nvSpPr>
        <p:spPr>
          <a:xfrm>
            <a:off x="6156000"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Waffle ISO 27001"/>
          <p:cNvSpPr/>
          <p:nvPr/>
        </p:nvSpPr>
        <p:spPr>
          <a:xfrm>
            <a:off x="6156000"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Waffle ISO 27001"/>
          <p:cNvSpPr/>
          <p:nvPr/>
        </p:nvSpPr>
        <p:spPr>
          <a:xfrm>
            <a:off x="6156000"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Waffle ISO 27001"/>
          <p:cNvSpPr/>
          <p:nvPr/>
        </p:nvSpPr>
        <p:spPr>
          <a:xfrm>
            <a:off x="6156000"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Waffle ISO 27001"/>
          <p:cNvSpPr/>
          <p:nvPr/>
        </p:nvSpPr>
        <p:spPr>
          <a:xfrm>
            <a:off x="6156000"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Waffle ISO 27001"/>
          <p:cNvSpPr/>
          <p:nvPr/>
        </p:nvSpPr>
        <p:spPr>
          <a:xfrm>
            <a:off x="6156000"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Waffle ISO 27001"/>
          <p:cNvSpPr/>
          <p:nvPr/>
        </p:nvSpPr>
        <p:spPr>
          <a:xfrm>
            <a:off x="6156000"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Waffle ISO 27001"/>
          <p:cNvSpPr/>
          <p:nvPr/>
        </p:nvSpPr>
        <p:spPr>
          <a:xfrm>
            <a:off x="6405984"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Waffle ISO 27001"/>
          <p:cNvSpPr/>
          <p:nvPr/>
        </p:nvSpPr>
        <p:spPr>
          <a:xfrm>
            <a:off x="6405984"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Waffle ISO 27001"/>
          <p:cNvSpPr/>
          <p:nvPr/>
        </p:nvSpPr>
        <p:spPr>
          <a:xfrm>
            <a:off x="6405984"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Waffle ISO 27001"/>
          <p:cNvSpPr/>
          <p:nvPr/>
        </p:nvSpPr>
        <p:spPr>
          <a:xfrm>
            <a:off x="6405984"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Waffle ISO 27001"/>
          <p:cNvSpPr/>
          <p:nvPr/>
        </p:nvSpPr>
        <p:spPr>
          <a:xfrm>
            <a:off x="6405984"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Waffle ISO 27001"/>
          <p:cNvSpPr/>
          <p:nvPr/>
        </p:nvSpPr>
        <p:spPr>
          <a:xfrm>
            <a:off x="6405984"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Waffle ISO 27001"/>
          <p:cNvSpPr/>
          <p:nvPr/>
        </p:nvSpPr>
        <p:spPr>
          <a:xfrm>
            <a:off x="6405984"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Waffle ISO 27001"/>
          <p:cNvSpPr/>
          <p:nvPr/>
        </p:nvSpPr>
        <p:spPr>
          <a:xfrm>
            <a:off x="6405984"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Waffle ISO 27001"/>
          <p:cNvSpPr/>
          <p:nvPr/>
        </p:nvSpPr>
        <p:spPr>
          <a:xfrm>
            <a:off x="6405984"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Waffle ISO 27001"/>
          <p:cNvSpPr/>
          <p:nvPr/>
        </p:nvSpPr>
        <p:spPr>
          <a:xfrm>
            <a:off x="6405984"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Waffle ISO 27001"/>
          <p:cNvSpPr/>
          <p:nvPr/>
        </p:nvSpPr>
        <p:spPr>
          <a:xfrm>
            <a:off x="6655968"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Waffle ISO 27001"/>
          <p:cNvSpPr/>
          <p:nvPr/>
        </p:nvSpPr>
        <p:spPr>
          <a:xfrm>
            <a:off x="6655968"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Waffle ISO 27001"/>
          <p:cNvSpPr/>
          <p:nvPr/>
        </p:nvSpPr>
        <p:spPr>
          <a:xfrm>
            <a:off x="6655968"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Waffle ISO 27001"/>
          <p:cNvSpPr/>
          <p:nvPr/>
        </p:nvSpPr>
        <p:spPr>
          <a:xfrm>
            <a:off x="6655968"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Waffle ISO 27001"/>
          <p:cNvSpPr/>
          <p:nvPr/>
        </p:nvSpPr>
        <p:spPr>
          <a:xfrm>
            <a:off x="6655968"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Waffle ISO 27001"/>
          <p:cNvSpPr/>
          <p:nvPr/>
        </p:nvSpPr>
        <p:spPr>
          <a:xfrm>
            <a:off x="6655968"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Waffle ISO 27001"/>
          <p:cNvSpPr/>
          <p:nvPr/>
        </p:nvSpPr>
        <p:spPr>
          <a:xfrm>
            <a:off x="6655968"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Waffle ISO 27001"/>
          <p:cNvSpPr/>
          <p:nvPr/>
        </p:nvSpPr>
        <p:spPr>
          <a:xfrm>
            <a:off x="6655968"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Waffle ISO 27001"/>
          <p:cNvSpPr/>
          <p:nvPr/>
        </p:nvSpPr>
        <p:spPr>
          <a:xfrm>
            <a:off x="6655968"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Waffle ISO 27001"/>
          <p:cNvSpPr/>
          <p:nvPr/>
        </p:nvSpPr>
        <p:spPr>
          <a:xfrm>
            <a:off x="6655968"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Waffle ISO 27001"/>
          <p:cNvSpPr/>
          <p:nvPr/>
        </p:nvSpPr>
        <p:spPr>
          <a:xfrm>
            <a:off x="6905952"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Waffle ISO 27001"/>
          <p:cNvSpPr/>
          <p:nvPr/>
        </p:nvSpPr>
        <p:spPr>
          <a:xfrm>
            <a:off x="6905952"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Waffle ISO 27001"/>
          <p:cNvSpPr/>
          <p:nvPr/>
        </p:nvSpPr>
        <p:spPr>
          <a:xfrm>
            <a:off x="6905952"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Waffle ISO 27001"/>
          <p:cNvSpPr/>
          <p:nvPr/>
        </p:nvSpPr>
        <p:spPr>
          <a:xfrm>
            <a:off x="6905952"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Waffle ISO 27001"/>
          <p:cNvSpPr/>
          <p:nvPr/>
        </p:nvSpPr>
        <p:spPr>
          <a:xfrm>
            <a:off x="6905952"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Waffle ISO 27001"/>
          <p:cNvSpPr/>
          <p:nvPr/>
        </p:nvSpPr>
        <p:spPr>
          <a:xfrm>
            <a:off x="6905952"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Waffle ISO 27001"/>
          <p:cNvSpPr/>
          <p:nvPr/>
        </p:nvSpPr>
        <p:spPr>
          <a:xfrm>
            <a:off x="6905952"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Waffle ISO 27001"/>
          <p:cNvSpPr/>
          <p:nvPr/>
        </p:nvSpPr>
        <p:spPr>
          <a:xfrm>
            <a:off x="6905952"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Waffle ISO 27001"/>
          <p:cNvSpPr/>
          <p:nvPr/>
        </p:nvSpPr>
        <p:spPr>
          <a:xfrm>
            <a:off x="6905952"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Waffle ISO 27001"/>
          <p:cNvSpPr/>
          <p:nvPr/>
        </p:nvSpPr>
        <p:spPr>
          <a:xfrm>
            <a:off x="6905952"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Waffle ISO 27001"/>
          <p:cNvSpPr/>
          <p:nvPr/>
        </p:nvSpPr>
        <p:spPr>
          <a:xfrm>
            <a:off x="7155936"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Waffle ISO 27001"/>
          <p:cNvSpPr/>
          <p:nvPr/>
        </p:nvSpPr>
        <p:spPr>
          <a:xfrm>
            <a:off x="7155936"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Waffle ISO 27001"/>
          <p:cNvSpPr/>
          <p:nvPr/>
        </p:nvSpPr>
        <p:spPr>
          <a:xfrm>
            <a:off x="7155936"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Waffle ISO 27001"/>
          <p:cNvSpPr/>
          <p:nvPr/>
        </p:nvSpPr>
        <p:spPr>
          <a:xfrm>
            <a:off x="7155936"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Waffle ISO 27001"/>
          <p:cNvSpPr/>
          <p:nvPr/>
        </p:nvSpPr>
        <p:spPr>
          <a:xfrm>
            <a:off x="7155936"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Waffle ISO 27001"/>
          <p:cNvSpPr/>
          <p:nvPr/>
        </p:nvSpPr>
        <p:spPr>
          <a:xfrm>
            <a:off x="7155936"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Waffle ISO 27001"/>
          <p:cNvSpPr/>
          <p:nvPr/>
        </p:nvSpPr>
        <p:spPr>
          <a:xfrm>
            <a:off x="7155936"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affle ISO 27001"/>
          <p:cNvSpPr/>
          <p:nvPr/>
        </p:nvSpPr>
        <p:spPr>
          <a:xfrm>
            <a:off x="7155936"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affle ISO 27001"/>
          <p:cNvSpPr/>
          <p:nvPr/>
        </p:nvSpPr>
        <p:spPr>
          <a:xfrm>
            <a:off x="7155936"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Waffle ISO 27001"/>
          <p:cNvSpPr/>
          <p:nvPr/>
        </p:nvSpPr>
        <p:spPr>
          <a:xfrm>
            <a:off x="7155936"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Waffle ISO 27001"/>
          <p:cNvSpPr/>
          <p:nvPr/>
        </p:nvSpPr>
        <p:spPr>
          <a:xfrm>
            <a:off x="7405920"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Waffle ISO 27001"/>
          <p:cNvSpPr/>
          <p:nvPr/>
        </p:nvSpPr>
        <p:spPr>
          <a:xfrm>
            <a:off x="7405920"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Waffle ISO 27001"/>
          <p:cNvSpPr/>
          <p:nvPr/>
        </p:nvSpPr>
        <p:spPr>
          <a:xfrm>
            <a:off x="7405920"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Waffle ISO 27001"/>
          <p:cNvSpPr/>
          <p:nvPr/>
        </p:nvSpPr>
        <p:spPr>
          <a:xfrm>
            <a:off x="7405920"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Waffle ISO 27001"/>
          <p:cNvSpPr/>
          <p:nvPr/>
        </p:nvSpPr>
        <p:spPr>
          <a:xfrm>
            <a:off x="7405920"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Waffle ISO 27001"/>
          <p:cNvSpPr/>
          <p:nvPr/>
        </p:nvSpPr>
        <p:spPr>
          <a:xfrm>
            <a:off x="7405920"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Waffle ISO 27001"/>
          <p:cNvSpPr/>
          <p:nvPr/>
        </p:nvSpPr>
        <p:spPr>
          <a:xfrm>
            <a:off x="7405920"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Waffle ISO 27001"/>
          <p:cNvSpPr/>
          <p:nvPr/>
        </p:nvSpPr>
        <p:spPr>
          <a:xfrm>
            <a:off x="7405920"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Waffle ISO 27001"/>
          <p:cNvSpPr/>
          <p:nvPr/>
        </p:nvSpPr>
        <p:spPr>
          <a:xfrm>
            <a:off x="7405920"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Waffle ISO 27001"/>
          <p:cNvSpPr/>
          <p:nvPr/>
        </p:nvSpPr>
        <p:spPr>
          <a:xfrm>
            <a:off x="7405920"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Waffle ISO 27001"/>
          <p:cNvSpPr/>
          <p:nvPr/>
        </p:nvSpPr>
        <p:spPr>
          <a:xfrm>
            <a:off x="7655904" y="20880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Waffle ISO 27001"/>
          <p:cNvSpPr/>
          <p:nvPr/>
        </p:nvSpPr>
        <p:spPr>
          <a:xfrm>
            <a:off x="7655904" y="23112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Waffle ISO 27001"/>
          <p:cNvSpPr/>
          <p:nvPr/>
        </p:nvSpPr>
        <p:spPr>
          <a:xfrm>
            <a:off x="7655904" y="25344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Waffle ISO 27001"/>
          <p:cNvSpPr/>
          <p:nvPr/>
        </p:nvSpPr>
        <p:spPr>
          <a:xfrm>
            <a:off x="7655904" y="27576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Waffle ISO 27001"/>
          <p:cNvSpPr/>
          <p:nvPr/>
        </p:nvSpPr>
        <p:spPr>
          <a:xfrm>
            <a:off x="7655904" y="29808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Waffle ISO 27001"/>
          <p:cNvSpPr/>
          <p:nvPr/>
        </p:nvSpPr>
        <p:spPr>
          <a:xfrm>
            <a:off x="7655904" y="32040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Waffle ISO 27001"/>
          <p:cNvSpPr/>
          <p:nvPr/>
        </p:nvSpPr>
        <p:spPr>
          <a:xfrm>
            <a:off x="7655904" y="34272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Waffle ISO 27001"/>
          <p:cNvSpPr/>
          <p:nvPr/>
        </p:nvSpPr>
        <p:spPr>
          <a:xfrm>
            <a:off x="7655904" y="36504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Waffle ISO 27001"/>
          <p:cNvSpPr/>
          <p:nvPr/>
        </p:nvSpPr>
        <p:spPr>
          <a:xfrm>
            <a:off x="7655904" y="38736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Waffle ISO 27001"/>
          <p:cNvSpPr/>
          <p:nvPr/>
        </p:nvSpPr>
        <p:spPr>
          <a:xfrm>
            <a:off x="7655904" y="40968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Waffle ISO 27001"/>
          <p:cNvSpPr/>
          <p:nvPr/>
        </p:nvSpPr>
        <p:spPr>
          <a:xfrm>
            <a:off x="7905888" y="20880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Waffle ISO 27001"/>
          <p:cNvSpPr/>
          <p:nvPr/>
        </p:nvSpPr>
        <p:spPr>
          <a:xfrm>
            <a:off x="7905888" y="23112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Waffle ISO 27001"/>
          <p:cNvSpPr/>
          <p:nvPr/>
        </p:nvSpPr>
        <p:spPr>
          <a:xfrm>
            <a:off x="7905888" y="25344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Waffle ISO 27001"/>
          <p:cNvSpPr/>
          <p:nvPr/>
        </p:nvSpPr>
        <p:spPr>
          <a:xfrm>
            <a:off x="7905888" y="27576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Waffle ISO 27001"/>
          <p:cNvSpPr/>
          <p:nvPr/>
        </p:nvSpPr>
        <p:spPr>
          <a:xfrm>
            <a:off x="7905888" y="29808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Waffle ISO 27001"/>
          <p:cNvSpPr/>
          <p:nvPr/>
        </p:nvSpPr>
        <p:spPr>
          <a:xfrm>
            <a:off x="7905888" y="32040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Waffle ISO 27001"/>
          <p:cNvSpPr/>
          <p:nvPr/>
        </p:nvSpPr>
        <p:spPr>
          <a:xfrm>
            <a:off x="7905888" y="34272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Waffle ISO 27001"/>
          <p:cNvSpPr/>
          <p:nvPr/>
        </p:nvSpPr>
        <p:spPr>
          <a:xfrm>
            <a:off x="7905888" y="36504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Waffle ISO 27001"/>
          <p:cNvSpPr/>
          <p:nvPr/>
        </p:nvSpPr>
        <p:spPr>
          <a:xfrm>
            <a:off x="7905888" y="38736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156000" y="1800000"/>
            <a:ext cx="2952000" cy="252000"/>
          </a:xfrm>
          <a:prstGeom prst="rect">
            <a:avLst/>
          </a:prstGeom>
          <a:noFill/>
          <a:ln>
            <a:noFill/>
          </a:ln>
        </p:spPr>
        <p:txBody>
          <a:bodyPr wrap="square" anchor="t" lIns="43200" rIns="43200" tIns="25200" bIns="25200">
            <a:spAutoFit/>
          </a:bodyPr>
          <a:lstStyle/>
          <a:p>
            <a:pPr>
              <a:defRPr sz="1200" b="1">
                <a:solidFill>
                  <a:srgbClr val="0B0E26"/>
                </a:solidFill>
                <a:latin typeface="Calibri"/>
              </a:defRPr>
            </a:pPr>
            <a:r>
              <a:t>ISO 27001 · 79 requirements</a:t>
            </a:r>
          </a:p>
        </p:txBody>
      </p:sp>
      <p:graphicFrame>
        <p:nvGraphicFramePr>
          <p:cNvPr id="128" name="Native evidence table"/>
          <p:cNvGraphicFramePr>
            <a:graphicFrameLocks noGrp="1"/>
          </p:cNvGraphicFramePr>
          <p:nvPr/>
        </p:nvGraphicFramePr>
        <p:xfrm>
          <a:off x="9216000" y="2088000"/>
          <a:ext cx="2088000" cy="2808000"/>
        </p:xfrm>
        <a:graphic>
          <a:graphicData uri="http://schemas.openxmlformats.org/drawingml/2006/table">
            <a:tbl>
              <a:tblPr firstRow="1" bandRow="1">
                <a:tableStyleId>{5C22544A-7EE6-4342-B048-85BDC9FD1C3A}</a:tableStyleId>
              </a:tblPr>
              <a:tblGrid>
                <a:gridCol w="1152000"/>
                <a:gridCol w="468000"/>
                <a:gridCol w="468000"/>
              </a:tblGrid>
              <a:tr h="468000">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c>
                  <a:txBody>
                    <a:bodyPr/>
                    <a:lstStyle/>
                    <a:p>
                      <a:pPr>
                        <a:defRPr sz="900" b="1">
                          <a:solidFill>
                            <a:srgbClr val="FFFFFF"/>
                          </a:solidFill>
                          <a:latin typeface="Calibri"/>
                        </a:defRPr>
                      </a:pPr>
                      <a:r>
                        <a:t>%</a:t>
                      </a:r>
                    </a:p>
                  </a:txBody>
                  <a:tcPr marL="43200" marR="43200" marT="21600" marB="21600" anchor="ctr">
                    <a:solidFill>
                      <a:srgbClr val="161A5C"/>
                    </a:solidFill>
                  </a:tcPr>
                </a:tc>
              </a:tr>
              <a:tr h="468000">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33</a:t>
                      </a:r>
                    </a:p>
                  </a:txBody>
                  <a:tcPr marL="43200" marR="43200" marT="21600" marB="21600" anchor="ctr">
                    <a:solidFill>
                      <a:srgbClr val="FFFFFF"/>
                    </a:solidFill>
                  </a:tcPr>
                </a:tc>
                <a:tc>
                  <a:txBody>
                    <a:bodyPr/>
                    <a:lstStyle/>
                    <a:p>
                      <a:pPr>
                        <a:defRPr sz="900" b="0">
                          <a:solidFill>
                            <a:srgbClr val="0B0E26"/>
                          </a:solidFill>
                          <a:latin typeface="Calibri"/>
                        </a:defRPr>
                      </a:pPr>
                      <a:r>
                        <a:t>42%</a:t>
                      </a:r>
                    </a:p>
                  </a:txBody>
                  <a:tcPr marL="43200" marR="43200" marT="21600" marB="21600" anchor="ctr">
                    <a:solidFill>
                      <a:srgbClr val="FFFFFF"/>
                    </a:solidFill>
                  </a:tcPr>
                </a:tc>
              </a:tr>
              <a:tr h="468000">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27</a:t>
                      </a:r>
                    </a:p>
                  </a:txBody>
                  <a:tcPr marL="43200" marR="43200" marT="21600" marB="21600" anchor="ctr">
                    <a:solidFill>
                      <a:srgbClr val="F1F3F8"/>
                    </a:solidFill>
                  </a:tcPr>
                </a:tc>
                <a:tc>
                  <a:txBody>
                    <a:bodyPr/>
                    <a:lstStyle/>
                    <a:p>
                      <a:pPr>
                        <a:defRPr sz="900" b="0">
                          <a:solidFill>
                            <a:srgbClr val="0B0E26"/>
                          </a:solidFill>
                          <a:latin typeface="Calibri"/>
                        </a:defRPr>
                      </a:pPr>
                      <a:r>
                        <a:t>34%</a:t>
                      </a:r>
                    </a:p>
                  </a:txBody>
                  <a:tcPr marL="43200" marR="43200" marT="21600" marB="21600" anchor="ctr">
                    <a:solidFill>
                      <a:srgbClr val="F1F3F8"/>
                    </a:solidFill>
                  </a:tcPr>
                </a:tc>
              </a:tr>
              <a:tr h="468000">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6</a:t>
                      </a:r>
                    </a:p>
                  </a:txBody>
                  <a:tcPr marL="43200" marR="43200" marT="21600" marB="21600" anchor="ctr">
                    <a:solidFill>
                      <a:srgbClr val="FFFFFF"/>
                    </a:solidFill>
                  </a:tcPr>
                </a:tc>
                <a:tc>
                  <a:txBody>
                    <a:bodyPr/>
                    <a:lstStyle/>
                    <a:p>
                      <a:pPr>
                        <a:defRPr sz="900" b="0">
                          <a:solidFill>
                            <a:srgbClr val="0B0E26"/>
                          </a:solidFill>
                          <a:latin typeface="Calibri"/>
                        </a:defRPr>
                      </a:pPr>
                      <a:r>
                        <a:t>8%</a:t>
                      </a:r>
                    </a:p>
                  </a:txBody>
                  <a:tcPr marL="43200" marR="43200" marT="21600" marB="21600" anchor="ctr">
                    <a:solidFill>
                      <a:srgbClr val="FFFFFF"/>
                    </a:solidFill>
                  </a:tcPr>
                </a:tc>
              </a:tr>
              <a:tr h="468000">
                <a:tc>
                  <a:txBody>
                    <a:bodyPr/>
                    <a:lstStyle/>
                    <a:p>
                      <a:pPr>
                        <a:defRPr sz="900" b="0">
                          <a:solidFill>
                            <a:srgbClr val="0B0E26"/>
                          </a:solidFill>
                          <a:latin typeface="Calibri"/>
                        </a:defRPr>
                      </a:pPr>
                      <a:r>
                        <a:t>Not concluded</a:t>
                      </a:r>
                    </a:p>
                  </a:txBody>
                  <a:tcPr marL="43200" marR="43200" marT="21600" marB="21600" anchor="ctr">
                    <a:solidFill>
                      <a:srgbClr val="F1F3F8"/>
                    </a:solidFill>
                  </a:tcPr>
                </a:tc>
                <a:tc>
                  <a:txBody>
                    <a:bodyPr/>
                    <a:lstStyle/>
                    <a:p>
                      <a:pPr>
                        <a:defRPr sz="900" b="0">
                          <a:solidFill>
                            <a:srgbClr val="0B0E26"/>
                          </a:solidFill>
                          <a:latin typeface="Calibri"/>
                        </a:defRPr>
                      </a:pPr>
                      <a:r>
                        <a:t>10</a:t>
                      </a:r>
                    </a:p>
                  </a:txBody>
                  <a:tcPr marL="43200" marR="43200" marT="21600" marB="21600" anchor="ctr">
                    <a:solidFill>
                      <a:srgbClr val="F1F3F8"/>
                    </a:solidFill>
                  </a:tcPr>
                </a:tc>
                <a:tc>
                  <a:txBody>
                    <a:bodyPr/>
                    <a:lstStyle/>
                    <a:p>
                      <a:pPr>
                        <a:defRPr sz="900" b="0">
                          <a:solidFill>
                            <a:srgbClr val="0B0E26"/>
                          </a:solidFill>
                          <a:latin typeface="Calibri"/>
                        </a:defRPr>
                      </a:pPr>
                      <a:r>
                        <a:t>13%</a:t>
                      </a:r>
                    </a:p>
                  </a:txBody>
                  <a:tcPr marL="43200" marR="43200" marT="21600" marB="21600" anchor="ctr">
                    <a:solidFill>
                      <a:srgbClr val="F1F3F8"/>
                    </a:solidFill>
                  </a:tcPr>
                </a:tc>
              </a:tr>
              <a:tr h="468000">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3</a:t>
                      </a:r>
                    </a:p>
                  </a:txBody>
                  <a:tcPr marL="43200" marR="43200" marT="21600" marB="21600" anchor="ctr">
                    <a:solidFill>
                      <a:srgbClr val="FFFFFF"/>
                    </a:solidFill>
                  </a:tcPr>
                </a:tc>
                <a:tc>
                  <a:txBody>
                    <a:bodyPr/>
                    <a:lstStyle/>
                    <a:p>
                      <a:pPr>
                        <a:defRPr sz="900" b="0">
                          <a:solidFill>
                            <a:srgbClr val="0B0E26"/>
                          </a:solidFill>
                          <a:latin typeface="Calibri"/>
                        </a:defRPr>
                      </a:pPr>
                      <a:r>
                        <a:t>4%</a:t>
                      </a:r>
                    </a:p>
                  </a:txBody>
                  <a:tcPr marL="43200" marR="43200" marT="21600" marB="21600" anchor="ctr">
                    <a:solidFill>
                      <a:srgbClr val="FFFFFF"/>
                    </a:solidFill>
                  </a:tcPr>
                </a:tc>
              </a:tr>
            </a:tbl>
          </a:graphicData>
        </a:graphic>
      </p:graphicFrame>
      <p:sp>
        <p:nvSpPr>
          <p:cNvPr id="129" name="TextBox 128"/>
          <p:cNvSpPr txBox="1"/>
          <p:nvPr/>
        </p:nvSpPr>
        <p:spPr>
          <a:xfrm>
            <a:off x="504000" y="5976000"/>
            <a:ext cx="11160000" cy="360000"/>
          </a:xfrm>
          <a:prstGeom prst="rect">
            <a:avLst/>
          </a:prstGeom>
          <a:noFill/>
          <a:ln>
            <a:noFill/>
          </a:ln>
        </p:spPr>
        <p:txBody>
          <a:bodyPr wrap="square" anchor="t" lIns="43200" rIns="43200" tIns="25200" bIns="25200">
            <a:spAutoFit/>
          </a:bodyPr>
          <a:lstStyle/>
          <a:p>
            <a:pPr>
              <a:defRPr sz="1100" b="0">
                <a:solidFill>
                  <a:srgbClr val="626984"/>
                </a:solidFill>
                <a:latin typeface="Calibri"/>
              </a:defRPr>
            </a:pPr>
            <a:r>
              <a:t>Scores are per framework and are never combined; the totals above are counts.</a:t>
            </a:r>
          </a:p>
        </p:txBody>
      </p:sp>
      <p:sp>
        <p:nvSpPr>
          <p:cNvPr id="130"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32"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6 of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Breach Notification (25%) and Rights of Data Principal (45%) are the weakest areas</a:t>
            </a:r>
          </a:p>
        </p:txBody>
      </p:sp>
      <p:graphicFrame>
        <p:nvGraphicFramePr>
          <p:cNvPr id="5" name="Native domain status bar"/>
          <p:cNvGraphicFramePr>
            <a:graphicFrameLocks noGrp="1"/>
          </p:cNvGraphicFramePr>
          <p:nvPr/>
        </p:nvGraphicFramePr>
        <p:xfrm>
          <a:off x="504000" y="1728000"/>
          <a:ext cx="11160000" cy="3312000"/>
        </p:xfrm>
        <a:graphic>
          <a:graphicData uri="http://schemas.openxmlformats.org/drawingml/2006/chart">
            <c:chart xmlns:c="http://schemas.openxmlformats.org/drawingml/2006/chart" r:id="rId2"/>
          </a:graphicData>
        </a:graphic>
      </p:graphicFrame>
      <p:sp>
        <p:nvSpPr>
          <p:cNvPr id="6" name="TextBox 5"/>
          <p:cNvSpPr txBox="1"/>
          <p:nvPr/>
        </p:nvSpPr>
        <p:spPr>
          <a:xfrm>
            <a:off x="504000" y="5148000"/>
            <a:ext cx="11160000" cy="360000"/>
          </a:xfrm>
          <a:prstGeom prst="rect">
            <a:avLst/>
          </a:prstGeom>
          <a:noFill/>
          <a:ln>
            <a:noFill/>
          </a:ln>
        </p:spPr>
        <p:txBody>
          <a:bodyPr wrap="square" anchor="t" lIns="43200" rIns="43200" tIns="25200" bIns="25200">
            <a:spAutoFit/>
          </a:bodyPr>
          <a:lstStyle/>
          <a:p>
            <a:pPr>
              <a:defRPr sz="1100" b="0">
                <a:solidFill>
                  <a:srgbClr val="626984"/>
                </a:solidFill>
                <a:latin typeface="Calibri"/>
              </a:defRPr>
            </a:pPr>
            <a:r>
              <a:t>Rating bands: 0–40 Non-compliant · 40–60 Needs significant improvement · 60–80 Partially compliant · 80–100 Compliant</a:t>
            </a:r>
          </a:p>
        </p:txBody>
      </p:sp>
      <p:graphicFrame>
        <p:nvGraphicFramePr>
          <p:cNvPr id="7" name="Native evidence table"/>
          <p:cNvGraphicFramePr>
            <a:graphicFrameLocks noGrp="1"/>
          </p:cNvGraphicFramePr>
          <p:nvPr/>
        </p:nvGraphicFramePr>
        <p:xfrm>
          <a:off x="504000" y="1728000"/>
          <a:ext cx="6120000" cy="3240000"/>
        </p:xfrm>
        <a:graphic>
          <a:graphicData uri="http://schemas.openxmlformats.org/drawingml/2006/table">
            <a:tbl>
              <a:tblPr firstRow="1" bandRow="1">
                <a:tableStyleId>{5C22544A-7EE6-4342-B048-85BDC9FD1C3A}</a:tableStyleId>
              </a:tblPr>
              <a:tblGrid>
                <a:gridCol w="1260000"/>
                <a:gridCol w="2016000"/>
                <a:gridCol w="792000"/>
                <a:gridCol w="792000"/>
                <a:gridCol w="1260000"/>
              </a:tblGrid>
              <a:tr h="324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Score</a:t>
                      </a:r>
                    </a:p>
                  </a:txBody>
                  <a:tcPr marL="43200" marR="43200" marT="21600" marB="21600" anchor="ctr">
                    <a:solidFill>
                      <a:srgbClr val="161A5C"/>
                    </a:solidFill>
                  </a:tcPr>
                </a:tc>
                <a:tc>
                  <a:txBody>
                    <a:bodyPr/>
                    <a:lstStyle/>
                    <a:p>
                      <a:pPr>
                        <a:defRPr sz="900" b="1">
                          <a:solidFill>
                            <a:srgbClr val="FFFFFF"/>
                          </a:solidFill>
                          <a:latin typeface="Calibri"/>
                        </a:defRPr>
                      </a:pPr>
                      <a:r>
                        <a:t>Gaps</a:t>
                      </a:r>
                    </a:p>
                  </a:txBody>
                  <a:tcPr marL="43200" marR="43200" marT="21600" marB="21600" anchor="ctr">
                    <a:solidFill>
                      <a:srgbClr val="161A5C"/>
                    </a:solidFill>
                  </a:tcPr>
                </a:tc>
                <a:tc>
                  <a:txBody>
                    <a:bodyPr/>
                    <a:lstStyle/>
                    <a:p>
                      <a:pPr>
                        <a:defRPr sz="900" b="1">
                          <a:solidFill>
                            <a:srgbClr val="FFFFFF"/>
                          </a:solidFill>
                          <a:latin typeface="Calibri"/>
                        </a:defRPr>
                      </a:pPr>
                      <a:r>
                        <a:t>Critical/high</a:t>
                      </a:r>
                    </a:p>
                  </a:txBody>
                  <a:tcPr marL="43200" marR="43200" marT="21600" marB="21600" anchor="ctr">
                    <a:solidFill>
                      <a:srgbClr val="161A5C"/>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Breach Notification</a:t>
                      </a:r>
                    </a:p>
                  </a:txBody>
                  <a:tcPr marL="43200" marR="43200" marT="21600" marB="21600" anchor="ctr">
                    <a:solidFill>
                      <a:srgbClr val="FFFFFF"/>
                    </a:solidFill>
                  </a:tcPr>
                </a:tc>
                <a:tc>
                  <a:txBody>
                    <a:bodyPr/>
                    <a:lstStyle/>
                    <a:p>
                      <a:pPr>
                        <a:defRPr sz="900" b="0">
                          <a:solidFill>
                            <a:srgbClr val="0B0E26"/>
                          </a:solidFill>
                          <a:latin typeface="Calibri"/>
                        </a:defRPr>
                      </a:pPr>
                      <a:r>
                        <a:t>25.0%</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1F3F8"/>
                    </a:solidFill>
                  </a:tcPr>
                </a:tc>
                <a:tc>
                  <a:txBody>
                    <a:bodyPr/>
                    <a:lstStyle/>
                    <a:p>
                      <a:pPr>
                        <a:defRPr sz="900" b="0">
                          <a:solidFill>
                            <a:srgbClr val="0B0E26"/>
                          </a:solidFill>
                          <a:latin typeface="Calibri"/>
                        </a:defRPr>
                      </a:pPr>
                      <a:r>
                        <a:t>45.0%</a:t>
                      </a:r>
                    </a:p>
                  </a:txBody>
                  <a:tcPr marL="43200" marR="43200" marT="21600" marB="21600" anchor="ctr">
                    <a:solidFill>
                      <a:srgbClr val="F1F3F8"/>
                    </a:solidFill>
                  </a:tcPr>
                </a:tc>
                <a:tc>
                  <a:txBody>
                    <a:bodyPr/>
                    <a:lstStyle/>
                    <a:p>
                      <a:pPr>
                        <a:defRPr sz="900" b="0">
                          <a:solidFill>
                            <a:srgbClr val="0B0E26"/>
                          </a:solidFill>
                          <a:latin typeface="Calibri"/>
                        </a:defRPr>
                      </a:pPr>
                      <a:r>
                        <a:t>4</a:t>
                      </a:r>
                    </a:p>
                  </a:txBody>
                  <a:tcPr marL="43200" marR="43200" marT="21600" marB="21600" anchor="ctr">
                    <a:solidFill>
                      <a:srgbClr val="F1F3F8"/>
                    </a:solidFill>
                  </a:tcPr>
                </a:tc>
                <a:tc>
                  <a:txBody>
                    <a:bodyPr/>
                    <a:lstStyle/>
                    <a:p>
                      <a:pPr>
                        <a:defRPr sz="900" b="0">
                          <a:solidFill>
                            <a:srgbClr val="0B0E26"/>
                          </a:solidFill>
                          <a:latin typeface="Calibri"/>
                        </a:defRPr>
                      </a:pPr>
                      <a:r>
                        <a:t>0</a:t>
                      </a:r>
                    </a:p>
                  </a:txBody>
                  <a:tcPr marL="43200" marR="43200" marT="21600" marB="21600" anchor="ctr">
                    <a:solidFill>
                      <a:srgbClr val="F1F3F8"/>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49.2%</a:t>
                      </a:r>
                    </a:p>
                  </a:txBody>
                  <a:tcPr marL="43200" marR="43200" marT="21600" marB="21600" anchor="ctr">
                    <a:solidFill>
                      <a:srgbClr val="FFFFFF"/>
                    </a:solidFill>
                  </a:tcPr>
                </a:tc>
                <a:tc>
                  <a:txBody>
                    <a:bodyPr/>
                    <a:lstStyle/>
                    <a:p>
                      <a:pPr>
                        <a:defRPr sz="900" b="0">
                          <a:solidFill>
                            <a:srgbClr val="0B0E26"/>
                          </a:solidFill>
                          <a:latin typeface="Calibri"/>
                        </a:defRPr>
                      </a:pPr>
                      <a:r>
                        <a:t>14</a:t>
                      </a:r>
                    </a:p>
                  </a:txBody>
                  <a:tcPr marL="43200" marR="43200" marT="21600" marB="21600" anchor="ctr">
                    <a:solidFill>
                      <a:srgbClr val="FFFFFF"/>
                    </a:solidFill>
                  </a:tcPr>
                </a:tc>
                <a:tc>
                  <a:txBody>
                    <a:bodyPr/>
                    <a:lstStyle/>
                    <a:p>
                      <a:pPr>
                        <a:defRPr sz="900" b="0">
                          <a:solidFill>
                            <a:srgbClr val="0B0E26"/>
                          </a:solidFill>
                          <a:latin typeface="Calibri"/>
                        </a:defRPr>
                      </a:pPr>
                      <a:r>
                        <a:t>8</a:t>
                      </a:r>
                    </a:p>
                  </a:txBody>
                  <a:tcPr marL="43200" marR="43200" marT="21600" marB="21600" anchor="ctr">
                    <a:solidFill>
                      <a:srgbClr val="FFFFFF"/>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Special Provisions</a:t>
                      </a:r>
                    </a:p>
                  </a:txBody>
                  <a:tcPr marL="43200" marR="43200" marT="21600" marB="21600" anchor="ctr">
                    <a:solidFill>
                      <a:srgbClr val="F1F3F8"/>
                    </a:solidFill>
                  </a:tcPr>
                </a:tc>
                <a:tc>
                  <a:txBody>
                    <a:bodyPr/>
                    <a:lstStyle/>
                    <a:p>
                      <a:pPr>
                        <a:defRPr sz="900" b="0">
                          <a:solidFill>
                            <a:srgbClr val="0B0E26"/>
                          </a:solidFill>
                          <a:latin typeface="Calibri"/>
                        </a:defRPr>
                      </a:pPr>
                      <a:r>
                        <a:t>60.0%</a:t>
                      </a:r>
                    </a:p>
                  </a:txBody>
                  <a:tcPr marL="43200" marR="43200" marT="21600" marB="21600" anchor="ctr">
                    <a:solidFill>
                      <a:srgbClr val="F1F3F8"/>
                    </a:solidFill>
                  </a:tcPr>
                </a:tc>
                <a:tc>
                  <a:txBody>
                    <a:bodyPr/>
                    <a:lstStyle/>
                    <a:p>
                      <a:pPr>
                        <a:defRPr sz="900" b="0">
                          <a:solidFill>
                            <a:srgbClr val="0B0E26"/>
                          </a:solidFill>
                          <a:latin typeface="Calibri"/>
                        </a:defRPr>
                      </a:pPr>
                      <a:r>
                        <a:t>5</a:t>
                      </a:r>
                    </a:p>
                  </a:txBody>
                  <a:tcPr marL="43200" marR="43200" marT="21600" marB="21600" anchor="ctr">
                    <a:solidFill>
                      <a:srgbClr val="F1F3F8"/>
                    </a:solidFill>
                  </a:tcPr>
                </a:tc>
                <a:tc>
                  <a:txBody>
                    <a:bodyPr/>
                    <a:lstStyle/>
                    <a:p>
                      <a:pPr>
                        <a:defRPr sz="900" b="0">
                          <a:solidFill>
                            <a:srgbClr val="0B0E26"/>
                          </a:solidFill>
                          <a:latin typeface="Calibri"/>
                        </a:defRPr>
                      </a:pPr>
                      <a:r>
                        <a:t>3</a:t>
                      </a:r>
                    </a:p>
                  </a:txBody>
                  <a:tcPr marL="43200" marR="43200" marT="21600" marB="21600" anchor="ctr">
                    <a:solidFill>
                      <a:srgbClr val="F1F3F8"/>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FFFFF"/>
                    </a:solidFill>
                  </a:tcPr>
                </a:tc>
                <a:tc>
                  <a:txBody>
                    <a:bodyPr/>
                    <a:lstStyle/>
                    <a:p>
                      <a:pPr>
                        <a:defRPr sz="900" b="0">
                          <a:solidFill>
                            <a:srgbClr val="0B0E26"/>
                          </a:solidFill>
                          <a:latin typeface="Calibri"/>
                        </a:defRPr>
                      </a:pPr>
                      <a:r>
                        <a:t>87.5%</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r>
              <a:tr h="324000">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Cross-Border Data Transfer</a:t>
                      </a:r>
                    </a:p>
                  </a:txBody>
                  <a:tcPr marL="43200" marR="43200" marT="21600" marB="21600" anchor="ctr">
                    <a:solidFill>
                      <a:srgbClr val="F1F3F8"/>
                    </a:solidFill>
                  </a:tcPr>
                </a:tc>
                <a:tc>
                  <a:txBody>
                    <a:bodyPr/>
                    <a:lstStyle/>
                    <a:p>
                      <a:pPr>
                        <a:defRPr sz="900" b="0">
                          <a:solidFill>
                            <a:srgbClr val="0B0E26"/>
                          </a:solidFill>
                          <a:latin typeface="Calibri"/>
                        </a:defRPr>
                      </a:pPr>
                      <a:r>
                        <a:t>100.0%</a:t>
                      </a:r>
                    </a:p>
                  </a:txBody>
                  <a:tcPr marL="43200" marR="43200" marT="21600" marB="21600" anchor="ctr">
                    <a:solidFill>
                      <a:srgbClr val="F1F3F8"/>
                    </a:solidFill>
                  </a:tcPr>
                </a:tc>
                <a:tc>
                  <a:txBody>
                    <a:bodyPr/>
                    <a:lstStyle/>
                    <a:p>
                      <a:pPr>
                        <a:defRPr sz="900" b="0">
                          <a:solidFill>
                            <a:srgbClr val="0B0E26"/>
                          </a:solidFill>
                          <a:latin typeface="Calibri"/>
                        </a:defRPr>
                      </a:pPr>
                      <a:r>
                        <a:t>0</a:t>
                      </a:r>
                    </a:p>
                  </a:txBody>
                  <a:tcPr marL="43200" marR="43200" marT="21600" marB="21600" anchor="ctr">
                    <a:solidFill>
                      <a:srgbClr val="F1F3F8"/>
                    </a:solidFill>
                  </a:tcPr>
                </a:tc>
                <a:tc>
                  <a:txBody>
                    <a:bodyPr/>
                    <a:lstStyle/>
                    <a:p>
                      <a:pPr>
                        <a:defRPr sz="900" b="0">
                          <a:solidFill>
                            <a:srgbClr val="0B0E26"/>
                          </a:solidFill>
                          <a:latin typeface="Calibri"/>
                        </a:defRPr>
                      </a:pPr>
                      <a:r>
                        <a:t>0</a:t>
                      </a:r>
                    </a:p>
                  </a:txBody>
                  <a:tcPr marL="43200" marR="43200" marT="21600" marB="21600" anchor="ctr">
                    <a:solidFill>
                      <a:srgbClr val="F1F3F8"/>
                    </a:solidFill>
                  </a:tcPr>
                </a:tc>
              </a:tr>
              <a:tr h="32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60.0%</a:t>
                      </a:r>
                    </a:p>
                  </a:txBody>
                  <a:tcPr marL="43200" marR="43200" marT="21600" marB="21600" anchor="ctr">
                    <a:solidFill>
                      <a:srgbClr val="FFFFFF"/>
                    </a:solidFill>
                  </a:tcPr>
                </a:tc>
                <a:tc>
                  <a:txBody>
                    <a:bodyPr/>
                    <a:lstStyle/>
                    <a:p>
                      <a:pPr>
                        <a:defRPr sz="900" b="0">
                          <a:solidFill>
                            <a:srgbClr val="0B0E26"/>
                          </a:solidFill>
                          <a:latin typeface="Calibri"/>
                        </a:defRPr>
                      </a:pPr>
                      <a:r>
                        <a:t>4</a:t>
                      </a:r>
                    </a:p>
                  </a:txBody>
                  <a:tcPr marL="43200" marR="43200" marT="21600" marB="21600" anchor="ctr">
                    <a:solidFill>
                      <a:srgbClr val="FFFFFF"/>
                    </a:solidFill>
                  </a:tcPr>
                </a:tc>
                <a:tc>
                  <a:txBody>
                    <a:bodyPr/>
                    <a:lstStyle/>
                    <a:p>
                      <a:pPr>
                        <a:defRPr sz="900" b="0">
                          <a:solidFill>
                            <a:srgbClr val="0B0E26"/>
                          </a:solidFill>
                          <a:latin typeface="Calibri"/>
                        </a:defRPr>
                      </a:pPr>
                      <a:r>
                        <a:t>0</a:t>
                      </a:r>
                    </a:p>
                  </a:txBody>
                  <a:tcPr marL="43200" marR="43200" marT="21600" marB="21600" anchor="ctr">
                    <a:solidFill>
                      <a:srgbClr val="FFFFFF"/>
                    </a:solidFill>
                  </a:tcPr>
                </a:tc>
              </a:tr>
              <a:tr h="32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65.3%</a:t>
                      </a:r>
                    </a:p>
                  </a:txBody>
                  <a:tcPr marL="43200" marR="43200" marT="21600" marB="21600" anchor="ctr">
                    <a:solidFill>
                      <a:srgbClr val="F1F3F8"/>
                    </a:solidFill>
                  </a:tcPr>
                </a:tc>
                <a:tc>
                  <a:txBody>
                    <a:bodyPr/>
                    <a:lstStyle/>
                    <a:p>
                      <a:pPr>
                        <a:defRPr sz="900" b="0">
                          <a:solidFill>
                            <a:srgbClr val="0B0E26"/>
                          </a:solidFill>
                          <a:latin typeface="Calibri"/>
                        </a:defRPr>
                      </a:pPr>
                      <a:r>
                        <a:t>18</a:t>
                      </a:r>
                    </a:p>
                  </a:txBody>
                  <a:tcPr marL="43200" marR="43200" marT="21600" marB="21600" anchor="ctr">
                    <a:solidFill>
                      <a:srgbClr val="F1F3F8"/>
                    </a:solidFill>
                  </a:tcPr>
                </a:tc>
                <a:tc>
                  <a:txBody>
                    <a:bodyPr/>
                    <a:lstStyle/>
                    <a:p>
                      <a:pPr>
                        <a:defRPr sz="900" b="0">
                          <a:solidFill>
                            <a:srgbClr val="0B0E26"/>
                          </a:solidFill>
                          <a:latin typeface="Calibri"/>
                        </a:defRPr>
                      </a:pPr>
                      <a:r>
                        <a:t>7</a:t>
                      </a:r>
                    </a:p>
                  </a:txBody>
                  <a:tcPr marL="43200" marR="43200" marT="21600" marB="21600" anchor="ctr">
                    <a:solidFill>
                      <a:srgbClr val="F1F3F8"/>
                    </a:solidFill>
                  </a:tcPr>
                </a:tc>
              </a:tr>
              <a:tr h="32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75.5%</a:t>
                      </a:r>
                    </a:p>
                  </a:txBody>
                  <a:tcPr marL="43200" marR="43200" marT="21600" marB="21600" anchor="ctr">
                    <a:solidFill>
                      <a:srgbClr val="FFFFFF"/>
                    </a:solidFill>
                  </a:tcPr>
                </a:tc>
                <a:tc>
                  <a:txBody>
                    <a:bodyPr/>
                    <a:lstStyle/>
                    <a:p>
                      <a:pPr>
                        <a:defRPr sz="900" b="0">
                          <a:solidFill>
                            <a:srgbClr val="0B0E26"/>
                          </a:solidFill>
                          <a:latin typeface="Calibri"/>
                        </a:defRPr>
                      </a:pPr>
                      <a:r>
                        <a:t>11</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r>
            </a:tbl>
          </a:graphicData>
        </a:graphic>
      </p:graphicFrame>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7 of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Obligations of Data Fiduciary holds 8 of the 22 critical or high gaps</a:t>
            </a:r>
          </a:p>
        </p:txBody>
      </p:sp>
      <p:sp>
        <p:nvSpPr>
          <p:cNvPr id="5" name="Severity tile"/>
          <p:cNvSpPr/>
          <p:nvPr/>
        </p:nvSpPr>
        <p:spPr>
          <a:xfrm>
            <a:off x="504000" y="1440000"/>
            <a:ext cx="2664000" cy="864000"/>
          </a:xfrm>
          <a:prstGeom prst="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Critical</a:t>
            </a:r>
          </a:p>
          <a:p>
            <a:pPr algn="ctr">
              <a:defRPr sz="1300" b="1">
                <a:solidFill>
                  <a:srgbClr val="FFFFFF"/>
                </a:solidFill>
                <a:latin typeface="Calibri"/>
              </a:defRPr>
            </a:pPr>
            <a:r>
              <a:t>4 gaps</a:t>
            </a:r>
          </a:p>
        </p:txBody>
      </p:sp>
      <p:sp>
        <p:nvSpPr>
          <p:cNvPr id="7" name="Severity tile"/>
          <p:cNvSpPr/>
          <p:nvPr/>
        </p:nvSpPr>
        <p:spPr>
          <a:xfrm>
            <a:off x="3312000" y="1440000"/>
            <a:ext cx="2664000" cy="864000"/>
          </a:xfrm>
          <a:prstGeom prst="rect">
            <a:avLst/>
          </a:prstGeom>
          <a:solidFill>
            <a:srgbClr val="D94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4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High</a:t>
            </a:r>
          </a:p>
          <a:p>
            <a:pPr algn="ctr">
              <a:defRPr sz="1300" b="1">
                <a:solidFill>
                  <a:srgbClr val="FFFFFF"/>
                </a:solidFill>
                <a:latin typeface="Calibri"/>
              </a:defRPr>
            </a:pPr>
            <a:r>
              <a:t>18 gaps</a:t>
            </a:r>
          </a:p>
        </p:txBody>
      </p:sp>
      <p:sp>
        <p:nvSpPr>
          <p:cNvPr id="9" name="Severity tile"/>
          <p:cNvSpPr/>
          <p:nvPr/>
        </p:nvSpPr>
        <p:spPr>
          <a:xfrm>
            <a:off x="6120000" y="1440000"/>
            <a:ext cx="2664000" cy="864000"/>
          </a:xfrm>
          <a:prstGeom prst="rect">
            <a:avLst/>
          </a:prstGeom>
          <a:solidFill>
            <a:srgbClr val="F0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2000" y="1584000"/>
            <a:ext cx="2520000" cy="504000"/>
          </a:xfrm>
          <a:prstGeom prst="rect">
            <a:avLst/>
          </a:prstGeom>
          <a:noFill/>
          <a:ln>
            <a:noFill/>
          </a:ln>
        </p:spPr>
        <p:txBody>
          <a:bodyPr wrap="square" anchor="t" lIns="43200" rIns="43200" tIns="25200" bIns="25200">
            <a:spAutoFit/>
          </a:bodyPr>
          <a:lstStyle/>
          <a:p>
            <a:pPr algn="ctr">
              <a:defRPr sz="1300" b="1">
                <a:solidFill>
                  <a:srgbClr val="0B0E26"/>
                </a:solidFill>
                <a:latin typeface="Calibri"/>
              </a:defRPr>
            </a:pPr>
            <a:r>
              <a:t>Medium</a:t>
            </a:r>
          </a:p>
          <a:p>
            <a:pPr algn="ctr">
              <a:defRPr sz="1300" b="1">
                <a:solidFill>
                  <a:srgbClr val="0B0E26"/>
                </a:solidFill>
                <a:latin typeface="Calibri"/>
              </a:defRPr>
            </a:pPr>
            <a:r>
              <a:t>28 gaps</a:t>
            </a:r>
          </a:p>
        </p:txBody>
      </p:sp>
      <p:sp>
        <p:nvSpPr>
          <p:cNvPr id="11" name="Severity tile"/>
          <p:cNvSpPr/>
          <p:nvPr/>
        </p:nvSpPr>
        <p:spPr>
          <a:xfrm>
            <a:off x="8928000" y="1440000"/>
            <a:ext cx="2664000" cy="864000"/>
          </a:xfrm>
          <a:prstGeom prst="rect">
            <a:avLst/>
          </a:prstGeom>
          <a:solidFill>
            <a:srgbClr val="3C9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Low</a:t>
            </a:r>
          </a:p>
          <a:p>
            <a:pPr algn="ctr">
              <a:defRPr sz="1300" b="1">
                <a:solidFill>
                  <a:srgbClr val="FFFFFF"/>
                </a:solidFill>
                <a:latin typeface="Calibri"/>
              </a:defRPr>
            </a:pPr>
            <a:r>
              <a:t>9 gaps</a:t>
            </a:r>
          </a:p>
        </p:txBody>
      </p:sp>
      <p:graphicFrame>
        <p:nvGraphicFramePr>
          <p:cNvPr id="13" name="Native framework outcomes stacked bar"/>
          <p:cNvGraphicFramePr>
            <a:graphicFrameLocks noGrp="1"/>
          </p:cNvGraphicFramePr>
          <p:nvPr/>
        </p:nvGraphicFramePr>
        <p:xfrm>
          <a:off x="504000" y="3780000"/>
          <a:ext cx="11160000" cy="1872000"/>
        </p:xfrm>
        <a:graphic>
          <a:graphicData uri="http://schemas.openxmlformats.org/drawingml/2006/chart">
            <c:chart xmlns:c="http://schemas.openxmlformats.org/drawingml/2006/chart" r:id="rId2"/>
          </a:graphicData>
        </a:graphic>
      </p:graphicFrame>
      <p:sp>
        <p:nvSpPr>
          <p:cNvPr id="14" name="TextBox 13"/>
          <p:cNvSpPr txBox="1"/>
          <p:nvPr/>
        </p:nvSpPr>
        <p:spPr>
          <a:xfrm>
            <a:off x="504000" y="3492000"/>
            <a:ext cx="11160000" cy="288000"/>
          </a:xfrm>
          <a:prstGeom prst="rect">
            <a:avLst/>
          </a:prstGeom>
          <a:noFill/>
          <a:ln>
            <a:noFill/>
          </a:ln>
        </p:spPr>
        <p:txBody>
          <a:bodyPr wrap="square" anchor="t" lIns="43200" rIns="43200" tIns="25200" bIns="25200">
            <a:spAutoFit/>
          </a:bodyPr>
          <a:lstStyle/>
          <a:p>
            <a:pPr>
              <a:defRPr sz="1200" b="1">
                <a:solidFill>
                  <a:srgbClr val="3A4060"/>
                </a:solidFill>
                <a:latin typeface="Calibri"/>
              </a:defRPr>
            </a:pPr>
            <a:r>
              <a:t>Approved requirement outcomes by framework</a:t>
            </a:r>
          </a:p>
        </p:txBody>
      </p:sp>
      <p:graphicFrame>
        <p:nvGraphicFramePr>
          <p:cNvPr id="15" name="Native evidence table"/>
          <p:cNvGraphicFramePr>
            <a:graphicFrameLocks noGrp="1"/>
          </p:cNvGraphicFramePr>
          <p:nvPr/>
        </p:nvGraphicFramePr>
        <p:xfrm>
          <a:off x="504000" y="1728000"/>
          <a:ext cx="5220000" cy="1584000"/>
        </p:xfrm>
        <a:graphic>
          <a:graphicData uri="http://schemas.openxmlformats.org/drawingml/2006/table">
            <a:tbl>
              <a:tblPr firstRow="1" bandRow="1">
                <a:tableStyleId>{5C22544A-7EE6-4342-B048-85BDC9FD1C3A}</a:tableStyleId>
              </a:tblPr>
              <a:tblGrid>
                <a:gridCol w="2340000"/>
                <a:gridCol w="720000"/>
                <a:gridCol w="720000"/>
                <a:gridCol w="720000"/>
                <a:gridCol w="720000"/>
              </a:tblGrid>
              <a:tr h="528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Critical</a:t>
                      </a:r>
                    </a:p>
                  </a:txBody>
                  <a:tcPr marL="43200" marR="43200" marT="21600" marB="21600" anchor="ctr">
                    <a:solidFill>
                      <a:srgbClr val="161A5C"/>
                    </a:solidFill>
                  </a:tcPr>
                </a:tc>
                <a:tc>
                  <a:txBody>
                    <a:bodyPr/>
                    <a:lstStyle/>
                    <a:p>
                      <a:pPr>
                        <a:defRPr sz="900" b="1">
                          <a:solidFill>
                            <a:srgbClr val="FFFFFF"/>
                          </a:solidFill>
                          <a:latin typeface="Calibri"/>
                        </a:defRPr>
                      </a:pPr>
                      <a:r>
                        <a:t>High</a:t>
                      </a:r>
                    </a:p>
                  </a:txBody>
                  <a:tcPr marL="43200" marR="43200" marT="21600" marB="21600" anchor="ctr">
                    <a:solidFill>
                      <a:srgbClr val="161A5C"/>
                    </a:solidFill>
                  </a:tcPr>
                </a:tc>
                <a:tc>
                  <a:txBody>
                    <a:bodyPr/>
                    <a:lstStyle/>
                    <a:p>
                      <a:pPr>
                        <a:defRPr sz="900" b="1">
                          <a:solidFill>
                            <a:srgbClr val="FFFFFF"/>
                          </a:solidFill>
                          <a:latin typeface="Calibri"/>
                        </a:defRPr>
                      </a:pPr>
                      <a:r>
                        <a:t>Medium</a:t>
                      </a:r>
                    </a:p>
                  </a:txBody>
                  <a:tcPr marL="43200" marR="43200" marT="21600" marB="21600" anchor="ctr">
                    <a:solidFill>
                      <a:srgbClr val="161A5C"/>
                    </a:solidFill>
                  </a:tcPr>
                </a:tc>
                <a:tc>
                  <a:txBody>
                    <a:bodyPr/>
                    <a:lstStyle/>
                    <a:p>
                      <a:pPr>
                        <a:defRPr sz="900" b="1">
                          <a:solidFill>
                            <a:srgbClr val="FFFFFF"/>
                          </a:solidFill>
                          <a:latin typeface="Calibri"/>
                        </a:defRPr>
                      </a:pPr>
                      <a:r>
                        <a:t>Low</a:t>
                      </a:r>
                    </a:p>
                  </a:txBody>
                  <a:tcPr marL="43200" marR="43200" marT="21600" marB="21600" anchor="ctr">
                    <a:solidFill>
                      <a:srgbClr val="161A5C"/>
                    </a:solidFill>
                  </a:tcPr>
                </a:tc>
              </a:tr>
              <a:tr h="528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c>
                  <a:txBody>
                    <a:bodyPr/>
                    <a:lstStyle/>
                    <a:p>
                      <a:pPr>
                        <a:defRPr sz="900" b="0">
                          <a:solidFill>
                            <a:srgbClr val="0B0E26"/>
                          </a:solidFill>
                          <a:latin typeface="Calibri"/>
                        </a:defRPr>
                      </a:pPr>
                      <a:r>
                        <a:t>11</a:t>
                      </a:r>
                    </a:p>
                  </a:txBody>
                  <a:tcPr marL="43200" marR="43200" marT="21600" marB="21600" anchor="ctr">
                    <a:solidFill>
                      <a:srgbClr val="FFFFFF"/>
                    </a:solidFill>
                  </a:tcPr>
                </a:tc>
                <a:tc>
                  <a:txBody>
                    <a:bodyPr/>
                    <a:lstStyle/>
                    <a:p>
                      <a:pPr>
                        <a:defRPr sz="900" b="0">
                          <a:solidFill>
                            <a:srgbClr val="0B0E26"/>
                          </a:solidFill>
                          <a:latin typeface="Calibri"/>
                        </a:defRPr>
                      </a:pPr>
                      <a:r>
                        <a:t>11</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r>
              <a:tr h="528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2</a:t>
                      </a:r>
                    </a:p>
                  </a:txBody>
                  <a:tcPr marL="43200" marR="43200" marT="21600" marB="21600" anchor="ctr">
                    <a:solidFill>
                      <a:srgbClr val="F1F3F8"/>
                    </a:solidFill>
                  </a:tcPr>
                </a:tc>
                <a:tc>
                  <a:txBody>
                    <a:bodyPr/>
                    <a:lstStyle/>
                    <a:p>
                      <a:pPr>
                        <a:defRPr sz="900" b="0">
                          <a:solidFill>
                            <a:srgbClr val="0B0E26"/>
                          </a:solidFill>
                          <a:latin typeface="Calibri"/>
                        </a:defRPr>
                      </a:pPr>
                      <a:r>
                        <a:t>7</a:t>
                      </a:r>
                    </a:p>
                  </a:txBody>
                  <a:tcPr marL="43200" marR="43200" marT="21600" marB="21600" anchor="ctr">
                    <a:solidFill>
                      <a:srgbClr val="F1F3F8"/>
                    </a:solidFill>
                  </a:tcPr>
                </a:tc>
                <a:tc>
                  <a:txBody>
                    <a:bodyPr/>
                    <a:lstStyle/>
                    <a:p>
                      <a:pPr>
                        <a:defRPr sz="900" b="0">
                          <a:solidFill>
                            <a:srgbClr val="0B0E26"/>
                          </a:solidFill>
                          <a:latin typeface="Calibri"/>
                        </a:defRPr>
                      </a:pPr>
                      <a:r>
                        <a:t>17</a:t>
                      </a:r>
                    </a:p>
                  </a:txBody>
                  <a:tcPr marL="43200" marR="43200" marT="21600" marB="21600" anchor="ctr">
                    <a:solidFill>
                      <a:srgbClr val="F1F3F8"/>
                    </a:solidFill>
                  </a:tcPr>
                </a:tc>
                <a:tc>
                  <a:txBody>
                    <a:bodyPr/>
                    <a:lstStyle/>
                    <a:p>
                      <a:pPr>
                        <a:defRPr sz="900" b="0">
                          <a:solidFill>
                            <a:srgbClr val="0B0E26"/>
                          </a:solidFill>
                          <a:latin typeface="Calibri"/>
                        </a:defRPr>
                      </a:pPr>
                      <a:r>
                        <a:t>7</a:t>
                      </a:r>
                    </a:p>
                  </a:txBody>
                  <a:tcPr marL="43200" marR="43200" marT="21600" marB="21600" anchor="ctr">
                    <a:solidFill>
                      <a:srgbClr val="F1F3F8"/>
                    </a:solidFill>
                  </a:tcPr>
                </a:tc>
              </a:tr>
            </a:tbl>
          </a:graphicData>
        </a:graphic>
      </p:graphicFrame>
      <p:graphicFrame>
        <p:nvGraphicFramePr>
          <p:cNvPr id="16" name="Native evidence table"/>
          <p:cNvGraphicFramePr>
            <a:graphicFrameLocks noGrp="1"/>
          </p:cNvGraphicFramePr>
          <p:nvPr/>
        </p:nvGraphicFramePr>
        <p:xfrm>
          <a:off x="504000" y="5688000"/>
          <a:ext cx="11160000" cy="720000"/>
        </p:xfrm>
        <a:graphic>
          <a:graphicData uri="http://schemas.openxmlformats.org/drawingml/2006/table">
            <a:tbl>
              <a:tblPr firstRow="1" bandRow="1">
                <a:tableStyleId>{5C22544A-7EE6-4342-B048-85BDC9FD1C3A}</a:tableStyleId>
              </a:tblPr>
              <a:tblGrid>
                <a:gridCol w="2160000"/>
                <a:gridCol w="6840000"/>
                <a:gridCol w="2160000"/>
              </a:tblGrid>
              <a:tr h="102857">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Critical/high</a:t>
                      </a:r>
                    </a:p>
                  </a:txBody>
                  <a:tcPr marL="43200" marR="43200" marT="21600" marB="21600" anchor="ctr">
                    <a:solidFill>
                      <a:srgbClr val="161A5C"/>
                    </a:solidFill>
                  </a:tcPr>
                </a:tc>
              </a:tr>
              <a:tr h="102857">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8</a:t>
                      </a:r>
                    </a:p>
                  </a:txBody>
                  <a:tcPr marL="43200" marR="43200" marT="21600" marB="21600" anchor="ctr">
                    <a:solidFill>
                      <a:srgbClr val="FFFFFF"/>
                    </a:solidFill>
                  </a:tcPr>
                </a:tc>
              </a:tr>
              <a:tr h="102857">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7</a:t>
                      </a:r>
                    </a:p>
                  </a:txBody>
                  <a:tcPr marL="43200" marR="43200" marT="21600" marB="21600" anchor="ctr">
                    <a:solidFill>
                      <a:srgbClr val="F1F3F8"/>
                    </a:solidFill>
                  </a:tcPr>
                </a:tc>
              </a:tr>
              <a:tr h="102857">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Special Provisions</a:t>
                      </a:r>
                    </a:p>
                  </a:txBody>
                  <a:tcPr marL="43200" marR="43200" marT="21600" marB="21600" anchor="ctr">
                    <a:solidFill>
                      <a:srgbClr val="FFFFFF"/>
                    </a:solidFill>
                  </a:tcPr>
                </a:tc>
                <a:tc>
                  <a:txBody>
                    <a:bodyPr/>
                    <a:lstStyle/>
                    <a:p>
                      <a:pPr>
                        <a:defRPr sz="900" b="0">
                          <a:solidFill>
                            <a:srgbClr val="0B0E26"/>
                          </a:solidFill>
                          <a:latin typeface="Calibri"/>
                        </a:defRPr>
                      </a:pPr>
                      <a:r>
                        <a:t>3</a:t>
                      </a:r>
                    </a:p>
                  </a:txBody>
                  <a:tcPr marL="43200" marR="43200" marT="21600" marB="21600" anchor="ctr">
                    <a:solidFill>
                      <a:srgbClr val="FFFFFF"/>
                    </a:solidFill>
                  </a:tcPr>
                </a:tc>
              </a:tr>
              <a:tr h="102857">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2</a:t>
                      </a:r>
                    </a:p>
                  </a:txBody>
                  <a:tcPr marL="43200" marR="43200" marT="21600" marB="21600" anchor="ctr">
                    <a:solidFill>
                      <a:srgbClr val="F1F3F8"/>
                    </a:solidFill>
                  </a:tcPr>
                </a:tc>
              </a:tr>
              <a:tr h="102857">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Breach Notification</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r>
              <a:tr h="10285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1F3F8"/>
                    </a:solidFill>
                  </a:tcPr>
                </a:tc>
                <a:tc>
                  <a:txBody>
                    <a:bodyPr/>
                    <a:lstStyle/>
                    <a:p>
                      <a:pPr>
                        <a:defRPr sz="900" b="0">
                          <a:solidFill>
                            <a:srgbClr val="0B0E26"/>
                          </a:solidFill>
                          <a:latin typeface="Calibri"/>
                        </a:defRPr>
                      </a:pPr>
                      <a:r>
                        <a:t>1</a:t>
                      </a:r>
                    </a:p>
                  </a:txBody>
                  <a:tcPr marL="43200" marR="43200" marT="21600" marB="21600" anchor="ctr">
                    <a:solidFill>
                      <a:srgbClr val="F1F3F8"/>
                    </a:solidFill>
                  </a:tcPr>
                </a:tc>
              </a:tr>
            </a:tbl>
          </a:graphicData>
        </a:graphic>
      </p:graphicFrame>
      <p:sp>
        <p:nvSpPr>
          <p:cNvPr id="1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8 of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The board is asked to make 2 decisions; 4 items need management attention</a:t>
            </a:r>
          </a:p>
        </p:txBody>
      </p:sp>
      <p:sp>
        <p:nvSpPr>
          <p:cNvPr id="5" name="TextBox 4"/>
          <p:cNvSpPr txBox="1"/>
          <p:nvPr/>
        </p:nvSpPr>
        <p:spPr>
          <a:xfrm>
            <a:off x="648000" y="1620000"/>
            <a:ext cx="6120000" cy="3420000"/>
          </a:xfrm>
          <a:prstGeom prst="rect">
            <a:avLst/>
          </a:prstGeom>
          <a:solidFill>
            <a:srgbClr val="161A5C"/>
          </a:solidFill>
          <a:ln>
            <a:noFill/>
          </a:ln>
        </p:spPr>
        <p:txBody>
          <a:bodyPr wrap="square" anchor="t" lIns="43200" rIns="43200" tIns="25200" bIns="25200">
            <a:spAutoFit/>
          </a:bodyPr>
          <a:lstStyle/>
          <a:p>
            <a:pPr>
              <a:defRPr sz="1400" b="0">
                <a:solidFill>
                  <a:srgbClr val="FFFFFF"/>
                </a:solidFill>
                <a:latin typeface="Calibri"/>
              </a:defRPr>
            </a:pPr>
            <a:r>
              <a:t>Board decisions</a:t>
            </a:r>
          </a:p>
          <a:p>
            <a:pPr>
              <a:defRPr sz="1400" b="0">
                <a:solidFill>
                  <a:srgbClr val="FFFFFF"/>
                </a:solidFill>
                <a:latin typeface="Calibri"/>
              </a:defRPr>
            </a:pPr>
            <a:r>
              <a:t>1. Approve funding for a consent-management platform before the May 2027 DPDPA commencement.</a:t>
            </a:r>
          </a:p>
          <a:p>
            <a:pPr>
              <a:defRPr sz="1400" b="0">
                <a:solidFill>
                  <a:srgbClr val="FFFFFF"/>
                </a:solidFill>
                <a:latin typeface="Calibri"/>
              </a:defRPr>
            </a:pPr>
            <a:r>
              <a:t>2. Confirm the CISO as accountable owner for vulnerability management and set the patch SLA as a board-tracked KPI.</a:t>
            </a:r>
          </a:p>
        </p:txBody>
      </p:sp>
      <p:graphicFrame>
        <p:nvGraphicFramePr>
          <p:cNvPr id="6" name="Native evidence table"/>
          <p:cNvGraphicFramePr>
            <a:graphicFrameLocks noGrp="1"/>
          </p:cNvGraphicFramePr>
          <p:nvPr/>
        </p:nvGraphicFramePr>
        <p:xfrm>
          <a:off x="7128000" y="1620000"/>
          <a:ext cx="4536000" cy="3420000"/>
        </p:xfrm>
        <a:graphic>
          <a:graphicData uri="http://schemas.openxmlformats.org/drawingml/2006/table">
            <a:tbl>
              <a:tblPr firstRow="1" bandRow="1">
                <a:tableStyleId>{5C22544A-7EE6-4342-B048-85BDC9FD1C3A}</a:tableStyleId>
              </a:tblPr>
              <a:tblGrid>
                <a:gridCol w="2808000"/>
                <a:gridCol w="1728000"/>
              </a:tblGrid>
              <a:tr h="488571">
                <a:tc>
                  <a:txBody>
                    <a:bodyPr/>
                    <a:lstStyle/>
                    <a:p>
                      <a:pPr>
                        <a:defRPr sz="900" b="1">
                          <a:solidFill>
                            <a:srgbClr val="FFFFFF"/>
                          </a:solidFill>
                          <a:latin typeface="Calibri"/>
                        </a:defRPr>
                      </a:pPr>
                      <a:r>
                        <a:t>Management attention</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r>
              <a:tr h="488571">
                <a:tc>
                  <a:txBody>
                    <a:bodyPr/>
                    <a:lstStyle/>
                    <a:p>
                      <a:pPr>
                        <a:defRPr sz="900" b="0">
                          <a:solidFill>
                            <a:srgbClr val="0B0E26"/>
                          </a:solidFill>
                          <a:latin typeface="Calibri"/>
                        </a:defRPr>
                      </a:pPr>
                      <a:r>
                        <a:t>Overdue actions</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r>
              <a:tr h="488571">
                <a:tc>
                  <a:txBody>
                    <a:bodyPr/>
                    <a:lstStyle/>
                    <a:p>
                      <a:pPr>
                        <a:defRPr sz="900" b="0">
                          <a:solidFill>
                            <a:srgbClr val="0B0E26"/>
                          </a:solidFill>
                          <a:latin typeface="Calibri"/>
                        </a:defRPr>
                      </a:pPr>
                      <a:r>
                        <a:t>Actions without owner</a:t>
                      </a:r>
                    </a:p>
                  </a:txBody>
                  <a:tcPr marL="43200" marR="43200" marT="21600" marB="21600" anchor="ctr">
                    <a:solidFill>
                      <a:srgbClr val="F1F3F8"/>
                    </a:solidFill>
                  </a:tcPr>
                </a:tc>
                <a:tc>
                  <a:txBody>
                    <a:bodyPr/>
                    <a:lstStyle/>
                    <a:p>
                      <a:pPr>
                        <a:defRPr sz="900" b="0">
                          <a:solidFill>
                            <a:srgbClr val="0B0E26"/>
                          </a:solidFill>
                          <a:latin typeface="Calibri"/>
                        </a:defRPr>
                      </a:pPr>
                      <a:r>
                        <a:t>2</a:t>
                      </a:r>
                    </a:p>
                  </a:txBody>
                  <a:tcPr marL="43200" marR="43200" marT="21600" marB="21600" anchor="ctr">
                    <a:solidFill>
                      <a:srgbClr val="F1F3F8"/>
                    </a:solidFill>
                  </a:tcPr>
                </a:tc>
              </a:tr>
              <a:tr h="488571">
                <a:tc>
                  <a:txBody>
                    <a:bodyPr/>
                    <a:lstStyle/>
                    <a:p>
                      <a:pPr>
                        <a:defRPr sz="900" b="0">
                          <a:solidFill>
                            <a:srgbClr val="0B0E26"/>
                          </a:solidFill>
                          <a:latin typeface="Calibri"/>
                        </a:defRPr>
                      </a:pPr>
                      <a:r>
                        <a:t>Requirements not concluded</a:t>
                      </a:r>
                    </a:p>
                  </a:txBody>
                  <a:tcPr marL="43200" marR="43200" marT="21600" marB="21600" anchor="ctr">
                    <a:solidFill>
                      <a:srgbClr val="FFFFFF"/>
                    </a:solidFill>
                  </a:tcPr>
                </a:tc>
                <a:tc>
                  <a:txBody>
                    <a:bodyPr/>
                    <a:lstStyle/>
                    <a:p>
                      <a:pPr>
                        <a:defRPr sz="900" b="0">
                          <a:solidFill>
                            <a:srgbClr val="0B0E26"/>
                          </a:solidFill>
                          <a:latin typeface="Calibri"/>
                        </a:defRPr>
                      </a:pPr>
                      <a:r>
                        <a:t>15</a:t>
                      </a:r>
                    </a:p>
                  </a:txBody>
                  <a:tcPr marL="43200" marR="43200" marT="21600" marB="21600" anchor="ctr">
                    <a:solidFill>
                      <a:srgbClr val="FFFFFF"/>
                    </a:solidFill>
                  </a:tcPr>
                </a:tc>
              </a:tr>
              <a:tr h="488571">
                <a:tc>
                  <a:txBody>
                    <a:bodyPr/>
                    <a:lstStyle/>
                    <a:p>
                      <a:pPr>
                        <a:defRPr sz="900" b="0">
                          <a:solidFill>
                            <a:srgbClr val="0B0E26"/>
                          </a:solidFill>
                          <a:latin typeface="Calibri"/>
                        </a:defRPr>
                      </a:pPr>
                      <a:r>
                        <a:t>Derived ask</a:t>
                      </a:r>
                    </a:p>
                  </a:txBody>
                  <a:tcPr marL="43200" marR="43200" marT="21600" marB="21600" anchor="ctr">
                    <a:solidFill>
                      <a:srgbClr val="F1F3F8"/>
                    </a:solidFill>
                  </a:tcPr>
                </a:tc>
                <a:tc>
                  <a:txBody>
                    <a:bodyPr/>
                    <a:lstStyle/>
                    <a:p>
                      <a:pPr>
                        <a:defRPr sz="900" b="0">
                          <a:solidFill>
                            <a:srgbClr val="0B0E26"/>
                          </a:solidFill>
                          <a:latin typeface="Calibri"/>
                        </a:defRPr>
                      </a:pPr>
                      <a:r>
                        <a:t>1 remediation action(s) past their target date.</a:t>
                      </a:r>
                    </a:p>
                  </a:txBody>
                  <a:tcPr marL="43200" marR="43200" marT="21600" marB="21600" anchor="ctr">
                    <a:solidFill>
                      <a:srgbClr val="F1F3F8"/>
                    </a:solidFill>
                  </a:tcPr>
                </a:tc>
              </a:tr>
              <a:tr h="488571">
                <a:tc>
                  <a:txBody>
                    <a:bodyPr/>
                    <a:lstStyle/>
                    <a:p>
                      <a:pPr>
                        <a:defRPr sz="900" b="0">
                          <a:solidFill>
                            <a:srgbClr val="0B0E26"/>
                          </a:solidFill>
                          <a:latin typeface="Calibri"/>
                        </a:defRPr>
                      </a:pPr>
                      <a:r>
                        <a:t>Derived ask</a:t>
                      </a:r>
                    </a:p>
                  </a:txBody>
                  <a:tcPr marL="43200" marR="43200" marT="21600" marB="21600" anchor="ctr">
                    <a:solidFill>
                      <a:srgbClr val="FFFFFF"/>
                    </a:solidFill>
                  </a:tcPr>
                </a:tc>
                <a:tc>
                  <a:txBody>
                    <a:bodyPr/>
                    <a:lstStyle/>
                    <a:p>
                      <a:pPr>
                        <a:defRPr sz="900" b="0">
                          <a:solidFill>
                            <a:srgbClr val="0B0E26"/>
                          </a:solidFill>
                          <a:latin typeface="Calibri"/>
                        </a:defRPr>
                      </a:pPr>
                      <a:r>
                        <a:t>1 action(s) on critical or high findings have no owner.</a:t>
                      </a:r>
                    </a:p>
                  </a:txBody>
                  <a:tcPr marL="43200" marR="43200" marT="21600" marB="21600" anchor="ctr">
                    <a:solidFill>
                      <a:srgbClr val="FFFFFF"/>
                    </a:solidFill>
                  </a:tcPr>
                </a:tc>
              </a:tr>
              <a:tr h="488574">
                <a:tc>
                  <a:txBody>
                    <a:bodyPr/>
                    <a:lstStyle/>
                    <a:p>
                      <a:pPr>
                        <a:defRPr sz="900" b="0">
                          <a:solidFill>
                            <a:srgbClr val="0B0E26"/>
                          </a:solidFill>
                          <a:latin typeface="Calibri"/>
                        </a:defRPr>
                      </a:pPr>
                      <a:r>
                        <a:t>Derived ask</a:t>
                      </a:r>
                    </a:p>
                  </a:txBody>
                  <a:tcPr marL="43200" marR="43200" marT="21600" marB="21600" anchor="ctr">
                    <a:solidFill>
                      <a:srgbClr val="F1F3F8"/>
                    </a:solidFill>
                  </a:tcPr>
                </a:tc>
                <a:tc>
                  <a:txBody>
                    <a:bodyPr/>
                    <a:lstStyle/>
                    <a:p>
                      <a:pPr>
                        <a:defRPr sz="900" b="0">
                          <a:solidFill>
                            <a:srgbClr val="0B0E26"/>
                          </a:solidFill>
                          <a:latin typeface="Calibri"/>
                        </a:defRPr>
                      </a:pPr>
                      <a:r>
                        <a:t>1 action(s) have no target date.</a:t>
                      </a:r>
                    </a:p>
                  </a:txBody>
                  <a:tcPr marL="43200" marR="43200" marT="21600" marB="21600" anchor="ctr">
                    <a:solidFill>
                      <a:srgbClr val="F1F3F8"/>
                    </a:solidFill>
                  </a:tcPr>
                </a:tc>
              </a:tr>
            </a:tbl>
          </a:graphicData>
        </a:graphic>
      </p:graphicFrame>
      <p:sp>
        <p:nvSpPr>
          <p:cNvPr id="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9 of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Key observations (1 of 4)</a:t>
            </a:r>
          </a:p>
        </p:txBody>
      </p:sp>
      <p:graphicFrame>
        <p:nvGraphicFramePr>
          <p:cNvPr id="5" name="Native evidence table"/>
          <p:cNvGraphicFramePr>
            <a:graphicFrameLocks noGrp="1"/>
          </p:cNvGraphicFramePr>
          <p:nvPr/>
        </p:nvGraphicFramePr>
        <p:xfrm>
          <a:off x="504000" y="1728000"/>
          <a:ext cx="11160000" cy="4392000"/>
        </p:xfrm>
        <a:graphic>
          <a:graphicData uri="http://schemas.openxmlformats.org/drawingml/2006/table">
            <a:tbl>
              <a:tblPr firstRow="1" bandRow="1">
                <a:tableStyleId>{5C22544A-7EE6-4342-B048-85BDC9FD1C3A}</a:tableStyleId>
              </a:tblPr>
              <a:tblGrid>
                <a:gridCol w="648000"/>
                <a:gridCol w="1728000"/>
                <a:gridCol w="2340000"/>
                <a:gridCol w="1980000"/>
                <a:gridCol w="864000"/>
                <a:gridCol w="3600000"/>
              </a:tblGrid>
              <a:tr h="1098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Domain / framework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Recommendation</a:t>
                      </a:r>
                    </a:p>
                  </a:txBody>
                  <a:tcPr marL="43200" marR="43200" marT="21600" marB="21600" anchor="ctr">
                    <a:solidFill>
                      <a:srgbClr val="161A5C"/>
                    </a:solidFill>
                  </a:tcPr>
                </a:tc>
              </a:tr>
              <a:tr h="1098000">
                <a:tc>
                  <a:txBody>
                    <a:bodyPr/>
                    <a:lstStyle/>
                    <a:p>
                      <a:pPr>
                        <a:defRPr sz="900" b="0">
                          <a:solidFill>
                            <a:srgbClr val="0B0E26"/>
                          </a:solidFill>
                          <a:latin typeface="Calibri"/>
                        </a:defRPr>
                      </a:pPr>
                      <a:r>
                        <a:t>R-01</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Consent is collected through pre-ticked boxes</a:t>
                      </a:r>
                    </a:p>
                  </a:txBody>
                  <a:tcPr marL="43200" marR="43200" marT="21600" marB="21600" anchor="ctr">
                    <a:solidFill>
                      <a:srgbClr val="FFFFFF"/>
                    </a:solidFill>
                  </a:tcPr>
                </a:tc>
                <a:tc>
                  <a:txBody>
                    <a:bodyPr/>
                    <a:lstStyle/>
                    <a:p>
                      <a:pPr>
                        <a:defRPr sz="900" b="0">
                          <a:solidFill>
                            <a:srgbClr val="0B0E26"/>
                          </a:solidFill>
                          <a:latin typeface="Calibri"/>
                        </a:defRPr>
                      </a:pPr>
                      <a:r>
                        <a:t>Consent obtained this way is unlikely to be valid, so processing that depends on it would lack a lawful basis once DPDPA obligations commence; this affects the full 2.1 million-customer marketing base.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Replace pre-selected consent with an unticked, purpose-specific opt-in on every channel. Log each consent with the notice version shown, timestamp and channel, and re-collect consent for the existing marketing base before relying on it.</a:t>
                      </a:r>
                    </a:p>
                  </a:txBody>
                  <a:tcPr marL="43200" marR="43200" marT="21600" marB="21600" anchor="ctr">
                    <a:solidFill>
                      <a:srgbClr val="FFFFFF"/>
                    </a:solidFill>
                  </a:tcPr>
                </a:tc>
              </a:tr>
              <a:tr h="1098000">
                <a:tc>
                  <a:txBody>
                    <a:bodyPr/>
                    <a:lstStyle/>
                    <a:p>
                      <a:pPr>
                        <a:defRPr sz="900" b="0">
                          <a:solidFill>
                            <a:srgbClr val="0B0E26"/>
                          </a:solidFill>
                          <a:latin typeface="Calibri"/>
                        </a:defRPr>
                      </a:pPr>
                      <a:r>
                        <a:t>R-02</a:t>
                      </a:r>
                    </a:p>
                  </a:txBody>
                  <a:tcPr marL="43200" marR="43200" marT="21600" marB="21600" anchor="ctr">
                    <a:solidFill>
                      <a:srgbClr val="F1F3F8"/>
                    </a:solidFill>
                  </a:tcPr>
                </a:tc>
                <a:tc>
                  <a:txBody>
                    <a:bodyPr/>
                    <a:lstStyle/>
                    <a:p>
                      <a:pPr>
                        <a:defRPr sz="900" b="0">
                          <a:solidFill>
                            <a:srgbClr val="0B0E26"/>
                          </a:solidFill>
                          <a:latin typeface="Calibri"/>
                        </a:defRPr>
                      </a:pPr>
                      <a:r>
                        <a:t>Breach Notification</a:t>
                      </a:r>
                    </a:p>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No procedure to notify the Data Protection Board of a breach</a:t>
                      </a:r>
                    </a:p>
                  </a:txBody>
                  <a:tcPr marL="43200" marR="43200" marT="21600" marB="21600" anchor="ctr">
                    <a:solidFill>
                      <a:srgbClr val="F1F3F8"/>
                    </a:solidFill>
                  </a:tcPr>
                </a:tc>
                <a:tc>
                  <a:txBody>
                    <a:bodyPr/>
                    <a:lstStyle/>
                    <a:p>
                      <a:pPr>
                        <a:defRPr sz="900" b="0">
                          <a:solidFill>
                            <a:srgbClr val="0B0E26"/>
                          </a:solidFill>
                          <a:latin typeface="Calibri"/>
                        </a:defRPr>
                      </a:pPr>
                      <a:r>
                        <a:t>A breach handled under the current plan would miss the statutory notification, which carries the highest penalty tier under the Act.</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Extend the incident response plan with a notification runbook: named decision owner, 72-hour clock, Board and data-principal templates, and an evidence log. Test it in a tabletop exercise each year.</a:t>
                      </a:r>
                    </a:p>
                  </a:txBody>
                  <a:tcPr marL="43200" marR="43200" marT="21600" marB="21600" anchor="ctr">
                    <a:solidFill>
                      <a:srgbClr val="F1F3F8"/>
                    </a:solidFill>
                  </a:tcPr>
                </a:tc>
              </a:tr>
              <a:tr h="1098000">
                <a:tc>
                  <a:txBody>
                    <a:bodyPr/>
                    <a:lstStyle/>
                    <a:p>
                      <a:pPr>
                        <a:defRPr sz="900" b="0">
                          <a:solidFill>
                            <a:srgbClr val="0B0E26"/>
                          </a:solidFill>
                          <a:latin typeface="Calibri"/>
                        </a:defRPr>
                      </a:pPr>
                      <a:r>
                        <a:t>R-03</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Access rights are never reviewed</a:t>
                      </a:r>
                    </a:p>
                  </a:txBody>
                  <a:tcPr marL="43200" marR="43200" marT="21600" marB="21600" anchor="ctr">
                    <a:solidFill>
                      <a:srgbClr val="FFFFFF"/>
                    </a:solidFill>
                  </a:tcPr>
                </a:tc>
                <a:tc>
                  <a:txBody>
                    <a:bodyPr/>
                    <a:lstStyle/>
                    <a:p>
                      <a:pPr>
                        <a:defRPr sz="900" b="0">
                          <a:solidFill>
                            <a:srgbClr val="0B0E26"/>
                          </a:solidFill>
                          <a:latin typeface="Calibri"/>
                        </a:defRPr>
                      </a:pPr>
                      <a:r>
                        <a:t>Former staff and over-privileged users can reach customer data, the most common root cause of insider and credential-based breaches.</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Run quarterly access recertification for production and customer-data systems with manager sign-off. Disable leaver accounts within 24 hours through an HR-triggered workflow and keep review evidence.</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10 of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Key observations (2 of 4)</a:t>
            </a:r>
          </a:p>
        </p:txBody>
      </p:sp>
      <p:graphicFrame>
        <p:nvGraphicFramePr>
          <p:cNvPr id="5" name="Native evidence table"/>
          <p:cNvGraphicFramePr>
            <a:graphicFrameLocks noGrp="1"/>
          </p:cNvGraphicFramePr>
          <p:nvPr/>
        </p:nvGraphicFramePr>
        <p:xfrm>
          <a:off x="504000" y="1728000"/>
          <a:ext cx="11160000" cy="4392000"/>
        </p:xfrm>
        <a:graphic>
          <a:graphicData uri="http://schemas.openxmlformats.org/drawingml/2006/table">
            <a:tbl>
              <a:tblPr firstRow="1" bandRow="1">
                <a:tableStyleId>{5C22544A-7EE6-4342-B048-85BDC9FD1C3A}</a:tableStyleId>
              </a:tblPr>
              <a:tblGrid>
                <a:gridCol w="648000"/>
                <a:gridCol w="1728000"/>
                <a:gridCol w="2340000"/>
                <a:gridCol w="1980000"/>
                <a:gridCol w="864000"/>
                <a:gridCol w="3600000"/>
              </a:tblGrid>
              <a:tr h="1098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Domain / framework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Recommendation</a:t>
                      </a:r>
                    </a:p>
                  </a:txBody>
                  <a:tcPr marL="43200" marR="43200" marT="21600" marB="21600" anchor="ctr">
                    <a:solidFill>
                      <a:srgbClr val="161A5C"/>
                    </a:solidFill>
                  </a:tcPr>
                </a:tc>
              </a:tr>
              <a:tr h="1098000">
                <a:tc>
                  <a:txBody>
                    <a:bodyPr/>
                    <a:lstStyle/>
                    <a:p>
                      <a:pPr>
                        <a:defRPr sz="900" b="0">
                          <a:solidFill>
                            <a:srgbClr val="0B0E26"/>
                          </a:solidFill>
                          <a:latin typeface="Calibri"/>
                        </a:defRPr>
                      </a:pPr>
                      <a:r>
                        <a:t>R-04</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No defined cadence for patching technical vulnerabilities</a:t>
                      </a:r>
                    </a:p>
                  </a:txBody>
                  <a:tcPr marL="43200" marR="43200" marT="21600" marB="21600" anchor="ctr">
                    <a:solidFill>
                      <a:srgbClr val="FFFFFF"/>
                    </a:solidFill>
                  </a:tcPr>
                </a:tc>
                <a:tc>
                  <a:txBody>
                    <a:bodyPr/>
                    <a:lstStyle/>
                    <a:p>
                      <a:pPr>
                        <a:defRPr sz="900" b="0">
                          <a:solidFill>
                            <a:srgbClr val="0B0E26"/>
                          </a:solidFill>
                          <a:latin typeface="Calibri"/>
                        </a:defRPr>
                      </a:pPr>
                      <a:r>
                        <a:t>Known, exploitable weaknesses on public systems are the leading entry point for ransomware.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Adopt patch SLAs by severity (critical 15 days, high 30 days), scan internet-facing assets weekly, and report open critical vulnerabilities to the risk committee monthly.</a:t>
                      </a:r>
                    </a:p>
                  </a:txBody>
                  <a:tcPr marL="43200" marR="43200" marT="21600" marB="21600" anchor="ctr">
                    <a:solidFill>
                      <a:srgbClr val="FFFFFF"/>
                    </a:solidFill>
                  </a:tcPr>
                </a:tc>
              </a:tr>
              <a:tr h="1098000">
                <a:tc>
                  <a:txBody>
                    <a:bodyPr/>
                    <a:lstStyle/>
                    <a:p>
                      <a:pPr>
                        <a:defRPr sz="900" b="0">
                          <a:solidFill>
                            <a:srgbClr val="0B0E26"/>
                          </a:solidFill>
                          <a:latin typeface="Calibri"/>
                        </a:defRPr>
                      </a:pPr>
                      <a:r>
                        <a:t>R-05</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Customer database access is not restricted by role</a:t>
                      </a:r>
                    </a:p>
                  </a:txBody>
                  <a:tcPr marL="43200" marR="43200" marT="21600" marB="21600" anchor="ctr">
                    <a:solidFill>
                      <a:srgbClr val="F1F3F8"/>
                    </a:solidFill>
                  </a:tcPr>
                </a:tc>
                <a:tc>
                  <a:txBody>
                    <a:bodyPr/>
                    <a:lstStyle/>
                    <a:p>
                      <a:pPr>
                        <a:defRPr sz="900" b="0">
                          <a:solidFill>
                            <a:srgbClr val="0B0E26"/>
                          </a:solidFill>
                          <a:latin typeface="Calibri"/>
                        </a:defRPr>
                      </a:pPr>
                      <a:r>
                        <a:t>Broad access raises the likelihood and scale of a personal-data breach and weakens the 'reasonable security safeguards' defence.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Define role-based access profiles for the customer database, remove standing engineer access, and route exceptions through time-bound, approved break-glass access with session logging.</a:t>
                      </a:r>
                    </a:p>
                  </a:txBody>
                  <a:tcPr marL="43200" marR="43200" marT="21600" marB="21600" anchor="ctr">
                    <a:solidFill>
                      <a:srgbClr val="F1F3F8"/>
                    </a:solidFill>
                  </a:tcPr>
                </a:tc>
              </a:tr>
              <a:tr h="1098000">
                <a:tc>
                  <a:txBody>
                    <a:bodyPr/>
                    <a:lstStyle/>
                    <a:p>
                      <a:pPr>
                        <a:defRPr sz="900" b="0">
                          <a:solidFill>
                            <a:srgbClr val="0B0E26"/>
                          </a:solidFill>
                          <a:latin typeface="Calibri"/>
                        </a:defRPr>
                      </a:pPr>
                      <a:r>
                        <a:t>R-06</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Data Processor contracts lack data-protection clauses</a:t>
                      </a:r>
                    </a:p>
                  </a:txBody>
                  <a:tcPr marL="43200" marR="43200" marT="21600" marB="21600" anchor="ctr">
                    <a:solidFill>
                      <a:srgbClr val="FFFFFF"/>
                    </a:solidFill>
                  </a:tcPr>
                </a:tc>
                <a:tc>
                  <a:txBody>
                    <a:bodyPr/>
                    <a:lstStyle/>
                    <a:p>
                      <a:pPr>
                        <a:defRPr sz="900" b="0">
                          <a:solidFill>
                            <a:srgbClr val="0B0E26"/>
                          </a:solidFill>
                          <a:latin typeface="Calibri"/>
                        </a:defRPr>
                      </a:pPr>
                      <a:r>
                        <a:t>The company remains liable for its processors' failures with no contractual recourse or audit right.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Issue a data-processing addendum covering security, breach notice within 24 hours, sub-processing, audit rights and deletion at exit, and track signature to completion.</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11 of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Key observations (3 of 4)</a:t>
            </a:r>
          </a:p>
        </p:txBody>
      </p:sp>
      <p:graphicFrame>
        <p:nvGraphicFramePr>
          <p:cNvPr id="5" name="Native evidence table"/>
          <p:cNvGraphicFramePr>
            <a:graphicFrameLocks noGrp="1"/>
          </p:cNvGraphicFramePr>
          <p:nvPr/>
        </p:nvGraphicFramePr>
        <p:xfrm>
          <a:off x="504000" y="1728000"/>
          <a:ext cx="11160000" cy="4392000"/>
        </p:xfrm>
        <a:graphic>
          <a:graphicData uri="http://schemas.openxmlformats.org/drawingml/2006/table">
            <a:tbl>
              <a:tblPr firstRow="1" bandRow="1">
                <a:tableStyleId>{5C22544A-7EE6-4342-B048-85BDC9FD1C3A}</a:tableStyleId>
              </a:tblPr>
              <a:tblGrid>
                <a:gridCol w="648000"/>
                <a:gridCol w="1728000"/>
                <a:gridCol w="2340000"/>
                <a:gridCol w="1980000"/>
                <a:gridCol w="864000"/>
                <a:gridCol w="3600000"/>
              </a:tblGrid>
              <a:tr h="1098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Domain / framework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Recommendation</a:t>
                      </a:r>
                    </a:p>
                  </a:txBody>
                  <a:tcPr marL="43200" marR="43200" marT="21600" marB="21600" anchor="ctr">
                    <a:solidFill>
                      <a:srgbClr val="161A5C"/>
                    </a:solidFill>
                  </a:tcPr>
                </a:tc>
              </a:tr>
              <a:tr h="1098000">
                <a:tc>
                  <a:txBody>
                    <a:bodyPr/>
                    <a:lstStyle/>
                    <a:p>
                      <a:pPr>
                        <a:defRPr sz="900" b="0">
                          <a:solidFill>
                            <a:srgbClr val="0B0E26"/>
                          </a:solidFill>
                          <a:latin typeface="Calibri"/>
                        </a:defRPr>
                      </a:pPr>
                      <a:r>
                        <a:t>R-07</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Supplier security is not assessed before onboarding</a:t>
                      </a:r>
                    </a:p>
                  </a:txBody>
                  <a:tcPr marL="43200" marR="43200" marT="21600" marB="21600" anchor="ctr">
                    <a:solidFill>
                      <a:srgbClr val="FFFFFF"/>
                    </a:solidFill>
                  </a:tcPr>
                </a:tc>
                <a:tc>
                  <a:txBody>
                    <a:bodyPr/>
                    <a:lstStyle/>
                    <a:p>
                      <a:pPr>
                        <a:defRPr sz="900" b="0">
                          <a:solidFill>
                            <a:srgbClr val="0B0E26"/>
                          </a:solidFill>
                          <a:latin typeface="Calibri"/>
                        </a:defRPr>
                      </a:pPr>
                      <a:r>
                        <a:t>Third-party compromise cannot be anticipated or contracted against.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Tier suppliers by data access, assess tier-1 suppliers before onboarding and annually, and record the risk decision in the supplier register.</a:t>
                      </a:r>
                    </a:p>
                  </a:txBody>
                  <a:tcPr marL="43200" marR="43200" marT="21600" marB="21600" anchor="ctr">
                    <a:solidFill>
                      <a:srgbClr val="FFFFFF"/>
                    </a:solidFill>
                  </a:tcPr>
                </a:tc>
              </a:tr>
              <a:tr h="1098000">
                <a:tc>
                  <a:txBody>
                    <a:bodyPr/>
                    <a:lstStyle/>
                    <a:p>
                      <a:pPr>
                        <a:defRPr sz="900" b="0">
                          <a:solidFill>
                            <a:srgbClr val="0B0E26"/>
                          </a:solidFill>
                          <a:latin typeface="Calibri"/>
                        </a:defRPr>
                      </a:pPr>
                      <a:r>
                        <a:t>R-08</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Customer data is retained indefinitely</a:t>
                      </a:r>
                    </a:p>
                  </a:txBody>
                  <a:tcPr marL="43200" marR="43200" marT="21600" marB="21600" anchor="ctr">
                    <a:solidFill>
                      <a:srgbClr val="F1F3F8"/>
                    </a:solidFill>
                  </a:tcPr>
                </a:tc>
                <a:tc>
                  <a:txBody>
                    <a:bodyPr/>
                    <a:lstStyle/>
                    <a:p>
                      <a:pPr>
                        <a:defRPr sz="900" b="0">
                          <a:solidFill>
                            <a:srgbClr val="0B0E26"/>
                          </a:solidFill>
                          <a:latin typeface="Calibri"/>
                        </a:defRPr>
                      </a:pPr>
                      <a:r>
                        <a:t>Holding data beyond its purpose enlarges breach impact and conflicts with the storage-limitation duty.</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Set retention periods for customer and KYC data by purpose and legal basis, and automate deletion or anonymisation at expiry with a monthly exception report.</a:t>
                      </a:r>
                    </a:p>
                  </a:txBody>
                  <a:tcPr marL="43200" marR="43200" marT="21600" marB="21600" anchor="ctr">
                    <a:solidFill>
                      <a:srgbClr val="F1F3F8"/>
                    </a:solidFill>
                  </a:tcPr>
                </a:tc>
              </a:tr>
              <a:tr h="1098000">
                <a:tc>
                  <a:txBody>
                    <a:bodyPr/>
                    <a:lstStyle/>
                    <a:p>
                      <a:pPr>
                        <a:defRPr sz="900" b="0">
                          <a:solidFill>
                            <a:srgbClr val="0B0E26"/>
                          </a:solidFill>
                          <a:latin typeface="Calibri"/>
                        </a:defRPr>
                      </a:pPr>
                      <a:r>
                        <a:t>R-09</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Business continuity plan has never been tested</a:t>
                      </a:r>
                    </a:p>
                  </a:txBody>
                  <a:tcPr marL="43200" marR="43200" marT="21600" marB="21600" anchor="ctr">
                    <a:solidFill>
                      <a:srgbClr val="FFFFFF"/>
                    </a:solidFill>
                  </a:tcPr>
                </a:tc>
                <a:tc>
                  <a:txBody>
                    <a:bodyPr/>
                    <a:lstStyle/>
                    <a:p>
                      <a:pPr>
                        <a:defRPr sz="900" b="0">
                          <a:solidFill>
                            <a:srgbClr val="0B0E26"/>
                          </a:solidFill>
                          <a:latin typeface="Calibri"/>
                        </a:defRPr>
                      </a:pPr>
                      <a:r>
                        <a:t>Recovery times for core platforms are unknown; an outage could exceed customer contractual commitments.</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Test the BCP for the payments platform against target recovery times, record the results and fix gaps found before the next test cycle.</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12 of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Key observations (4 of 4)</a:t>
            </a:r>
          </a:p>
        </p:txBody>
      </p:sp>
      <p:graphicFrame>
        <p:nvGraphicFramePr>
          <p:cNvPr id="5" name="Native evidence table"/>
          <p:cNvGraphicFramePr>
            <a:graphicFrameLocks noGrp="1"/>
          </p:cNvGraphicFramePr>
          <p:nvPr/>
        </p:nvGraphicFramePr>
        <p:xfrm>
          <a:off x="504000" y="1728000"/>
          <a:ext cx="11160000" cy="4392000"/>
        </p:xfrm>
        <a:graphic>
          <a:graphicData uri="http://schemas.openxmlformats.org/drawingml/2006/table">
            <a:tbl>
              <a:tblPr firstRow="1" bandRow="1">
                <a:tableStyleId>{5C22544A-7EE6-4342-B048-85BDC9FD1C3A}</a:tableStyleId>
              </a:tblPr>
              <a:tblGrid>
                <a:gridCol w="648000"/>
                <a:gridCol w="1728000"/>
                <a:gridCol w="2340000"/>
                <a:gridCol w="1980000"/>
                <a:gridCol w="864000"/>
                <a:gridCol w="3600000"/>
              </a:tblGrid>
              <a:tr h="2196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Domain / framework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Recommendation</a:t>
                      </a:r>
                    </a:p>
                  </a:txBody>
                  <a:tcPr marL="43200" marR="43200" marT="21600" marB="21600" anchor="ctr">
                    <a:solidFill>
                      <a:srgbClr val="161A5C"/>
                    </a:solidFill>
                  </a:tcPr>
                </a:tc>
              </a:tr>
              <a:tr h="2196000">
                <a:tc>
                  <a:txBody>
                    <a:bodyPr/>
                    <a:lstStyle/>
                    <a:p>
                      <a:pPr>
                        <a:defRPr sz="900" b="0">
                          <a:solidFill>
                            <a:srgbClr val="0B0E26"/>
                          </a:solidFill>
                          <a:latin typeface="Calibri"/>
                        </a:defRPr>
                      </a:pPr>
                      <a:r>
                        <a:t>R-10</a:t>
                      </a:r>
                    </a:p>
                  </a:txBody>
                  <a:tcPr marL="43200" marR="43200" marT="21600" marB="21600" anchor="ctr">
                    <a:solidFill>
                      <a:srgbClr val="FFFFFF"/>
                    </a:solidFill>
                  </a:tcPr>
                </a:tc>
                <a:tc>
                  <a:txBody>
                    <a:bodyPr/>
                    <a:lstStyle/>
                    <a:p>
                      <a:pPr>
                        <a:defRPr sz="900" b="0">
                          <a:solidFill>
                            <a:srgbClr val="0B0E26"/>
                          </a:solidFill>
                          <a:latin typeface="Calibri"/>
                        </a:defRPr>
                      </a:pPr>
                      <a:r>
                        <a:t>Rights of Data Principal</a:t>
                      </a:r>
                    </a:p>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Grievance channel has no response timeline</a:t>
                      </a:r>
                    </a:p>
                  </a:txBody>
                  <a:tcPr marL="43200" marR="43200" marT="21600" marB="21600" anchor="ctr">
                    <a:solidFill>
                      <a:srgbClr val="FFFFFF"/>
                    </a:solidFill>
                  </a:tcPr>
                </a:tc>
                <a:tc>
                  <a:txBody>
                    <a:bodyPr/>
                    <a:lstStyle/>
                    <a:p>
                      <a:pPr>
                        <a:defRPr sz="900" b="0">
                          <a:solidFill>
                            <a:srgbClr val="0B0E26"/>
                          </a:solidFill>
                          <a:latin typeface="Calibri"/>
                        </a:defRPr>
                      </a:pPr>
                      <a:r>
                        <a:t>Unresolved complaints can be escalated to the Data Protection Board.</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Publish a grievance form with ticket tracking and a 30-day response commitment, and report volumes and ageing to the DPO monthly.</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13 of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4 of 8 initiatives fall in the next 90 days; 1 is already overdue</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8 initiative(s) cover 10 of 10 key observations; 2 close a weakness once across more than one framework.</a:t>
            </a:r>
          </a:p>
        </p:txBody>
      </p:sp>
      <p:sp>
        <p:nvSpPr>
          <p:cNvPr id="6" name="Roadmap horizon header"/>
          <p:cNvSpPr/>
          <p:nvPr/>
        </p:nvSpPr>
        <p:spPr>
          <a:xfrm>
            <a:off x="1512000" y="1728000"/>
            <a:ext cx="2502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48000" y="1756800"/>
            <a:ext cx="2430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Short term</a:t>
            </a:r>
          </a:p>
          <a:p>
            <a:pPr>
              <a:defRPr sz="900" b="1">
                <a:solidFill>
                  <a:srgbClr val="161A5C"/>
                </a:solidFill>
                <a:latin typeface="Calibri"/>
              </a:defRPr>
            </a:pPr>
            <a:r>
              <a:t>within 90 days</a:t>
            </a:r>
          </a:p>
        </p:txBody>
      </p:sp>
      <p:sp>
        <p:nvSpPr>
          <p:cNvPr id="8" name="Roadmap horizon header"/>
          <p:cNvSpPr/>
          <p:nvPr/>
        </p:nvSpPr>
        <p:spPr>
          <a:xfrm>
            <a:off x="4050000" y="1728000"/>
            <a:ext cx="2502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86000" y="1756800"/>
            <a:ext cx="2430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Medium term</a:t>
            </a:r>
          </a:p>
          <a:p>
            <a:pPr>
              <a:defRPr sz="900" b="1">
                <a:solidFill>
                  <a:srgbClr val="161A5C"/>
                </a:solidFill>
                <a:latin typeface="Calibri"/>
              </a:defRPr>
            </a:pPr>
            <a:r>
              <a:t>91 to 180 days</a:t>
            </a:r>
          </a:p>
        </p:txBody>
      </p:sp>
      <p:sp>
        <p:nvSpPr>
          <p:cNvPr id="10" name="Roadmap horizon header"/>
          <p:cNvSpPr/>
          <p:nvPr/>
        </p:nvSpPr>
        <p:spPr>
          <a:xfrm>
            <a:off x="6588000" y="1728000"/>
            <a:ext cx="2502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4000" y="1756800"/>
            <a:ext cx="2430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Long term</a:t>
            </a:r>
          </a:p>
          <a:p>
            <a:pPr>
              <a:defRPr sz="900" b="1">
                <a:solidFill>
                  <a:srgbClr val="161A5C"/>
                </a:solidFill>
                <a:latin typeface="Calibri"/>
              </a:defRPr>
            </a:pPr>
            <a:r>
              <a:t>after 180 days</a:t>
            </a:r>
          </a:p>
        </p:txBody>
      </p:sp>
      <p:sp>
        <p:nvSpPr>
          <p:cNvPr id="12" name="Roadmap horizon header"/>
          <p:cNvSpPr/>
          <p:nvPr/>
        </p:nvSpPr>
        <p:spPr>
          <a:xfrm>
            <a:off x="9126000" y="1728000"/>
            <a:ext cx="2502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2000" y="1756800"/>
            <a:ext cx="2430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Not scheduled</a:t>
            </a:r>
          </a:p>
          <a:p>
            <a:pPr>
              <a:defRPr sz="900" b="1">
                <a:solidFill>
                  <a:srgbClr val="161A5C"/>
                </a:solidFill>
                <a:latin typeface="Calibri"/>
              </a:defRPr>
            </a:pPr>
            <a:r>
              <a:t>no target date</a:t>
            </a:r>
          </a:p>
        </p:txBody>
      </p:sp>
      <p:sp>
        <p:nvSpPr>
          <p:cNvPr id="14" name="Roadmap responsibility lane"/>
          <p:cNvSpPr/>
          <p:nvPr/>
        </p:nvSpPr>
        <p:spPr>
          <a:xfrm>
            <a:off x="504000" y="2160000"/>
            <a:ext cx="972000" cy="1152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2376000"/>
            <a:ext cx="864000" cy="360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Client</a:t>
            </a:r>
          </a:p>
        </p:txBody>
      </p:sp>
      <p:sp>
        <p:nvSpPr>
          <p:cNvPr id="16" name="Roadmap lane cell"/>
          <p:cNvSpPr/>
          <p:nvPr/>
        </p:nvSpPr>
        <p:spPr>
          <a:xfrm>
            <a:off x="1512000" y="2160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admap initiative"/>
          <p:cNvSpPr/>
          <p:nvPr/>
        </p:nvSpPr>
        <p:spPr>
          <a:xfrm>
            <a:off x="1584000" y="2232000"/>
            <a:ext cx="2358000" cy="270000"/>
          </a:xfrm>
          <a:prstGeom prst="rect">
            <a:avLst/>
          </a:prstGeom>
          <a:solidFill>
            <a:srgbClr val="FFFFFF"/>
          </a:solidFill>
          <a:ln w="7620">
            <a:solidFill>
              <a:srgbClr val="9B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0000" y="2250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I-1  Establish role-based access and quarterly recertification</a:t>
            </a:r>
          </a:p>
        </p:txBody>
      </p:sp>
      <p:sp>
        <p:nvSpPr>
          <p:cNvPr id="19" name="Roadmap initiative"/>
          <p:cNvSpPr/>
          <p:nvPr/>
        </p:nvSpPr>
        <p:spPr>
          <a:xfrm>
            <a:off x="1584000" y="2556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0000" y="2574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I-3  Introduce risk-based patch SLAs with board reporting</a:t>
            </a:r>
          </a:p>
        </p:txBody>
      </p:sp>
      <p:sp>
        <p:nvSpPr>
          <p:cNvPr id="21" name="Roadmap initiative"/>
          <p:cNvSpPr/>
          <p:nvPr/>
        </p:nvSpPr>
        <p:spPr>
          <a:xfrm>
            <a:off x="1584000" y="2880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20000" y="2898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I-4  Rebuild consent capture with versioned notices</a:t>
            </a:r>
          </a:p>
        </p:txBody>
      </p:sp>
      <p:sp>
        <p:nvSpPr>
          <p:cNvPr id="23" name="Roadmap lane cell"/>
          <p:cNvSpPr/>
          <p:nvPr/>
        </p:nvSpPr>
        <p:spPr>
          <a:xfrm>
            <a:off x="4050000" y="2160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admap lane cell"/>
          <p:cNvSpPr/>
          <p:nvPr/>
        </p:nvSpPr>
        <p:spPr>
          <a:xfrm>
            <a:off x="6588000" y="2160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admap initiative"/>
          <p:cNvSpPr/>
          <p:nvPr/>
        </p:nvSpPr>
        <p:spPr>
          <a:xfrm>
            <a:off x="6660000" y="2232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000" y="2250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I-6  Automate retention and deletion for customer data</a:t>
            </a:r>
          </a:p>
        </p:txBody>
      </p:sp>
      <p:sp>
        <p:nvSpPr>
          <p:cNvPr id="27" name="Roadmap initiative"/>
          <p:cNvSpPr/>
          <p:nvPr/>
        </p:nvSpPr>
        <p:spPr>
          <a:xfrm>
            <a:off x="6660000" y="2556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6000" y="2574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I-7  Test continuity for the payments platform</a:t>
            </a:r>
          </a:p>
        </p:txBody>
      </p:sp>
      <p:sp>
        <p:nvSpPr>
          <p:cNvPr id="29" name="Roadmap lane cell"/>
          <p:cNvSpPr/>
          <p:nvPr/>
        </p:nvSpPr>
        <p:spPr>
          <a:xfrm>
            <a:off x="9126000" y="2160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admap responsibility lane"/>
          <p:cNvSpPr/>
          <p:nvPr/>
        </p:nvSpPr>
        <p:spPr>
          <a:xfrm>
            <a:off x="504000" y="3384000"/>
            <a:ext cx="972000" cy="1152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3600000"/>
            <a:ext cx="864000" cy="360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Shared</a:t>
            </a:r>
          </a:p>
        </p:txBody>
      </p:sp>
      <p:sp>
        <p:nvSpPr>
          <p:cNvPr id="32" name="Roadmap lane cell"/>
          <p:cNvSpPr/>
          <p:nvPr/>
        </p:nvSpPr>
        <p:spPr>
          <a:xfrm>
            <a:off x="1512000" y="3384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admap initiative"/>
          <p:cNvSpPr/>
          <p:nvPr/>
        </p:nvSpPr>
        <p:spPr>
          <a:xfrm>
            <a:off x="1584000" y="3456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0000" y="3474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I-2  Stand up regulator-ready breach notification</a:t>
            </a:r>
          </a:p>
        </p:txBody>
      </p:sp>
      <p:sp>
        <p:nvSpPr>
          <p:cNvPr id="35" name="Roadmap lane cell"/>
          <p:cNvSpPr/>
          <p:nvPr/>
        </p:nvSpPr>
        <p:spPr>
          <a:xfrm>
            <a:off x="4050000" y="3384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admap initiative"/>
          <p:cNvSpPr/>
          <p:nvPr/>
        </p:nvSpPr>
        <p:spPr>
          <a:xfrm>
            <a:off x="4122000" y="3456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58000" y="3474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I-5  Contract and assess processors and suppliers</a:t>
            </a:r>
          </a:p>
        </p:txBody>
      </p:sp>
      <p:sp>
        <p:nvSpPr>
          <p:cNvPr id="38" name="Roadmap lane cell"/>
          <p:cNvSpPr/>
          <p:nvPr/>
        </p:nvSpPr>
        <p:spPr>
          <a:xfrm>
            <a:off x="6588000" y="3384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admap lane cell"/>
          <p:cNvSpPr/>
          <p:nvPr/>
        </p:nvSpPr>
        <p:spPr>
          <a:xfrm>
            <a:off x="9126000" y="3384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admap responsibility lane"/>
          <p:cNvSpPr/>
          <p:nvPr/>
        </p:nvSpPr>
        <p:spPr>
          <a:xfrm>
            <a:off x="504000" y="4608000"/>
            <a:ext cx="972000" cy="1152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824000"/>
            <a:ext cx="864000" cy="360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Firm</a:t>
            </a:r>
          </a:p>
        </p:txBody>
      </p:sp>
      <p:sp>
        <p:nvSpPr>
          <p:cNvPr id="42" name="Roadmap lane cell"/>
          <p:cNvSpPr/>
          <p:nvPr/>
        </p:nvSpPr>
        <p:spPr>
          <a:xfrm>
            <a:off x="1512000" y="4608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admap lane cell"/>
          <p:cNvSpPr/>
          <p:nvPr/>
        </p:nvSpPr>
        <p:spPr>
          <a:xfrm>
            <a:off x="4050000" y="4608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admap lane cell"/>
          <p:cNvSpPr/>
          <p:nvPr/>
        </p:nvSpPr>
        <p:spPr>
          <a:xfrm>
            <a:off x="6588000" y="4608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admap lane cell"/>
          <p:cNvSpPr/>
          <p:nvPr/>
        </p:nvSpPr>
        <p:spPr>
          <a:xfrm>
            <a:off x="9126000" y="4608000"/>
            <a:ext cx="2502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admap initiative"/>
          <p:cNvSpPr/>
          <p:nvPr/>
        </p:nvSpPr>
        <p:spPr>
          <a:xfrm>
            <a:off x="9198000" y="4680000"/>
            <a:ext cx="2358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4000" y="4698000"/>
            <a:ext cx="2286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I-8  Track grievances against a published timeline</a:t>
            </a:r>
          </a:p>
        </p:txBody>
      </p:sp>
      <p:sp>
        <p:nvSpPr>
          <p:cNvPr id="4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5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14 of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No quick wins: all 4 high-benefit initiatives need medium or high effort</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Each initiative is placed by the effort it needs and the exposure it removes. Top left is where to start.</a:t>
            </a:r>
          </a:p>
        </p:txBody>
      </p:sp>
      <p:sp>
        <p:nvSpPr>
          <p:cNvPr id="6" name="TextBox 5"/>
          <p:cNvSpPr txBox="1"/>
          <p:nvPr/>
        </p:nvSpPr>
        <p:spPr>
          <a:xfrm>
            <a:off x="504000" y="3096000"/>
            <a:ext cx="360000" cy="432000"/>
          </a:xfrm>
          <a:prstGeom prst="rect">
            <a:avLst/>
          </a:prstGeom>
          <a:noFill/>
          <a:ln>
            <a:noFill/>
          </a:ln>
        </p:spPr>
        <p:txBody>
          <a:bodyPr wrap="square" anchor="t" lIns="43200" rIns="43200" tIns="25200" bIns="25200">
            <a:spAutoFit/>
          </a:bodyPr>
          <a:lstStyle/>
          <a:p>
            <a:pPr algn="ctr">
              <a:defRPr sz="1100" b="1">
                <a:solidFill>
                  <a:srgbClr val="626984"/>
                </a:solidFill>
                <a:latin typeface="Calibri"/>
              </a:defRPr>
            </a:pPr>
            <a:r>
              <a:t>Benefit</a:t>
            </a:r>
          </a:p>
        </p:txBody>
      </p:sp>
      <p:sp>
        <p:nvSpPr>
          <p:cNvPr id="7" name="TextBox 6"/>
          <p:cNvSpPr txBox="1"/>
          <p:nvPr/>
        </p:nvSpPr>
        <p:spPr>
          <a:xfrm>
            <a:off x="504000" y="2160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High</a:t>
            </a:r>
          </a:p>
        </p:txBody>
      </p:sp>
      <p:sp>
        <p:nvSpPr>
          <p:cNvPr id="8" name="Effort benefit matrix cell"/>
          <p:cNvSpPr/>
          <p:nvPr/>
        </p:nvSpPr>
        <p:spPr>
          <a:xfrm>
            <a:off x="900000" y="1872000"/>
            <a:ext cx="1296000" cy="900000"/>
          </a:xfrm>
          <a:prstGeom prst="rect">
            <a:avLst/>
          </a:prstGeom>
          <a:solidFill>
            <a:srgbClr val="E3F4F2"/>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2000" y="1944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Quick wins</a:t>
            </a:r>
          </a:p>
        </p:txBody>
      </p:sp>
      <p:sp>
        <p:nvSpPr>
          <p:cNvPr id="10" name="Effort benefit matrix cell"/>
          <p:cNvSpPr/>
          <p:nvPr/>
        </p:nvSpPr>
        <p:spPr>
          <a:xfrm>
            <a:off x="2268000" y="1872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40000" y="2232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I-2, I-3</a:t>
            </a:r>
          </a:p>
        </p:txBody>
      </p:sp>
      <p:sp>
        <p:nvSpPr>
          <p:cNvPr id="12" name="Effort benefit matrix cell"/>
          <p:cNvSpPr/>
          <p:nvPr/>
        </p:nvSpPr>
        <p:spPr>
          <a:xfrm>
            <a:off x="3636000" y="1872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8000" y="1944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Big bets</a:t>
            </a:r>
          </a:p>
        </p:txBody>
      </p:sp>
      <p:sp>
        <p:nvSpPr>
          <p:cNvPr id="14" name="TextBox 13"/>
          <p:cNvSpPr txBox="1"/>
          <p:nvPr/>
        </p:nvSpPr>
        <p:spPr>
          <a:xfrm>
            <a:off x="3708000" y="2232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I-1, I-4</a:t>
            </a:r>
          </a:p>
        </p:txBody>
      </p:sp>
      <p:sp>
        <p:nvSpPr>
          <p:cNvPr id="15" name="TextBox 14"/>
          <p:cNvSpPr txBox="1"/>
          <p:nvPr/>
        </p:nvSpPr>
        <p:spPr>
          <a:xfrm>
            <a:off x="504000" y="3132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Medium</a:t>
            </a:r>
          </a:p>
        </p:txBody>
      </p:sp>
      <p:sp>
        <p:nvSpPr>
          <p:cNvPr id="16" name="Effort benefit matrix cell"/>
          <p:cNvSpPr/>
          <p:nvPr/>
        </p:nvSpPr>
        <p:spPr>
          <a:xfrm>
            <a:off x="900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000" y="3204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I-8</a:t>
            </a:r>
          </a:p>
        </p:txBody>
      </p:sp>
      <p:sp>
        <p:nvSpPr>
          <p:cNvPr id="18" name="Effort benefit matrix cell"/>
          <p:cNvSpPr/>
          <p:nvPr/>
        </p:nvSpPr>
        <p:spPr>
          <a:xfrm>
            <a:off x="2268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3204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I-5, I-7</a:t>
            </a:r>
          </a:p>
        </p:txBody>
      </p:sp>
      <p:sp>
        <p:nvSpPr>
          <p:cNvPr id="20" name="Effort benefit matrix cell"/>
          <p:cNvSpPr/>
          <p:nvPr/>
        </p:nvSpPr>
        <p:spPr>
          <a:xfrm>
            <a:off x="3636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8000" y="3204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I-6</a:t>
            </a:r>
          </a:p>
        </p:txBody>
      </p:sp>
      <p:sp>
        <p:nvSpPr>
          <p:cNvPr id="22" name="TextBox 21"/>
          <p:cNvSpPr txBox="1"/>
          <p:nvPr/>
        </p:nvSpPr>
        <p:spPr>
          <a:xfrm>
            <a:off x="504000" y="4104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Low</a:t>
            </a:r>
          </a:p>
        </p:txBody>
      </p:sp>
      <p:sp>
        <p:nvSpPr>
          <p:cNvPr id="23" name="Effort benefit matrix cell"/>
          <p:cNvSpPr/>
          <p:nvPr/>
        </p:nvSpPr>
        <p:spPr>
          <a:xfrm>
            <a:off x="900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000" y="3888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Fill-ins</a:t>
            </a:r>
          </a:p>
        </p:txBody>
      </p:sp>
      <p:sp>
        <p:nvSpPr>
          <p:cNvPr id="25" name="Effort benefit matrix cell"/>
          <p:cNvSpPr/>
          <p:nvPr/>
        </p:nvSpPr>
        <p:spPr>
          <a:xfrm>
            <a:off x="2268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ffort benefit matrix cell"/>
          <p:cNvSpPr/>
          <p:nvPr/>
        </p:nvSpPr>
        <p:spPr>
          <a:xfrm>
            <a:off x="3636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08000" y="3888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Reconsider</a:t>
            </a:r>
          </a:p>
        </p:txBody>
      </p:sp>
      <p:sp>
        <p:nvSpPr>
          <p:cNvPr id="28" name="TextBox 27"/>
          <p:cNvSpPr txBox="1"/>
          <p:nvPr/>
        </p:nvSpPr>
        <p:spPr>
          <a:xfrm>
            <a:off x="900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Low effort</a:t>
            </a:r>
          </a:p>
        </p:txBody>
      </p:sp>
      <p:sp>
        <p:nvSpPr>
          <p:cNvPr id="29" name="TextBox 28"/>
          <p:cNvSpPr txBox="1"/>
          <p:nvPr/>
        </p:nvSpPr>
        <p:spPr>
          <a:xfrm>
            <a:off x="2268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Medium effort</a:t>
            </a:r>
          </a:p>
        </p:txBody>
      </p:sp>
      <p:sp>
        <p:nvSpPr>
          <p:cNvPr id="30" name="TextBox 29"/>
          <p:cNvSpPr txBox="1"/>
          <p:nvPr/>
        </p:nvSpPr>
        <p:spPr>
          <a:xfrm>
            <a:off x="3636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High effort</a:t>
            </a:r>
          </a:p>
        </p:txBody>
      </p:sp>
      <p:graphicFrame>
        <p:nvGraphicFramePr>
          <p:cNvPr id="31" name="Native evidence table"/>
          <p:cNvGraphicFramePr>
            <a:graphicFrameLocks noGrp="1"/>
          </p:cNvGraphicFramePr>
          <p:nvPr/>
        </p:nvGraphicFramePr>
        <p:xfrm>
          <a:off x="7380000" y="1728000"/>
          <a:ext cx="4788000" cy="4068000"/>
        </p:xfrm>
        <a:graphic>
          <a:graphicData uri="http://schemas.openxmlformats.org/drawingml/2006/table">
            <a:tbl>
              <a:tblPr firstRow="1" bandRow="1">
                <a:tableStyleId>{5C22544A-7EE6-4342-B048-85BDC9FD1C3A}</a:tableStyleId>
              </a:tblPr>
              <a:tblGrid>
                <a:gridCol w="504000"/>
                <a:gridCol w="1620000"/>
                <a:gridCol w="792000"/>
                <a:gridCol w="612000"/>
                <a:gridCol w="612000"/>
                <a:gridCol w="648000"/>
              </a:tblGrid>
              <a:tr h="452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Initiative</a:t>
                      </a:r>
                    </a:p>
                  </a:txBody>
                  <a:tcPr marL="43200" marR="43200" marT="21600" marB="21600" anchor="ctr">
                    <a:solidFill>
                      <a:srgbClr val="161A5C"/>
                    </a:solidFill>
                  </a:tcPr>
                </a:tc>
                <a:tc>
                  <a:txBody>
                    <a:bodyPr/>
                    <a:lstStyle/>
                    <a:p>
                      <a:pPr>
                        <a:defRPr sz="900" b="1">
                          <a:solidFill>
                            <a:srgbClr val="FFFFFF"/>
                          </a:solidFill>
                          <a:latin typeface="Calibri"/>
                        </a:defRPr>
                      </a:pPr>
                      <a:r>
                        <a:t>Horizon</a:t>
                      </a:r>
                    </a:p>
                  </a:txBody>
                  <a:tcPr marL="43200" marR="43200" marT="21600" marB="21600" anchor="ctr">
                    <a:solidFill>
                      <a:srgbClr val="161A5C"/>
                    </a:solidFill>
                  </a:tcPr>
                </a:tc>
                <a:tc>
                  <a:txBody>
                    <a:bodyPr/>
                    <a:lstStyle/>
                    <a:p>
                      <a:pPr>
                        <a:defRPr sz="900" b="1">
                          <a:solidFill>
                            <a:srgbClr val="FFFFFF"/>
                          </a:solidFill>
                          <a:latin typeface="Calibri"/>
                        </a:defRPr>
                      </a:pPr>
                      <a:r>
                        <a:t>Priority</a:t>
                      </a:r>
                    </a:p>
                  </a:txBody>
                  <a:tcPr marL="43200" marR="43200" marT="21600" marB="21600" anchor="ctr">
                    <a:solidFill>
                      <a:srgbClr val="161A5C"/>
                    </a:solidFill>
                  </a:tcPr>
                </a:tc>
                <a:tc>
                  <a:txBody>
                    <a:bodyPr/>
                    <a:lstStyle/>
                    <a:p>
                      <a:pPr>
                        <a:defRPr sz="900" b="1">
                          <a:solidFill>
                            <a:srgbClr val="FFFFFF"/>
                          </a:solidFill>
                          <a:latin typeface="Calibri"/>
                        </a:defRPr>
                      </a:pPr>
                      <a:r>
                        <a:t>Effort</a:t>
                      </a:r>
                    </a:p>
                  </a:txBody>
                  <a:tcPr marL="43200" marR="43200" marT="21600" marB="21600" anchor="ctr">
                    <a:solidFill>
                      <a:srgbClr val="161A5C"/>
                    </a:solidFill>
                  </a:tcPr>
                </a:tc>
                <a:tc>
                  <a:txBody>
                    <a:bodyPr/>
                    <a:lstStyle/>
                    <a:p>
                      <a:pPr>
                        <a:defRPr sz="900" b="1">
                          <a:solidFill>
                            <a:srgbClr val="FFFFFF"/>
                          </a:solidFill>
                          <a:latin typeface="Calibri"/>
                        </a:defRPr>
                      </a:pPr>
                      <a:r>
                        <a:t>Benefit</a:t>
                      </a:r>
                    </a:p>
                  </a:txBody>
                  <a:tcPr marL="43200" marR="43200" marT="21600" marB="21600" anchor="ctr">
                    <a:solidFill>
                      <a:srgbClr val="161A5C"/>
                    </a:solidFill>
                  </a:tcPr>
                </a:tc>
              </a:tr>
              <a:tr h="452000">
                <a:tc>
                  <a:txBody>
                    <a:bodyPr/>
                    <a:lstStyle/>
                    <a:p>
                      <a:pPr>
                        <a:defRPr sz="900" b="0">
                          <a:solidFill>
                            <a:srgbClr val="0B0E26"/>
                          </a:solidFill>
                          <a:latin typeface="Calibri"/>
                        </a:defRPr>
                      </a:pPr>
                      <a:r>
                        <a:t>I-1</a:t>
                      </a:r>
                    </a:p>
                  </a:txBody>
                  <a:tcPr marL="43200" marR="43200" marT="21600" marB="21600" anchor="ctr">
                    <a:solidFill>
                      <a:srgbClr val="FFFFFF"/>
                    </a:solidFill>
                  </a:tcPr>
                </a:tc>
                <a:tc>
                  <a:txBody>
                    <a:bodyPr/>
                    <a:lstStyle/>
                    <a:p>
                      <a:pPr>
                        <a:defRPr sz="900" b="0">
                          <a:solidFill>
                            <a:srgbClr val="0B0E26"/>
                          </a:solidFill>
                          <a:latin typeface="Calibri"/>
                        </a:defRPr>
                      </a:pPr>
                      <a:r>
                        <a:t>Establish role-based access and quarterly recertification</a:t>
                      </a:r>
                    </a:p>
                  </a:txBody>
                  <a:tcPr marL="43200" marR="43200" marT="21600" marB="21600" anchor="ctr">
                    <a:solidFill>
                      <a:srgbClr val="FFFFFF"/>
                    </a:solidFill>
                  </a:tcPr>
                </a:tc>
                <a:tc>
                  <a:txBody>
                    <a:bodyPr/>
                    <a:lstStyle/>
                    <a:p>
                      <a:pPr>
                        <a:defRPr sz="900" b="0">
                          <a:solidFill>
                            <a:srgbClr val="0B0E26"/>
                          </a:solidFill>
                          <a:latin typeface="Calibri"/>
                        </a:defRPr>
                      </a:pPr>
                      <a:r>
                        <a:t>Short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r>
              <a:tr h="452000">
                <a:tc>
                  <a:txBody>
                    <a:bodyPr/>
                    <a:lstStyle/>
                    <a:p>
                      <a:pPr>
                        <a:defRPr sz="900" b="0">
                          <a:solidFill>
                            <a:srgbClr val="0B0E26"/>
                          </a:solidFill>
                          <a:latin typeface="Calibri"/>
                        </a:defRPr>
                      </a:pPr>
                      <a:r>
                        <a:t>I-2</a:t>
                      </a:r>
                    </a:p>
                  </a:txBody>
                  <a:tcPr marL="43200" marR="43200" marT="21600" marB="21600" anchor="ctr">
                    <a:solidFill>
                      <a:srgbClr val="F1F3F8"/>
                    </a:solidFill>
                  </a:tcPr>
                </a:tc>
                <a:tc>
                  <a:txBody>
                    <a:bodyPr/>
                    <a:lstStyle/>
                    <a:p>
                      <a:pPr>
                        <a:defRPr sz="900" b="0">
                          <a:solidFill>
                            <a:srgbClr val="0B0E26"/>
                          </a:solidFill>
                          <a:latin typeface="Calibri"/>
                        </a:defRPr>
                      </a:pPr>
                      <a:r>
                        <a:t>Stand up regulator-ready breach notification</a:t>
                      </a:r>
                    </a:p>
                  </a:txBody>
                  <a:tcPr marL="43200" marR="43200" marT="21600" marB="21600" anchor="ctr">
                    <a:solidFill>
                      <a:srgbClr val="F1F3F8"/>
                    </a:solidFill>
                  </a:tcPr>
                </a:tc>
                <a:tc>
                  <a:txBody>
                    <a:bodyPr/>
                    <a:lstStyle/>
                    <a:p>
                      <a:pPr>
                        <a:defRPr sz="900" b="0">
                          <a:solidFill>
                            <a:srgbClr val="0B0E26"/>
                          </a:solidFill>
                          <a:latin typeface="Calibri"/>
                        </a:defRPr>
                      </a:pPr>
                      <a:r>
                        <a:t>Short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r>
              <a:tr h="452000">
                <a:tc>
                  <a:txBody>
                    <a:bodyPr/>
                    <a:lstStyle/>
                    <a:p>
                      <a:pPr>
                        <a:defRPr sz="900" b="0">
                          <a:solidFill>
                            <a:srgbClr val="0B0E26"/>
                          </a:solidFill>
                          <a:latin typeface="Calibri"/>
                        </a:defRPr>
                      </a:pPr>
                      <a:r>
                        <a:t>I-3</a:t>
                      </a:r>
                    </a:p>
                  </a:txBody>
                  <a:tcPr marL="43200" marR="43200" marT="21600" marB="21600" anchor="ctr">
                    <a:solidFill>
                      <a:srgbClr val="FFFFFF"/>
                    </a:solidFill>
                  </a:tcPr>
                </a:tc>
                <a:tc>
                  <a:txBody>
                    <a:bodyPr/>
                    <a:lstStyle/>
                    <a:p>
                      <a:pPr>
                        <a:defRPr sz="900" b="0">
                          <a:solidFill>
                            <a:srgbClr val="0B0E26"/>
                          </a:solidFill>
                          <a:latin typeface="Calibri"/>
                        </a:defRPr>
                      </a:pPr>
                      <a:r>
                        <a:t>Introduce risk-based patch SLAs with board reporting</a:t>
                      </a:r>
                    </a:p>
                  </a:txBody>
                  <a:tcPr marL="43200" marR="43200" marT="21600" marB="21600" anchor="ctr">
                    <a:solidFill>
                      <a:srgbClr val="FFFFFF"/>
                    </a:solidFill>
                  </a:tcPr>
                </a:tc>
                <a:tc>
                  <a:txBody>
                    <a:bodyPr/>
                    <a:lstStyle/>
                    <a:p>
                      <a:pPr>
                        <a:defRPr sz="900" b="0">
                          <a:solidFill>
                            <a:srgbClr val="0B0E26"/>
                          </a:solidFill>
                          <a:latin typeface="Calibri"/>
                        </a:defRPr>
                      </a:pPr>
                      <a:r>
                        <a:t>Short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r>
              <a:tr h="452000">
                <a:tc>
                  <a:txBody>
                    <a:bodyPr/>
                    <a:lstStyle/>
                    <a:p>
                      <a:pPr>
                        <a:defRPr sz="900" b="0">
                          <a:solidFill>
                            <a:srgbClr val="0B0E26"/>
                          </a:solidFill>
                          <a:latin typeface="Calibri"/>
                        </a:defRPr>
                      </a:pPr>
                      <a:r>
                        <a:t>I-4</a:t>
                      </a:r>
                    </a:p>
                  </a:txBody>
                  <a:tcPr marL="43200" marR="43200" marT="21600" marB="21600" anchor="ctr">
                    <a:solidFill>
                      <a:srgbClr val="F1F3F8"/>
                    </a:solidFill>
                  </a:tcPr>
                </a:tc>
                <a:tc>
                  <a:txBody>
                    <a:bodyPr/>
                    <a:lstStyle/>
                    <a:p>
                      <a:pPr>
                        <a:defRPr sz="900" b="0">
                          <a:solidFill>
                            <a:srgbClr val="0B0E26"/>
                          </a:solidFill>
                          <a:latin typeface="Calibri"/>
                        </a:defRPr>
                      </a:pPr>
                      <a:r>
                        <a:t>Rebuild consent capture with versioned notices</a:t>
                      </a:r>
                    </a:p>
                  </a:txBody>
                  <a:tcPr marL="43200" marR="43200" marT="21600" marB="21600" anchor="ctr">
                    <a:solidFill>
                      <a:srgbClr val="F1F3F8"/>
                    </a:solidFill>
                  </a:tcPr>
                </a:tc>
                <a:tc>
                  <a:txBody>
                    <a:bodyPr/>
                    <a:lstStyle/>
                    <a:p>
                      <a:pPr>
                        <a:defRPr sz="900" b="0">
                          <a:solidFill>
                            <a:srgbClr val="0B0E26"/>
                          </a:solidFill>
                          <a:latin typeface="Calibri"/>
                        </a:defRPr>
                      </a:pPr>
                      <a:r>
                        <a:t>Short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r>
              <a:tr h="452000">
                <a:tc>
                  <a:txBody>
                    <a:bodyPr/>
                    <a:lstStyle/>
                    <a:p>
                      <a:pPr>
                        <a:defRPr sz="900" b="0">
                          <a:solidFill>
                            <a:srgbClr val="0B0E26"/>
                          </a:solidFill>
                          <a:latin typeface="Calibri"/>
                        </a:defRPr>
                      </a:pPr>
                      <a:r>
                        <a:t>I-5</a:t>
                      </a:r>
                    </a:p>
                  </a:txBody>
                  <a:tcPr marL="43200" marR="43200" marT="21600" marB="21600" anchor="ctr">
                    <a:solidFill>
                      <a:srgbClr val="FFFFFF"/>
                    </a:solidFill>
                  </a:tcPr>
                </a:tc>
                <a:tc>
                  <a:txBody>
                    <a:bodyPr/>
                    <a:lstStyle/>
                    <a:p>
                      <a:pPr>
                        <a:defRPr sz="900" b="0">
                          <a:solidFill>
                            <a:srgbClr val="0B0E26"/>
                          </a:solidFill>
                          <a:latin typeface="Calibri"/>
                        </a:defRPr>
                      </a:pPr>
                      <a:r>
                        <a:t>Contract and assess processors and suppliers</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r>
              <a:tr h="452000">
                <a:tc>
                  <a:txBody>
                    <a:bodyPr/>
                    <a:lstStyle/>
                    <a:p>
                      <a:pPr>
                        <a:defRPr sz="900" b="0">
                          <a:solidFill>
                            <a:srgbClr val="0B0E26"/>
                          </a:solidFill>
                          <a:latin typeface="Calibri"/>
                        </a:defRPr>
                      </a:pPr>
                      <a:r>
                        <a:t>I-6</a:t>
                      </a:r>
                    </a:p>
                  </a:txBody>
                  <a:tcPr marL="43200" marR="43200" marT="21600" marB="21600" anchor="ctr">
                    <a:solidFill>
                      <a:srgbClr val="F1F3F8"/>
                    </a:solidFill>
                  </a:tcPr>
                </a:tc>
                <a:tc>
                  <a:txBody>
                    <a:bodyPr/>
                    <a:lstStyle/>
                    <a:p>
                      <a:pPr>
                        <a:defRPr sz="900" b="0">
                          <a:solidFill>
                            <a:srgbClr val="0B0E26"/>
                          </a:solidFill>
                          <a:latin typeface="Calibri"/>
                        </a:defRPr>
                      </a:pPr>
                      <a:r>
                        <a:t>Automate retention and deletion for customer data</a:t>
                      </a:r>
                    </a:p>
                  </a:txBody>
                  <a:tcPr marL="43200" marR="43200" marT="21600" marB="21600" anchor="ctr">
                    <a:solidFill>
                      <a:srgbClr val="F1F3F8"/>
                    </a:solidFill>
                  </a:tcPr>
                </a:tc>
                <a:tc>
                  <a:txBody>
                    <a:bodyPr/>
                    <a:lstStyle/>
                    <a:p>
                      <a:pPr>
                        <a:defRPr sz="900" b="0">
                          <a:solidFill>
                            <a:srgbClr val="0B0E26"/>
                          </a:solidFill>
                          <a:latin typeface="Calibri"/>
                        </a:defRPr>
                      </a:pPr>
                      <a:r>
                        <a:t>Long</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r>
              <a:tr h="452000">
                <a:tc>
                  <a:txBody>
                    <a:bodyPr/>
                    <a:lstStyle/>
                    <a:p>
                      <a:pPr>
                        <a:defRPr sz="900" b="0">
                          <a:solidFill>
                            <a:srgbClr val="0B0E26"/>
                          </a:solidFill>
                          <a:latin typeface="Calibri"/>
                        </a:defRPr>
                      </a:pPr>
                      <a:r>
                        <a:t>I-7</a:t>
                      </a:r>
                    </a:p>
                  </a:txBody>
                  <a:tcPr marL="43200" marR="43200" marT="21600" marB="21600" anchor="ctr">
                    <a:solidFill>
                      <a:srgbClr val="FFFFFF"/>
                    </a:solidFill>
                  </a:tcPr>
                </a:tc>
                <a:tc>
                  <a:txBody>
                    <a:bodyPr/>
                    <a:lstStyle/>
                    <a:p>
                      <a:pPr>
                        <a:defRPr sz="900" b="0">
                          <a:solidFill>
                            <a:srgbClr val="0B0E26"/>
                          </a:solidFill>
                          <a:latin typeface="Calibri"/>
                        </a:defRPr>
                      </a:pPr>
                      <a:r>
                        <a:t>Test continuity for the payments platform</a:t>
                      </a:r>
                    </a:p>
                  </a:txBody>
                  <a:tcPr marL="43200" marR="43200" marT="21600" marB="21600" anchor="ctr">
                    <a:solidFill>
                      <a:srgbClr val="FFFFFF"/>
                    </a:solidFill>
                  </a:tcPr>
                </a:tc>
                <a:tc>
                  <a:txBody>
                    <a:bodyPr/>
                    <a:lstStyle/>
                    <a:p>
                      <a:pPr>
                        <a:defRPr sz="900" b="0">
                          <a:solidFill>
                            <a:srgbClr val="0B0E26"/>
                          </a:solidFill>
                          <a:latin typeface="Calibri"/>
                        </a:defRPr>
                      </a:pPr>
                      <a:r>
                        <a:t>Long</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r>
              <a:tr h="452000">
                <a:tc>
                  <a:txBody>
                    <a:bodyPr/>
                    <a:lstStyle/>
                    <a:p>
                      <a:pPr>
                        <a:defRPr sz="900" b="0">
                          <a:solidFill>
                            <a:srgbClr val="0B0E26"/>
                          </a:solidFill>
                          <a:latin typeface="Calibri"/>
                        </a:defRPr>
                      </a:pPr>
                      <a:r>
                        <a:t>I-8</a:t>
                      </a:r>
                    </a:p>
                  </a:txBody>
                  <a:tcPr marL="43200" marR="43200" marT="21600" marB="21600" anchor="ctr">
                    <a:solidFill>
                      <a:srgbClr val="F1F3F8"/>
                    </a:solidFill>
                  </a:tcPr>
                </a:tc>
                <a:tc>
                  <a:txBody>
                    <a:bodyPr/>
                    <a:lstStyle/>
                    <a:p>
                      <a:pPr>
                        <a:defRPr sz="900" b="0">
                          <a:solidFill>
                            <a:srgbClr val="0B0E26"/>
                          </a:solidFill>
                          <a:latin typeface="Calibri"/>
                        </a:defRPr>
                      </a:pPr>
                      <a:r>
                        <a:t>Track grievances against a published timeline</a:t>
                      </a:r>
                    </a:p>
                  </a:txBody>
                  <a:tcPr marL="43200" marR="43200" marT="21600" marB="21600" anchor="ctr">
                    <a:solidFill>
                      <a:srgbClr val="F1F3F8"/>
                    </a:solidFill>
                  </a:tcPr>
                </a:tc>
                <a:tc>
                  <a:txBody>
                    <a:bodyPr/>
                    <a:lstStyle/>
                    <a:p>
                      <a:pPr>
                        <a:defRPr sz="900" b="0">
                          <a:solidFill>
                            <a:srgbClr val="0B0E26"/>
                          </a:solidFill>
                          <a:latin typeface="Calibri"/>
                        </a:defRPr>
                      </a:pPr>
                      <a:r>
                        <a:t>Unscheduled</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r>
            </a:tbl>
          </a:graphicData>
        </a:graphic>
      </p:graphicFrame>
      <p:sp>
        <p:nvSpPr>
          <p:cNvPr id="32"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34"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15 of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India DPDPA rose 16 points and ISO 27001 rose 10 points since the last report</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100" b="0">
                <a:solidFill>
                  <a:srgbClr val="3A4060"/>
                </a:solidFill>
                <a:latin typeface="Calibri"/>
              </a:defRPr>
            </a:pPr>
            <a:r>
              <a:t>Compared with v3 (snapshot c0ffee12) for 01 Oct 2025 to 31 Dec 2025.</a:t>
            </a:r>
          </a:p>
        </p:txBody>
      </p:sp>
      <p:sp>
        <p:nvSpPr>
          <p:cNvPr id="6" name="TextBox 5"/>
          <p:cNvSpPr txBox="1"/>
          <p:nvPr/>
        </p:nvSpPr>
        <p:spPr>
          <a:xfrm>
            <a:off x="648000" y="1800000"/>
            <a:ext cx="6300000" cy="25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India DPDPA</a:t>
            </a:r>
          </a:p>
        </p:txBody>
      </p:sp>
      <p:sp>
        <p:nvSpPr>
          <p:cNvPr id="7" name="TextBox 6"/>
          <p:cNvSpPr txBox="1"/>
          <p:nvPr/>
        </p:nvSpPr>
        <p:spPr>
          <a:xfrm>
            <a:off x="648000" y="2196000"/>
            <a:ext cx="6300000" cy="25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ISO 27001</a:t>
            </a:r>
          </a:p>
        </p:txBody>
      </p:sp>
      <p:graphicFrame>
        <p:nvGraphicFramePr>
          <p:cNvPr id="8" name="Native evidence table"/>
          <p:cNvGraphicFramePr>
            <a:graphicFrameLocks noGrp="1"/>
          </p:cNvGraphicFramePr>
          <p:nvPr/>
        </p:nvGraphicFramePr>
        <p:xfrm>
          <a:off x="7380000" y="1728000"/>
          <a:ext cx="4284000" cy="1512000"/>
        </p:xfrm>
        <a:graphic>
          <a:graphicData uri="http://schemas.openxmlformats.org/drawingml/2006/table">
            <a:tbl>
              <a:tblPr firstRow="1" bandRow="1">
                <a:tableStyleId>{5C22544A-7EE6-4342-B048-85BDC9FD1C3A}</a:tableStyleId>
              </a:tblPr>
              <a:tblGrid>
                <a:gridCol w="1728000"/>
                <a:gridCol w="792000"/>
                <a:gridCol w="792000"/>
                <a:gridCol w="972000"/>
              </a:tblGrid>
              <a:tr h="504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Current</a:t>
                      </a:r>
                    </a:p>
                  </a:txBody>
                  <a:tcPr marL="43200" marR="43200" marT="21600" marB="21600" anchor="ctr">
                    <a:solidFill>
                      <a:srgbClr val="161A5C"/>
                    </a:solidFill>
                  </a:tcPr>
                </a:tc>
                <a:tc>
                  <a:txBody>
                    <a:bodyPr/>
                    <a:lstStyle/>
                    <a:p>
                      <a:pPr>
                        <a:defRPr sz="900" b="1">
                          <a:solidFill>
                            <a:srgbClr val="FFFFFF"/>
                          </a:solidFill>
                          <a:latin typeface="Calibri"/>
                        </a:defRPr>
                      </a:pPr>
                      <a:r>
                        <a:t>Prior</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r h="504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57.0%</a:t>
                      </a:r>
                    </a:p>
                  </a:txBody>
                  <a:tcPr marL="43200" marR="43200" marT="21600" marB="21600" anchor="ctr">
                    <a:solidFill>
                      <a:srgbClr val="FFFFFF"/>
                    </a:solidFill>
                  </a:tcPr>
                </a:tc>
                <a:tc>
                  <a:txBody>
                    <a:bodyPr/>
                    <a:lstStyle/>
                    <a:p>
                      <a:pPr>
                        <a:defRPr sz="900" b="0">
                          <a:solidFill>
                            <a:srgbClr val="0B0E26"/>
                          </a:solidFill>
                          <a:latin typeface="Calibri"/>
                        </a:defRPr>
                      </a:pPr>
                      <a:r>
                        <a:t>41.0%</a:t>
                      </a:r>
                    </a:p>
                  </a:txBody>
                  <a:tcPr marL="43200" marR="43200" marT="21600" marB="21600" anchor="ctr">
                    <a:solidFill>
                      <a:srgbClr val="FFFFFF"/>
                    </a:solidFill>
                  </a:tcPr>
                </a:tc>
                <a:tc>
                  <a:txBody>
                    <a:bodyPr/>
                    <a:lstStyle/>
                    <a:p>
                      <a:pPr>
                        <a:defRPr sz="900" b="0">
                          <a:solidFill>
                            <a:srgbClr val="0B0E26"/>
                          </a:solidFill>
                          <a:latin typeface="Calibri"/>
                        </a:defRPr>
                      </a:pPr>
                      <a:r>
                        <a:t>▲ 16.0 pts</a:t>
                      </a:r>
                    </a:p>
                  </a:txBody>
                  <a:tcPr marL="43200" marR="43200" marT="21600" marB="21600" anchor="ctr">
                    <a:solidFill>
                      <a:srgbClr val="FFFFFF"/>
                    </a:solidFill>
                  </a:tcPr>
                </a:tc>
              </a:tr>
              <a:tr h="50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68.6%</a:t>
                      </a:r>
                    </a:p>
                  </a:txBody>
                  <a:tcPr marL="43200" marR="43200" marT="21600" marB="21600" anchor="ctr">
                    <a:solidFill>
                      <a:srgbClr val="F1F3F8"/>
                    </a:solidFill>
                  </a:tcPr>
                </a:tc>
                <a:tc>
                  <a:txBody>
                    <a:bodyPr/>
                    <a:lstStyle/>
                    <a:p>
                      <a:pPr>
                        <a:defRPr sz="900" b="0">
                          <a:solidFill>
                            <a:srgbClr val="0B0E26"/>
                          </a:solidFill>
                          <a:latin typeface="Calibri"/>
                        </a:defRPr>
                      </a:pPr>
                      <a:r>
                        <a:t>58.5%</a:t>
                      </a:r>
                    </a:p>
                  </a:txBody>
                  <a:tcPr marL="43200" marR="43200" marT="21600" marB="21600" anchor="ctr">
                    <a:solidFill>
                      <a:srgbClr val="F1F3F8"/>
                    </a:solidFill>
                  </a:tcPr>
                </a:tc>
                <a:tc>
                  <a:txBody>
                    <a:bodyPr/>
                    <a:lstStyle/>
                    <a:p>
                      <a:pPr>
                        <a:defRPr sz="900" b="0">
                          <a:solidFill>
                            <a:srgbClr val="0B0E26"/>
                          </a:solidFill>
                          <a:latin typeface="Calibri"/>
                        </a:defRPr>
                      </a:pPr>
                      <a:r>
                        <a:t>▲ 10.1 pts</a:t>
                      </a:r>
                    </a:p>
                  </a:txBody>
                  <a:tcPr marL="43200" marR="43200" marT="21600" marB="21600" anchor="ctr">
                    <a:solidFill>
                      <a:srgbClr val="F1F3F8"/>
                    </a:solidFill>
                  </a:tcPr>
                </a:tc>
              </a:tr>
            </a:tbl>
          </a:graphicData>
        </a:graphic>
      </p:graphicFrame>
      <p:graphicFrame>
        <p:nvGraphicFramePr>
          <p:cNvPr id="9" name="Native evidence table"/>
          <p:cNvGraphicFramePr>
            <a:graphicFrameLocks noGrp="1"/>
          </p:cNvGraphicFramePr>
          <p:nvPr/>
        </p:nvGraphicFramePr>
        <p:xfrm>
          <a:off x="7380000" y="3672000"/>
          <a:ext cx="4284000" cy="2088000"/>
        </p:xfrm>
        <a:graphic>
          <a:graphicData uri="http://schemas.openxmlformats.org/drawingml/2006/table">
            <a:tbl>
              <a:tblPr firstRow="1" bandRow="1">
                <a:tableStyleId>{5C22544A-7EE6-4342-B048-85BDC9FD1C3A}</a:tableStyleId>
              </a:tblPr>
              <a:tblGrid>
                <a:gridCol w="1224000"/>
                <a:gridCol w="1080000"/>
                <a:gridCol w="1080000"/>
                <a:gridCol w="900000"/>
              </a:tblGrid>
              <a:tr h="348000">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Prior outcome</a:t>
                      </a:r>
                    </a:p>
                  </a:txBody>
                  <a:tcPr marL="43200" marR="43200" marT="21600" marB="21600" anchor="ctr">
                    <a:solidFill>
                      <a:srgbClr val="161A5C"/>
                    </a:solidFill>
                  </a:tcPr>
                </a:tc>
                <a:tc>
                  <a:txBody>
                    <a:bodyPr/>
                    <a:lstStyle/>
                    <a:p>
                      <a:pPr>
                        <a:defRPr sz="900" b="1">
                          <a:solidFill>
                            <a:srgbClr val="FFFFFF"/>
                          </a:solidFill>
                          <a:latin typeface="Calibri"/>
                        </a:defRPr>
                      </a:pPr>
                      <a:r>
                        <a:t>Current outcome</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r h="348000">
                <a:tc>
                  <a:txBody>
                    <a:bodyPr/>
                    <a:lstStyle/>
                    <a:p>
                      <a:pPr>
                        <a:defRPr sz="900" b="0">
                          <a:solidFill>
                            <a:srgbClr val="0B0E26"/>
                          </a:solidFill>
                          <a:latin typeface="Calibri"/>
                        </a:defRPr>
                      </a:pPr>
                      <a:r>
                        <a:t>CH2.CONSENT.2</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Improved</a:t>
                      </a:r>
                    </a:p>
                  </a:txBody>
                  <a:tcPr marL="43200" marR="43200" marT="21600" marB="21600" anchor="ctr">
                    <a:solidFill>
                      <a:srgbClr val="FFFFFF"/>
                    </a:solidFill>
                  </a:tcPr>
                </a:tc>
              </a:tr>
              <a:tr h="348000">
                <a:tc>
                  <a:txBody>
                    <a:bodyPr/>
                    <a:lstStyle/>
                    <a:p>
                      <a:pPr>
                        <a:defRPr sz="900" b="0">
                          <a:solidFill>
                            <a:srgbClr val="0B0E26"/>
                          </a:solidFill>
                          <a:latin typeface="Calibri"/>
                        </a:defRPr>
                      </a:pPr>
                      <a:r>
                        <a:t>CH2.CONSENT.4</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Improved</a:t>
                      </a:r>
                    </a:p>
                  </a:txBody>
                  <a:tcPr marL="43200" marR="43200" marT="21600" marB="21600" anchor="ctr">
                    <a:solidFill>
                      <a:srgbClr val="F1F3F8"/>
                    </a:solidFill>
                  </a:tcPr>
                </a:tc>
              </a:tr>
              <a:tr h="348000">
                <a:tc>
                  <a:txBody>
                    <a:bodyPr/>
                    <a:lstStyle/>
                    <a:p>
                      <a:pPr>
                        <a:defRPr sz="900" b="0">
                          <a:solidFill>
                            <a:srgbClr val="0B0E26"/>
                          </a:solidFill>
                          <a:latin typeface="Calibri"/>
                        </a:defRPr>
                      </a:pPr>
                      <a:r>
                        <a:t>CH2.CONSENT.5</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Improved</a:t>
                      </a:r>
                    </a:p>
                  </a:txBody>
                  <a:tcPr marL="43200" marR="43200" marT="21600" marB="21600" anchor="ctr">
                    <a:solidFill>
                      <a:srgbClr val="FFFFFF"/>
                    </a:solidFill>
                  </a:tcPr>
                </a:tc>
              </a:tr>
              <a:tr h="348000">
                <a:tc>
                  <a:txBody>
                    <a:bodyPr/>
                    <a:lstStyle/>
                    <a:p>
                      <a:pPr>
                        <a:defRPr sz="900" b="0">
                          <a:solidFill>
                            <a:srgbClr val="0B0E26"/>
                          </a:solidFill>
                          <a:latin typeface="Calibri"/>
                        </a:defRPr>
                      </a:pPr>
                      <a:r>
                        <a:t>ISO.A5.18</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Regressed</a:t>
                      </a:r>
                    </a:p>
                  </a:txBody>
                  <a:tcPr marL="43200" marR="43200" marT="21600" marB="21600" anchor="ctr">
                    <a:solidFill>
                      <a:srgbClr val="F1F3F8"/>
                    </a:solidFill>
                  </a:tcPr>
                </a:tc>
              </a:tr>
              <a:tr h="348000">
                <a:tc>
                  <a:txBody>
                    <a:bodyPr/>
                    <a:lstStyle/>
                    <a:p>
                      <a:pPr>
                        <a:defRPr sz="900" b="0">
                          <a:solidFill>
                            <a:srgbClr val="0B0E26"/>
                          </a:solidFill>
                          <a:latin typeface="Calibri"/>
                        </a:defRPr>
                      </a:pPr>
                      <a:r>
                        <a:t>ISO.A8.8</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Regressed</a:t>
                      </a:r>
                    </a:p>
                  </a:txBody>
                  <a:tcPr marL="43200" marR="43200" marT="21600" marB="21600" anchor="ctr">
                    <a:solidFill>
                      <a:srgbClr val="FFFFFF"/>
                    </a:solidFill>
                  </a:tcPr>
                </a:tc>
              </a:tr>
            </a:tbl>
          </a:graphicData>
        </a:graphic>
      </p:graphicFrame>
      <p:sp>
        <p:nvSpPr>
          <p:cNvPr id="10" name="TextBox 9"/>
          <p:cNvSpPr txBox="1"/>
          <p:nvPr/>
        </p:nvSpPr>
        <p:spPr>
          <a:xfrm>
            <a:off x="648000" y="5760000"/>
            <a:ext cx="6300000" cy="648000"/>
          </a:xfrm>
          <a:prstGeom prst="rect">
            <a:avLst/>
          </a:prstGeom>
          <a:noFill/>
          <a:ln>
            <a:noFill/>
          </a:ln>
        </p:spPr>
        <p:txBody>
          <a:bodyPr wrap="square" anchor="t" lIns="43200" rIns="43200" tIns="25200" bIns="25200">
            <a:spAutoFit/>
          </a:bodyPr>
          <a:lstStyle/>
          <a:p>
            <a:pPr>
              <a:defRPr sz="900" b="0">
                <a:solidFill>
                  <a:srgbClr val="3A4060"/>
                </a:solidFill>
                <a:latin typeface="Calibri"/>
              </a:defRPr>
            </a:pPr>
            <a:r>
              <a:t>India DPDPA · Current 57.0% · Prior 41.0% · Change +16.0 points</a:t>
            </a:r>
          </a:p>
          <a:p>
            <a:pPr>
              <a:defRPr sz="900" b="0">
                <a:solidFill>
                  <a:srgbClr val="3A4060"/>
                </a:solidFill>
                <a:latin typeface="Calibri"/>
              </a:defRPr>
            </a:pPr>
            <a:r>
              <a:t>Improved (9) · Regressed (2) · Newly assessed (3) · No longer assessed (0)</a:t>
            </a:r>
          </a:p>
          <a:p>
            <a:pPr>
              <a:defRPr sz="900" b="0">
                <a:solidFill>
                  <a:srgbClr val="3A4060"/>
                </a:solidFill>
                <a:latin typeface="Calibri"/>
              </a:defRPr>
            </a:pPr>
            <a:r>
              <a:t>Changed requirements: CH2.CONSENT.2, CH2.CONSENT.4, CH2.CONSENT.5</a:t>
            </a:r>
          </a:p>
          <a:p>
            <a:pPr>
              <a:defRPr sz="900" b="0">
                <a:solidFill>
                  <a:srgbClr val="3A4060"/>
                </a:solidFill>
                <a:latin typeface="Calibri"/>
              </a:defRPr>
            </a:pPr>
            <a:r>
              <a:t>ISO 27001 · Current 68.6% · Prior 58.5% · Change +10.1 points</a:t>
            </a:r>
          </a:p>
          <a:p>
            <a:pPr>
              <a:defRPr sz="900" b="0">
                <a:solidFill>
                  <a:srgbClr val="3A4060"/>
                </a:solidFill>
                <a:latin typeface="Calibri"/>
              </a:defRPr>
            </a:pPr>
            <a:r>
              <a:t>Improved (6) · Regressed (3) · Newly assessed (0) · No longer assessed (0)</a:t>
            </a:r>
          </a:p>
          <a:p>
            <a:pPr>
              <a:defRPr sz="900" b="0">
                <a:solidFill>
                  <a:srgbClr val="3A4060"/>
                </a:solidFill>
                <a:latin typeface="Calibri"/>
              </a:defRPr>
            </a:pPr>
            <a:r>
              <a:t>Changed requirements: ISO.A5.18, ISO.A8.8</a:t>
            </a:r>
          </a:p>
        </p:txBody>
      </p:sp>
      <p:sp>
        <p:nvSpPr>
          <p:cNvPr id="11"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3"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16 of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15 requirements could not be concluded</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Not-concluded requirements are left out of scores, not counted as failures.</a:t>
            </a:r>
          </a:p>
        </p:txBody>
      </p:sp>
      <p:graphicFrame>
        <p:nvGraphicFramePr>
          <p:cNvPr id="6" name="Native evidence table"/>
          <p:cNvGraphicFramePr>
            <a:graphicFrameLocks noGrp="1"/>
          </p:cNvGraphicFramePr>
          <p:nvPr/>
        </p:nvGraphicFramePr>
        <p:xfrm>
          <a:off x="504000" y="1728000"/>
          <a:ext cx="4140000" cy="1440000"/>
        </p:xfrm>
        <a:graphic>
          <a:graphicData uri="http://schemas.openxmlformats.org/drawingml/2006/table">
            <a:tbl>
              <a:tblPr firstRow="1" bandRow="1">
                <a:tableStyleId>{5C22544A-7EE6-4342-B048-85BDC9FD1C3A}</a:tableStyleId>
              </a:tblPr>
              <a:tblGrid>
                <a:gridCol w="3060000"/>
                <a:gridCol w="1080000"/>
              </a:tblGrid>
              <a:tr h="480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Not concluded</a:t>
                      </a:r>
                    </a:p>
                  </a:txBody>
                  <a:tcPr marL="43200" marR="43200" marT="21600" marB="21600" anchor="ctr">
                    <a:solidFill>
                      <a:srgbClr val="161A5C"/>
                    </a:solidFill>
                  </a:tcPr>
                </a:tc>
              </a:tr>
              <a:tr h="480000">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5</a:t>
                      </a:r>
                    </a:p>
                  </a:txBody>
                  <a:tcPr marL="43200" marR="43200" marT="21600" marB="21600" anchor="ctr">
                    <a:solidFill>
                      <a:srgbClr val="FFFFFF"/>
                    </a:solidFill>
                  </a:tcPr>
                </a:tc>
              </a:tr>
              <a:tr h="480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10</a:t>
                      </a:r>
                    </a:p>
                  </a:txBody>
                  <a:tcPr marL="43200" marR="43200" marT="21600" marB="21600" anchor="ctr">
                    <a:solidFill>
                      <a:srgbClr val="F1F3F8"/>
                    </a:solidFill>
                  </a:tcPr>
                </a:tc>
              </a:tr>
            </a:tbl>
          </a:graphicData>
        </a:graphic>
      </p:graphicFrame>
      <p:graphicFrame>
        <p:nvGraphicFramePr>
          <p:cNvPr id="7" name="Native evidence table"/>
          <p:cNvGraphicFramePr>
            <a:graphicFrameLocks noGrp="1"/>
          </p:cNvGraphicFramePr>
          <p:nvPr/>
        </p:nvGraphicFramePr>
        <p:xfrm>
          <a:off x="504000" y="3456000"/>
          <a:ext cx="4140000" cy="2304000"/>
        </p:xfrm>
        <a:graphic>
          <a:graphicData uri="http://schemas.openxmlformats.org/drawingml/2006/table">
            <a:tbl>
              <a:tblPr firstRow="1" bandRow="1">
                <a:tableStyleId>{5C22544A-7EE6-4342-B048-85BDC9FD1C3A}</a:tableStyleId>
              </a:tblPr>
              <a:tblGrid>
                <a:gridCol w="2952000"/>
                <a:gridCol w="1188000"/>
              </a:tblGrid>
              <a:tr h="460800">
                <a:tc>
                  <a:txBody>
                    <a:bodyPr/>
                    <a:lstStyle/>
                    <a:p>
                      <a:pPr>
                        <a:defRPr sz="900" b="1">
                          <a:solidFill>
                            <a:srgbClr val="FFFFFF"/>
                          </a:solidFill>
                          <a:latin typeface="Calibri"/>
                        </a:defRPr>
                      </a:pPr>
                      <a:r>
                        <a:t>Open evidence request</a:t>
                      </a:r>
                    </a:p>
                  </a:txBody>
                  <a:tcPr marL="43200" marR="43200" marT="21600" marB="21600" anchor="ctr">
                    <a:solidFill>
                      <a:srgbClr val="161A5C"/>
                    </a:solidFill>
                  </a:tcPr>
                </a:tc>
                <a:tc>
                  <a:txBody>
                    <a:bodyPr/>
                    <a:lstStyle/>
                    <a:p>
                      <a:pPr>
                        <a:defRPr sz="900" b="1">
                          <a:solidFill>
                            <a:srgbClr val="FFFFFF"/>
                          </a:solidFill>
                          <a:latin typeface="Calibri"/>
                        </a:defRPr>
                      </a:pPr>
                      <a:r>
                        <a:t>Type</a:t>
                      </a:r>
                    </a:p>
                  </a:txBody>
                  <a:tcPr marL="43200" marR="43200" marT="21600" marB="21600" anchor="ctr">
                    <a:solidFill>
                      <a:srgbClr val="161A5C"/>
                    </a:solidFill>
                  </a:tcPr>
                </a:tc>
              </a:tr>
              <a:tr h="460800">
                <a:tc>
                  <a:txBody>
                    <a:bodyPr/>
                    <a:lstStyle/>
                    <a:p>
                      <a:pPr>
                        <a:defRPr sz="900" b="0">
                          <a:solidFill>
                            <a:srgbClr val="0B0E26"/>
                          </a:solidFill>
                          <a:latin typeface="Calibri"/>
                        </a:defRPr>
                      </a:pPr>
                      <a:r>
                        <a:t>RFI-01</a:t>
                      </a:r>
                    </a:p>
                  </a:txBody>
                  <a:tcPr marL="43200" marR="43200" marT="21600" marB="21600" anchor="ctr">
                    <a:solidFill>
                      <a:srgbClr val="FFFFFF"/>
                    </a:solidFill>
                  </a:tcPr>
                </a:tc>
                <a:tc>
                  <a:txBody>
                    <a:bodyPr/>
                    <a:lstStyle/>
                    <a:p>
                      <a:pPr>
                        <a:defRPr sz="900" b="0">
                          <a:solidFill>
                            <a:srgbClr val="0B0E26"/>
                          </a:solidFill>
                          <a:latin typeface="Calibri"/>
                        </a:defRPr>
                      </a:pPr>
                      <a:r>
                        <a:t>Required</a:t>
                      </a:r>
                    </a:p>
                  </a:txBody>
                  <a:tcPr marL="43200" marR="43200" marT="21600" marB="21600" anchor="ctr">
                    <a:solidFill>
                      <a:srgbClr val="FFFFFF"/>
                    </a:solidFill>
                  </a:tcPr>
                </a:tc>
              </a:tr>
              <a:tr h="460800">
                <a:tc>
                  <a:txBody>
                    <a:bodyPr/>
                    <a:lstStyle/>
                    <a:p>
                      <a:pPr>
                        <a:defRPr sz="900" b="0">
                          <a:solidFill>
                            <a:srgbClr val="0B0E26"/>
                          </a:solidFill>
                          <a:latin typeface="Calibri"/>
                        </a:defRPr>
                      </a:pPr>
                      <a:r>
                        <a:t>RFI-02</a:t>
                      </a:r>
                    </a:p>
                  </a:txBody>
                  <a:tcPr marL="43200" marR="43200" marT="21600" marB="21600" anchor="ctr">
                    <a:solidFill>
                      <a:srgbClr val="F1F3F8"/>
                    </a:solidFill>
                  </a:tcPr>
                </a:tc>
                <a:tc>
                  <a:txBody>
                    <a:bodyPr/>
                    <a:lstStyle/>
                    <a:p>
                      <a:pPr>
                        <a:defRPr sz="900" b="0">
                          <a:solidFill>
                            <a:srgbClr val="0B0E26"/>
                          </a:solidFill>
                          <a:latin typeface="Calibri"/>
                        </a:defRPr>
                      </a:pPr>
                      <a:r>
                        <a:t>Required</a:t>
                      </a:r>
                    </a:p>
                  </a:txBody>
                  <a:tcPr marL="43200" marR="43200" marT="21600" marB="21600" anchor="ctr">
                    <a:solidFill>
                      <a:srgbClr val="F1F3F8"/>
                    </a:solidFill>
                  </a:tcPr>
                </a:tc>
              </a:tr>
              <a:tr h="460800">
                <a:tc>
                  <a:txBody>
                    <a:bodyPr/>
                    <a:lstStyle/>
                    <a:p>
                      <a:pPr>
                        <a:defRPr sz="900" b="0">
                          <a:solidFill>
                            <a:srgbClr val="0B0E26"/>
                          </a:solidFill>
                          <a:latin typeface="Calibri"/>
                        </a:defRPr>
                      </a:pPr>
                      <a:r>
                        <a:t>RFI-03</a:t>
                      </a:r>
                    </a:p>
                  </a:txBody>
                  <a:tcPr marL="43200" marR="43200" marT="21600" marB="21600" anchor="ctr">
                    <a:solidFill>
                      <a:srgbClr val="FFFFFF"/>
                    </a:solidFill>
                  </a:tcPr>
                </a:tc>
                <a:tc>
                  <a:txBody>
                    <a:bodyPr/>
                    <a:lstStyle/>
                    <a:p>
                      <a:pPr>
                        <a:defRPr sz="900" b="0">
                          <a:solidFill>
                            <a:srgbClr val="0B0E26"/>
                          </a:solidFill>
                          <a:latin typeface="Calibri"/>
                        </a:defRPr>
                      </a:pPr>
                      <a:r>
                        <a:t>Required</a:t>
                      </a:r>
                    </a:p>
                  </a:txBody>
                  <a:tcPr marL="43200" marR="43200" marT="21600" marB="21600" anchor="ctr">
                    <a:solidFill>
                      <a:srgbClr val="FFFFFF"/>
                    </a:solidFill>
                  </a:tcPr>
                </a:tc>
              </a:tr>
              <a:tr h="460800">
                <a:tc>
                  <a:txBody>
                    <a:bodyPr/>
                    <a:lstStyle/>
                    <a:p>
                      <a:pPr>
                        <a:defRPr sz="900" b="0">
                          <a:solidFill>
                            <a:srgbClr val="0B0E26"/>
                          </a:solidFill>
                          <a:latin typeface="Calibri"/>
                        </a:defRPr>
                      </a:pPr>
                      <a:r>
                        <a:t>RFI-04</a:t>
                      </a:r>
                    </a:p>
                  </a:txBody>
                  <a:tcPr marL="43200" marR="43200" marT="21600" marB="21600" anchor="ctr">
                    <a:solidFill>
                      <a:srgbClr val="F1F3F8"/>
                    </a:solidFill>
                  </a:tcPr>
                </a:tc>
                <a:tc>
                  <a:txBody>
                    <a:bodyPr/>
                    <a:lstStyle/>
                    <a:p>
                      <a:pPr>
                        <a:defRPr sz="900" b="0">
                          <a:solidFill>
                            <a:srgbClr val="0B0E26"/>
                          </a:solidFill>
                          <a:latin typeface="Calibri"/>
                        </a:defRPr>
                      </a:pPr>
                      <a:r>
                        <a:t>Recommended</a:t>
                      </a:r>
                    </a:p>
                  </a:txBody>
                  <a:tcPr marL="43200" marR="43200" marT="21600" marB="21600" anchor="ctr">
                    <a:solidFill>
                      <a:srgbClr val="F1F3F8"/>
                    </a:solidFill>
                  </a:tcPr>
                </a:tc>
              </a:tr>
            </a:tbl>
          </a:graphicData>
        </a:graphic>
      </p:graphicFrame>
      <p:sp>
        <p:nvSpPr>
          <p:cNvPr id="8" name="TextBox 7"/>
          <p:cNvSpPr txBox="1"/>
          <p:nvPr/>
        </p:nvSpPr>
        <p:spPr>
          <a:xfrm>
            <a:off x="5220000" y="1728000"/>
            <a:ext cx="6444000" cy="403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Limitations</a:t>
            </a:r>
          </a:p>
          <a:p>
            <a:pPr>
              <a:defRPr sz="1100" b="0">
                <a:solidFill>
                  <a:srgbClr val="3A4060"/>
                </a:solidFill>
                <a:latin typeface="Calibri"/>
              </a:defRPr>
            </a:pPr>
            <a:r>
              <a:t>• This assessment does not include technical penetration testing, source code review, network security assessment, or any form of independent technical verification. Where the selected framework(s) include physical or environmental controls, findings on those controls are based on disclosed information and submitted documents, not on physical inspection or testing.</a:t>
            </a:r>
          </a:p>
          <a:p>
            <a:pPr>
              <a:defRPr sz="1100" b="0">
                <a:solidFill>
                  <a:srgbClr val="3A4060"/>
                </a:solidFill>
                <a:latin typeface="Calibri"/>
              </a:defRPr>
            </a:pPr>
            <a:r>
              <a:t>• All findings reflect the information provided to the assessor at the time of the assessment. The assessor has not independently verified the accuracy or completeness of information provided. Material omissions or inaccuracies in disclosed information would affect the reliability of findings.</a:t>
            </a:r>
          </a:p>
          <a:p>
            <a:pPr>
              <a:defRPr sz="1100" b="0">
                <a:solidFill>
                  <a:srgbClr val="3A4060"/>
                </a:solidFill>
                <a:latin typeface="Calibri"/>
              </a:defRPr>
            </a:pPr>
            <a:r>
              <a:t>• For requirements rated as Non-Compliant or Partially Compliant at a Critical or High risk level, independent verification by qualified legal counsel or a certified privacy professional (for INDIA DPDPA requirements), or by a qualified information security auditor (for ISO 27001), is strongly recommended before relying on those findings for regulatory submissions, board reporting, or contractual representations.</a:t>
            </a:r>
          </a:p>
          <a:p>
            <a:pPr>
              <a:defRPr sz="1100" b="0">
                <a:solidFill>
                  <a:srgbClr val="3A4060"/>
                </a:solidFill>
                <a:latin typeface="Calibri"/>
              </a:defRPr>
            </a:pPr>
            <a:r>
              <a:t>• Most DPDPA 2023 obligations on Data Fiduciaries, and its penalty provisions, commence in mid-May 2027 (DPDP Rules 2025, G.S.R. 846(E)); findings against those obligations are a readiness assessment, not a determination of current non-compliance. Until then, obligations under the Information Technology Act, 2000, s.43A and the SPDI Rules, 2011 continue to apply and were not assessed.</a:t>
            </a:r>
          </a:p>
        </p:txBody>
      </p:sp>
      <p:sp>
        <p:nvSpPr>
          <p:cNvPr id="9"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1"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17 of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Sign-off</a:t>
            </a:r>
          </a:p>
        </p:txBody>
      </p:sp>
      <p:graphicFrame>
        <p:nvGraphicFramePr>
          <p:cNvPr id="5" name="Native evidence table"/>
          <p:cNvGraphicFramePr>
            <a:graphicFrameLocks noGrp="1"/>
          </p:cNvGraphicFramePr>
          <p:nvPr/>
        </p:nvGraphicFramePr>
        <p:xfrm>
          <a:off x="504000" y="1800000"/>
          <a:ext cx="6480000" cy="2088000"/>
        </p:xfrm>
        <a:graphic>
          <a:graphicData uri="http://schemas.openxmlformats.org/drawingml/2006/table">
            <a:tbl>
              <a:tblPr firstRow="1" bandRow="1">
                <a:tableStyleId>{5C22544A-7EE6-4342-B048-85BDC9FD1C3A}</a:tableStyleId>
              </a:tblPr>
              <a:tblGrid>
                <a:gridCol w="2700000"/>
                <a:gridCol w="3780000"/>
              </a:tblGrid>
              <a:tr h="417600">
                <a:tc>
                  <a:txBody>
                    <a:bodyPr/>
                    <a:lstStyle/>
                    <a:p>
                      <a:pPr>
                        <a:defRPr sz="900" b="1">
                          <a:solidFill>
                            <a:srgbClr val="FFFFFF"/>
                          </a:solidFill>
                          <a:latin typeface="Calibri"/>
                        </a:defRPr>
                      </a:pPr>
                      <a:r>
                        <a:t>Sign-off role</a:t>
                      </a:r>
                    </a:p>
                  </a:txBody>
                  <a:tcPr marL="43200" marR="43200" marT="21600" marB="21600" anchor="ctr">
                    <a:solidFill>
                      <a:srgbClr val="161A5C"/>
                    </a:solidFill>
                  </a:tcPr>
                </a:tc>
                <a:tc>
                  <a:txBody>
                    <a:bodyPr/>
                    <a:lstStyle/>
                    <a:p>
                      <a:pPr>
                        <a:defRPr sz="900" b="1">
                          <a:solidFill>
                            <a:srgbClr val="FFFFFF"/>
                          </a:solidFill>
                          <a:latin typeface="Calibri"/>
                        </a:defRPr>
                      </a:pPr>
                      <a:r>
                        <a:t>Recorded value</a:t>
                      </a:r>
                    </a:p>
                  </a:txBody>
                  <a:tcPr marL="43200" marR="43200" marT="21600" marB="21600" anchor="ctr">
                    <a:solidFill>
                      <a:srgbClr val="161A5C"/>
                    </a:solidFill>
                  </a:tcPr>
                </a:tc>
              </a:tr>
              <a:tr h="417600">
                <a:tc>
                  <a:txBody>
                    <a:bodyPr/>
                    <a:lstStyle/>
                    <a:p>
                      <a:pPr>
                        <a:defRPr sz="900" b="0">
                          <a:solidFill>
                            <a:srgbClr val="0B0E26"/>
                          </a:solidFill>
                          <a:latin typeface="Calibri"/>
                        </a:defRPr>
                      </a:pPr>
                      <a:r>
                        <a:t>Prepared by</a:t>
                      </a:r>
                    </a:p>
                  </a:txBody>
                  <a:tcPr marL="43200" marR="43200" marT="21600" marB="21600" anchor="ctr">
                    <a:solidFill>
                      <a:srgbClr val="FFFFFF"/>
                    </a:solidFill>
                  </a:tcPr>
                </a:tc>
                <a:tc>
                  <a:txBody>
                    <a:bodyPr/>
                    <a:lstStyle/>
                    <a:p>
                      <a:pPr>
                        <a:defRPr sz="900" b="0">
                          <a:solidFill>
                            <a:srgbClr val="0B0E26"/>
                          </a:solidFill>
                          <a:latin typeface="Calibri"/>
                        </a:defRPr>
                      </a:pPr>
                      <a:r>
                        <a:t>Priya Sharma</a:t>
                      </a:r>
                    </a:p>
                  </a:txBody>
                  <a:tcPr marL="43200" marR="43200" marT="21600" marB="21600" anchor="ctr">
                    <a:solidFill>
                      <a:srgbClr val="FFFFFF"/>
                    </a:solidFill>
                  </a:tcPr>
                </a:tc>
              </a:tr>
              <a:tr h="417600">
                <a:tc>
                  <a:txBody>
                    <a:bodyPr/>
                    <a:lstStyle/>
                    <a:p>
                      <a:pPr>
                        <a:defRPr sz="900" b="0">
                          <a:solidFill>
                            <a:srgbClr val="0B0E26"/>
                          </a:solidFill>
                          <a:latin typeface="Calibri"/>
                        </a:defRPr>
                      </a:pPr>
                      <a:r>
                        <a:t>Reviewed by</a:t>
                      </a:r>
                    </a:p>
                  </a:txBody>
                  <a:tcPr marL="43200" marR="43200" marT="21600" marB="21600" anchor="ctr">
                    <a:solidFill>
                      <a:srgbClr val="F1F3F8"/>
                    </a:solidFill>
                  </a:tcPr>
                </a:tc>
                <a:tc>
                  <a:txBody>
                    <a:bodyPr/>
                    <a:lstStyle/>
                    <a:p>
                      <a:pPr>
                        <a:defRPr sz="900" b="0">
                          <a:solidFill>
                            <a:srgbClr val="0B0E26"/>
                          </a:solidFill>
                          <a:latin typeface="Calibri"/>
                        </a:defRPr>
                      </a:pPr>
                      <a:r>
                        <a:t>Ravi Menon</a:t>
                      </a:r>
                    </a:p>
                  </a:txBody>
                  <a:tcPr marL="43200" marR="43200" marT="21600" marB="21600" anchor="ctr">
                    <a:solidFill>
                      <a:srgbClr val="F1F3F8"/>
                    </a:solidFill>
                  </a:tcPr>
                </a:tc>
              </a:tr>
              <a:tr h="417600">
                <a:tc>
                  <a:txBody>
                    <a:bodyPr/>
                    <a:lstStyle/>
                    <a:p>
                      <a:pPr>
                        <a:defRPr sz="900" b="0">
                          <a:solidFill>
                            <a:srgbClr val="0B0E26"/>
                          </a:solidFill>
                          <a:latin typeface="Calibri"/>
                        </a:defRPr>
                      </a:pPr>
                      <a:r>
                        <a:t>Released for reporting</a:t>
                      </a:r>
                    </a:p>
                  </a:txBody>
                  <a:tcPr marL="43200" marR="43200" marT="21600" marB="21600" anchor="ctr">
                    <a:solidFill>
                      <a:srgbClr val="FFFFFF"/>
                    </a:solidFill>
                  </a:tcPr>
                </a:tc>
                <a:tc>
                  <a:txBody>
                    <a:bodyPr/>
                    <a:lstStyle/>
                    <a:p>
                      <a:pPr>
                        <a:defRPr sz="900" b="0">
                          <a:solidFill>
                            <a:srgbClr val="0B0E26"/>
                          </a:solidFill>
                          <a:latin typeface="Calibri"/>
                        </a:defRPr>
                      </a:pPr>
                      <a:r>
                        <a:t>Priya Sharma</a:t>
                      </a:r>
                    </a:p>
                  </a:txBody>
                  <a:tcPr marL="43200" marR="43200" marT="21600" marB="21600" anchor="ctr">
                    <a:solidFill>
                      <a:srgbClr val="FFFFFF"/>
                    </a:solidFill>
                  </a:tcPr>
                </a:tc>
              </a:tr>
              <a:tr h="417600">
                <a:tc>
                  <a:txBody>
                    <a:bodyPr/>
                    <a:lstStyle/>
                    <a:p>
                      <a:pPr>
                        <a:defRPr sz="900" b="0">
                          <a:solidFill>
                            <a:srgbClr val="0B0E26"/>
                          </a:solidFill>
                          <a:latin typeface="Calibri"/>
                        </a:defRPr>
                      </a:pPr>
                      <a:r>
                        <a:t>Issue record</a:t>
                      </a:r>
                    </a:p>
                  </a:txBody>
                  <a:tcPr marL="43200" marR="43200" marT="21600" marB="21600" anchor="ctr">
                    <a:solidFill>
                      <a:srgbClr val="F1F3F8"/>
                    </a:solidFill>
                  </a:tcPr>
                </a:tc>
                <a:tc>
                  <a:txBody>
                    <a:bodyPr/>
                    <a:lstStyle/>
                    <a:p>
                      <a:pPr>
                        <a:defRPr sz="900" b="0">
                          <a:solidFill>
                            <a:srgbClr val="0B0E26"/>
                          </a:solidFill>
                          <a:latin typeface="Calibri"/>
                        </a:defRPr>
                      </a:pPr>
                      <a:r>
                        <a:t>Version history</a:t>
                      </a:r>
                    </a:p>
                  </a:txBody>
                  <a:tcPr marL="43200" marR="43200" marT="21600" marB="21600" anchor="ctr">
                    <a:solidFill>
                      <a:srgbClr val="F1F3F8"/>
                    </a:solidFill>
                  </a:tcPr>
                </a:tc>
              </a:tr>
            </a:tbl>
          </a:graphicData>
        </a:graphic>
      </p:graphicFrame>
      <p:sp>
        <p:nvSpPr>
          <p:cNvPr id="6" name="TextBox 5"/>
          <p:cNvSpPr txBox="1"/>
          <p:nvPr/>
        </p:nvSpPr>
        <p:spPr>
          <a:xfrm>
            <a:off x="7380000" y="1800000"/>
            <a:ext cx="4284000" cy="2088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Report version</a:t>
            </a:r>
          </a:p>
          <a:p>
            <a:pPr>
              <a:defRPr sz="1100" b="0">
                <a:solidFill>
                  <a:srgbClr val="3A4060"/>
                </a:solidFill>
                <a:latin typeface="Calibri"/>
              </a:defRPr>
            </a:pPr>
            <a:r>
              <a:t>v2 · generated 28 Sep 2026</a:t>
            </a:r>
          </a:p>
          <a:p>
            <a:pPr>
              <a:defRPr sz="1100" b="0">
                <a:solidFill>
                  <a:srgbClr val="3A4060"/>
                </a:solidFill>
                <a:latin typeface="Calibri"/>
              </a:defRPr>
            </a:pPr>
            <a:r>
              <a:t>Snapshot 5f2c9e1a</a:t>
            </a:r>
          </a:p>
          <a:p>
            <a:pPr>
              <a:defRPr sz="1100" b="0">
                <a:solidFill>
                  <a:srgbClr val="3A4060"/>
                </a:solidFill>
                <a:latin typeface="Calibri"/>
              </a:defRPr>
            </a:pPr>
            <a:r>
              <a:t>Names are recorded as entered by the consultant; they are not verified sign-ins.</a:t>
            </a:r>
          </a:p>
        </p:txBody>
      </p:sp>
      <p:sp>
        <p:nvSpPr>
          <p:cNvPr id="7" name="TextBox 6"/>
          <p:cNvSpPr txBox="1"/>
          <p:nvPr/>
        </p:nvSpPr>
        <p:spPr>
          <a:xfrm>
            <a:off x="504000" y="4392000"/>
            <a:ext cx="11160000" cy="720000"/>
          </a:xfrm>
          <a:prstGeom prst="rect">
            <a:avLst/>
          </a:prstGeom>
          <a:noFill/>
          <a:ln>
            <a:noFill/>
          </a:ln>
        </p:spPr>
        <p:txBody>
          <a:bodyPr wrap="square" anchor="t" lIns="43200" rIns="43200" tIns="25200" bIns="25200">
            <a:spAutoFit/>
          </a:bodyPr>
          <a:lstStyle/>
          <a:p>
            <a:pPr>
              <a:defRPr sz="1100" b="0">
                <a:solidFill>
                  <a:srgbClr val="3A4060"/>
                </a:solidFill>
                <a:latin typeface="Calibri"/>
              </a:defRPr>
            </a:pPr>
            <a:r>
              <a:t>This version is a draft until it is issued. Whether it was issued, who issued it and the SHA-256 of the issued file are recorded in the report version history.</a:t>
            </a:r>
          </a:p>
        </p:txBody>
      </p:sp>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18 of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rk slide background"/>
          <p:cNvSpPr/>
          <p:nvPr/>
        </p:nvSpPr>
        <p:spPr>
          <a:xfrm>
            <a:off x="0" y="0"/>
            <a:ext cx="12192120" cy="685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FFFFFF"/>
                </a:solidFill>
                <a:latin typeface="Calibri"/>
              </a:defRPr>
            </a:pPr>
            <a:r>
              <a:t>Annexure</a:t>
            </a:r>
          </a:p>
        </p:txBody>
      </p:sp>
      <p:sp>
        <p:nvSpPr>
          <p:cNvPr id="6" name="TextBox 5"/>
          <p:cNvSpPr txBox="1"/>
          <p:nvPr/>
        </p:nvSpPr>
        <p:spPr>
          <a:xfrm>
            <a:off x="648000" y="2160000"/>
            <a:ext cx="1980000" cy="720000"/>
          </a:xfrm>
          <a:prstGeom prst="rect">
            <a:avLst/>
          </a:prstGeom>
          <a:noFill/>
          <a:ln>
            <a:noFill/>
          </a:ln>
        </p:spPr>
        <p:txBody>
          <a:bodyPr wrap="square" anchor="t" lIns="43200" rIns="43200" tIns="25200" bIns="25200">
            <a:spAutoFit/>
          </a:bodyPr>
          <a:lstStyle/>
          <a:p>
            <a:pPr>
              <a:defRPr sz="2600" b="1">
                <a:solidFill>
                  <a:srgbClr val="12B3A6"/>
                </a:solidFill>
                <a:latin typeface="Calibri"/>
              </a:defRPr>
            </a:pPr>
            <a:r>
              <a:t>05</a:t>
            </a:r>
          </a:p>
        </p:txBody>
      </p:sp>
      <p:sp>
        <p:nvSpPr>
          <p:cNvPr id="7" name="TextBox 6"/>
          <p:cNvSpPr txBox="1"/>
          <p:nvPr/>
        </p:nvSpPr>
        <p:spPr>
          <a:xfrm>
            <a:off x="648000" y="3024000"/>
            <a:ext cx="6840000" cy="1008000"/>
          </a:xfrm>
          <a:prstGeom prst="rect">
            <a:avLst/>
          </a:prstGeom>
          <a:noFill/>
          <a:ln>
            <a:noFill/>
          </a:ln>
        </p:spPr>
        <p:txBody>
          <a:bodyPr wrap="square" anchor="t" lIns="43200" rIns="43200" tIns="25200" bIns="25200">
            <a:spAutoFit/>
          </a:bodyPr>
          <a:lstStyle/>
          <a:p>
            <a:pPr>
              <a:defRPr sz="4000" b="1">
                <a:solidFill>
                  <a:srgbClr val="FFFFFF"/>
                </a:solidFill>
                <a:latin typeface="Calibri"/>
              </a:defRPr>
            </a:pPr>
            <a:r>
              <a:t>Annexure</a:t>
            </a:r>
          </a:p>
        </p:txBody>
      </p:sp>
      <p:sp>
        <p:nvSpPr>
          <p:cNvPr id="8" name="TextBox 7"/>
          <p:cNvSpPr txBox="1"/>
          <p:nvPr/>
        </p:nvSpPr>
        <p:spPr>
          <a:xfrm>
            <a:off x="648000" y="4392000"/>
            <a:ext cx="6840000" cy="1152000"/>
          </a:xfrm>
          <a:prstGeom prst="rect">
            <a:avLst/>
          </a:prstGeom>
          <a:noFill/>
          <a:ln>
            <a:noFill/>
          </a:ln>
        </p:spPr>
        <p:txBody>
          <a:bodyPr wrap="square" anchor="t" lIns="43200" rIns="43200" tIns="25200" bIns="25200">
            <a:spAutoFit/>
          </a:bodyPr>
          <a:lstStyle/>
          <a:p>
            <a:pPr>
              <a:defRPr sz="1400" b="0">
                <a:solidFill>
                  <a:srgbClr val="C9D0FF"/>
                </a:solidFill>
                <a:latin typeface="Calibri"/>
              </a:defRPr>
            </a:pPr>
            <a:r>
              <a:t>A1  Methodology</a:t>
            </a:r>
          </a:p>
          <a:p>
            <a:pPr>
              <a:defRPr sz="1400" b="0">
                <a:solidFill>
                  <a:srgbClr val="C9D0FF"/>
                </a:solidFill>
                <a:latin typeface="Calibri"/>
              </a:defRPr>
            </a:pPr>
            <a:r>
              <a:t>A2  Requirement register</a:t>
            </a:r>
          </a:p>
          <a:p>
            <a:pPr>
              <a:defRPr sz="1400" b="0">
                <a:solidFill>
                  <a:srgbClr val="C9D0FF"/>
                </a:solidFill>
                <a:latin typeface="Calibri"/>
              </a:defRPr>
            </a:pPr>
            <a:r>
              <a:t>A3  Evidence register</a:t>
            </a:r>
          </a:p>
          <a:p>
            <a:pPr>
              <a:defRPr sz="1400" b="0">
                <a:solidFill>
                  <a:srgbClr val="C9D0FF"/>
                </a:solidFill>
                <a:latin typeface="Calibri"/>
              </a:defRPr>
            </a:pPr>
            <a:r>
              <a:t>A4  Statement of Applicability summary</a:t>
            </a:r>
          </a:p>
        </p:txBody>
      </p:sp>
      <p:sp>
        <p:nvSpPr>
          <p:cNvPr id="9" name="Footer rule"/>
          <p:cNvSpPr/>
          <p:nvPr/>
        </p:nvSpPr>
        <p:spPr>
          <a:xfrm>
            <a:off x="0" y="6480000"/>
            <a:ext cx="12192120" cy="14400"/>
          </a:xfrm>
          <a:prstGeom prst="rect">
            <a:avLst/>
          </a:prstGeom>
          <a:solidFill>
            <a:srgbClr val="6D7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C9D0FF"/>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1"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19 of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Methodology</a:t>
            </a:r>
          </a:p>
        </p:txBody>
      </p:sp>
      <p:sp>
        <p:nvSpPr>
          <p:cNvPr id="5" name="TextBox 4"/>
          <p:cNvSpPr txBox="1"/>
          <p:nvPr/>
        </p:nvSpPr>
        <p:spPr>
          <a:xfrm>
            <a:off x="504000" y="1440000"/>
            <a:ext cx="5400000" cy="439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This assessment evaluates compliance against the following framework(s): India DPDPA, ISO 27001, across 120 in-scope requirements.</a:t>
            </a:r>
          </a:p>
          <a:p>
            <a:pPr>
              <a:defRPr sz="1100" b="0">
                <a:solidFill>
                  <a:srgbClr val="3A4060"/>
                </a:solidFill>
                <a:latin typeface="Calibri"/>
              </a:defRPr>
            </a:pPr>
          </a:p>
          <a:p>
            <a:pPr>
              <a:defRPr sz="1100" b="0">
                <a:solidFill>
                  <a:srgbClr val="3A4060"/>
                </a:solidFill>
                <a:latin typeface="Calibri"/>
              </a:defRPr>
            </a:pPr>
            <a:r>
              <a:t>Basis of Assessment:</a:t>
            </a:r>
          </a:p>
          <a:p>
            <a:pPr>
              <a:defRPr sz="1100" b="0">
                <a:solidFill>
                  <a:srgbClr val="3A4060"/>
                </a:solidFill>
                <a:latin typeface="Calibri"/>
              </a:defRPr>
            </a:pPr>
            <a:r>
              <a:t>Each in-scope requirement receives one conclusion. The analysis engine reviews the submitted documents and questionnaire responses and proposes an outcome with cited evidence. A consultant reviews the evidence and individually approves, edits or rejects every proposal. Only individually approved conclusions appear in this report; no outcome, score or finding is produced by the AI on its own.</a:t>
            </a:r>
          </a:p>
          <a:p>
            <a:pPr>
              <a:defRPr sz="1100" b="0">
                <a:solidFill>
                  <a:srgbClr val="3A4060"/>
                </a:solidFill>
                <a:latin typeface="Calibri"/>
              </a:defRPr>
            </a:pPr>
          </a:p>
          <a:p>
            <a:pPr>
              <a:defRPr sz="1100" b="0">
                <a:solidFill>
                  <a:srgbClr val="3A4060"/>
                </a:solidFill>
                <a:latin typeface="Calibri"/>
              </a:defRPr>
            </a:pPr>
            <a:r>
              <a:t>Outcome Definitions:</a:t>
            </a:r>
          </a:p>
          <a:p>
            <a:pPr>
              <a:defRPr sz="1100" b="0">
                <a:solidFill>
                  <a:srgbClr val="3A4060"/>
                </a:solidFill>
                <a:latin typeface="Calibri"/>
              </a:defRPr>
            </a:pPr>
            <a:r>
              <a:t>- Compliant: the requirement is met and supported by evidence</a:t>
            </a:r>
          </a:p>
          <a:p>
            <a:pPr>
              <a:defRPr sz="1100" b="0">
                <a:solidFill>
                  <a:srgbClr val="3A4060"/>
                </a:solidFill>
                <a:latin typeface="Calibri"/>
              </a:defRPr>
            </a:pPr>
            <a:r>
              <a:t>- Partially Compliant: the requirement is met in part</a:t>
            </a:r>
          </a:p>
          <a:p>
            <a:pPr>
              <a:defRPr sz="1100" b="0">
                <a:solidFill>
                  <a:srgbClr val="3A4060"/>
                </a:solidFill>
                <a:latin typeface="Calibri"/>
              </a:defRPr>
            </a:pPr>
            <a:r>
              <a:t>- Non-Compliant: the requirement is not met</a:t>
            </a:r>
          </a:p>
          <a:p>
            <a:pPr>
              <a:defRPr sz="1100" b="0">
                <a:solidFill>
                  <a:srgbClr val="3A4060"/>
                </a:solidFill>
                <a:latin typeface="Calibri"/>
              </a:defRPr>
            </a:pPr>
            <a:r>
              <a:t>- Insufficient Evidence: the evidence provided does not support a conclusion either way</a:t>
            </a:r>
          </a:p>
          <a:p>
            <a:pPr>
              <a:defRPr sz="1100" b="0">
                <a:solidFill>
                  <a:srgbClr val="3A4060"/>
                </a:solidFill>
                <a:latin typeface="Calibri"/>
              </a:defRPr>
            </a:pPr>
            <a:r>
              <a:t>- Not Applicable: the requirement does not apply within the assessed scope</a:t>
            </a:r>
          </a:p>
          <a:p>
            <a:pPr>
              <a:defRPr sz="1100" b="0">
                <a:solidFill>
                  <a:srgbClr val="3A4060"/>
                </a:solidFill>
                <a:latin typeface="Calibri"/>
              </a:defRPr>
            </a:pPr>
          </a:p>
          <a:p>
            <a:pPr>
              <a:defRPr sz="1100" b="0">
                <a:solidFill>
                  <a:srgbClr val="3A4060"/>
                </a:solidFill>
                <a:latin typeface="Calibri"/>
              </a:defRPr>
            </a:pPr>
            <a:r>
              <a:t>Scoring Basis:</a:t>
            </a:r>
          </a:p>
          <a:p>
            <a:pPr>
              <a:defRPr sz="1100" b="0">
                <a:solidFill>
                  <a:srgbClr val="3A4060"/>
                </a:solidFill>
                <a:latin typeface="Calibri"/>
              </a:defRPr>
            </a:pPr>
            <a:r>
              <a:t>Scores are computed only from conclusions a consultant has individually approved. Each approved outcome counts as follows: Compliant 100 points, Partially Compliant 50 points, Non-Compliant 0 points. Not Applicable and Insufficient Evidence are excluded from the scoring denominator. Insufficient Evidence is not treated as Non-Compliant; the number of requirements with insufficient evidence is reported next to each framework score. Requirements excluded at scoping are not scored. A framework is scored only when every in-scope requirement has an approved conclusion. Section scores are the average of their requirement points; domain and framework scores are weighted averages using the published weights below.</a:t>
            </a:r>
          </a:p>
          <a:p>
            <a:pPr>
              <a:defRPr sz="1100" b="0">
                <a:solidFill>
                  <a:srgbClr val="3A4060"/>
                </a:solidFill>
                <a:latin typeface="Calibri"/>
              </a:defRPr>
            </a:pPr>
          </a:p>
          <a:p>
            <a:pPr>
              <a:defRPr sz="1100" b="0">
                <a:solidFill>
                  <a:srgbClr val="3A4060"/>
                </a:solidFill>
                <a:latin typeface="Calibri"/>
              </a:defRPr>
            </a:pPr>
            <a:r>
              <a:t>Framework Structure and Weights:</a:t>
            </a:r>
          </a:p>
          <a:p>
            <a:pPr>
              <a:defRPr sz="1100" b="0">
                <a:solidFill>
                  <a:srgbClr val="3A4060"/>
                </a:solidFill>
                <a:latin typeface="Calibri"/>
              </a:defRPr>
            </a:pPr>
            <a:r>
              <a:t>- India DPDPA (2023): 41 requirements in 6 domains. Domain weights: Obligations of Data Fiduciary 30%, Rights of Data Principal 20%, Special Provisions 20%, Consent Management (Detailed) 10%, Cross-Border Data Transfer 10%, Breach Notification 10%.</a:t>
            </a:r>
          </a:p>
          <a:p>
            <a:pPr>
              <a:defRPr sz="1100" b="0">
                <a:solidFill>
                  <a:srgbClr val="3A4060"/>
                </a:solidFill>
                <a:latin typeface="Calibri"/>
              </a:defRPr>
            </a:pPr>
            <a:r>
              <a:t>- ISO 27001 (2022): 93 requirements in 4 domains. Domain weights: Organizational Controls 35%, People Controls 15%, Physical Controls 15%, Technological Controls 35%.</a:t>
            </a:r>
          </a:p>
          <a:p>
            <a:pPr>
              <a:defRPr sz="1100" b="0">
                <a:solidFill>
                  <a:srgbClr val="3A4060"/>
                </a:solidFill>
                <a:latin typeface="Calibri"/>
              </a:defRPr>
            </a:pPr>
            <a:r>
              <a:t>Requirements are referenced by clause or control identifier for each selected framework; requirement descriptions are summarised for assessment purposes and do not reproduce the source standard. Scores are computed and reported independently for each framework; no score is combined across frameworks.</a:t>
            </a:r>
          </a:p>
          <a:p>
            <a:pPr>
              <a:defRPr sz="1100" b="0">
                <a:solidFill>
                  <a:srgbClr val="3A4060"/>
                </a:solidFill>
                <a:latin typeface="Calibri"/>
              </a:defRPr>
            </a:pPr>
          </a:p>
          <a:p>
            <a:pPr>
              <a:defRPr sz="1100" b="0">
                <a:solidFill>
                  <a:srgbClr val="3A4060"/>
                </a:solidFill>
                <a:latin typeface="Calibri"/>
              </a:defRPr>
            </a:pPr>
            <a:r>
              <a:t>Rating Thresholds:</a:t>
            </a:r>
          </a:p>
          <a:p>
            <a:pPr>
              <a:defRPr sz="1100" b="0">
                <a:solidFill>
                  <a:srgbClr val="3A4060"/>
                </a:solidFill>
                <a:latin typeface="Calibri"/>
              </a:defRPr>
            </a:pPr>
            <a:r>
              <a:t>- 80-100%: Compliant</a:t>
            </a:r>
          </a:p>
          <a:p>
            <a:pPr>
              <a:defRPr sz="1100" b="0">
                <a:solidFill>
                  <a:srgbClr val="3A4060"/>
                </a:solidFill>
                <a:latin typeface="Calibri"/>
              </a:defRPr>
            </a:pPr>
            <a:r>
              <a:t>- 60-79%: Partially Compliant</a:t>
            </a:r>
          </a:p>
          <a:p>
            <a:pPr>
              <a:defRPr sz="1100" b="0">
                <a:solidFill>
                  <a:srgbClr val="3A4060"/>
                </a:solidFill>
                <a:latin typeface="Calibri"/>
              </a:defRPr>
            </a:pPr>
            <a:r>
              <a:t>- 40-59%: Needs Significant Improvement</a:t>
            </a:r>
          </a:p>
          <a:p>
            <a:pPr>
              <a:defRPr sz="1100" b="0">
                <a:solidFill>
                  <a:srgbClr val="3A4060"/>
                </a:solidFill>
                <a:latin typeface="Calibri"/>
              </a:defRPr>
            </a:pPr>
            <a:r>
              <a:t>- 0-39%: Non-Compliant</a:t>
            </a:r>
          </a:p>
          <a:p>
            <a:pPr>
              <a:defRPr sz="1100" b="0">
                <a:solidFill>
                  <a:srgbClr val="3A4060"/>
                </a:solidFill>
                <a:latin typeface="Calibri"/>
              </a:defRPr>
            </a:pPr>
          </a:p>
          <a:p>
            <a:pPr>
              <a:defRPr sz="1100" b="0">
                <a:solidFill>
                  <a:srgbClr val="3A4060"/>
                </a:solidFill>
                <a:latin typeface="Calibri"/>
              </a:defRPr>
            </a:pPr>
            <a:r>
              <a:t>Risk Classification:</a:t>
            </a:r>
          </a:p>
          <a:p>
            <a:pPr>
              <a:defRPr sz="1100" b="0">
                <a:solidFill>
                  <a:srgbClr val="3A4060"/>
                </a:solidFill>
                <a:latin typeface="Calibri"/>
              </a:defRPr>
            </a:pPr>
            <a:r>
              <a:t>Each gap carries the risk level (Critical, High, Medium, Low) approved by the consultant, reflecting regulatory exposure, potential penalties under INDIA DPDPA and impact on affected individuals (for INDIA DPDPA), and likely impact on the confidentiality, integrity and availability of information (for ISO 27001). Remediation priority on each gap is derived from its approved risk level.</a:t>
            </a:r>
          </a:p>
          <a:p>
            <a:pPr>
              <a:defRPr sz="1100" b="0">
                <a:solidFill>
                  <a:srgbClr val="3A4060"/>
                </a:solidFill>
                <a:latin typeface="Calibri"/>
              </a:defRPr>
            </a:pPr>
          </a:p>
          <a:p>
            <a:pPr>
              <a:defRPr sz="1100" b="0">
                <a:solidFill>
                  <a:srgbClr val="3A4060"/>
                </a:solidFill>
                <a:latin typeface="Calibri"/>
              </a:defRPr>
            </a:pPr>
            <a:r>
              <a:t>Disclaimer:</a:t>
            </a:r>
          </a:p>
          <a:p>
            <a:pPr>
              <a:defRPr sz="1100" b="0">
                <a:solidFill>
                  <a:srgbClr val="3A4060"/>
                </a:solidFill>
                <a:latin typeface="Calibri"/>
              </a:defRPr>
            </a:pPr>
            <a:r>
              <a:t>This assessment provides guidance based on the information and evidence provided and is not legal advice. Consult qualified legal counsel for definitive compliance determinations under INDIA DPDPA. For ISO 27001, it is not a certification audit; certification decisions rest with an accredited certification body or qualified assessor.</a:t>
            </a:r>
          </a:p>
        </p:txBody>
      </p:sp>
      <p:sp>
        <p:nvSpPr>
          <p:cNvPr id="6" name="TextBox 5"/>
          <p:cNvSpPr txBox="1"/>
          <p:nvPr/>
        </p:nvSpPr>
        <p:spPr>
          <a:xfrm>
            <a:off x="6264000" y="1440000"/>
            <a:ext cx="5400000" cy="439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This document constitutes an evidence-based compliance gap assessment. It is not a formal compliance audit and does not constitute legal advice. Findings are based on documents submitted for review and information disclosed by the organization's representatives, and every conclusion was individually approved by a consultant. These conclusions reflect the evidence considered up to the evidence cut-off stated above.</a:t>
            </a:r>
          </a:p>
        </p:txBody>
      </p:sp>
      <p:sp>
        <p:nvSpPr>
          <p:cNvPr id="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20 of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(1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CH2.CONSENT.1</a:t>
                      </a:r>
                    </a:p>
                  </a:txBody>
                  <a:tcPr marL="43200" marR="43200" marT="21600" marB="21600" anchor="ctr">
                    <a:solidFill>
                      <a:srgbClr val="FFFFFF"/>
                    </a:solidFill>
                  </a:tcPr>
                </a:tc>
                <a:tc>
                  <a:txBody>
                    <a:bodyPr/>
                    <a:lstStyle/>
                    <a:p>
                      <a:pPr>
                        <a:defRPr sz="900" b="0">
                          <a:solidFill>
                            <a:srgbClr val="0B0E26"/>
                          </a:solidFill>
                          <a:latin typeface="Calibri"/>
                        </a:defRPr>
                      </a:pPr>
                      <a:r>
                        <a:t>Lawful basis for processing with free, specific, informed consent</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s.4.2, p.6</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CH2.CONSENT.2</a:t>
                      </a:r>
                    </a:p>
                  </a:txBody>
                  <a:tcPr marL="43200" marR="43200" marT="21600" marB="21600" anchor="ctr">
                    <a:solidFill>
                      <a:srgbClr val="F1F3F8"/>
                    </a:solidFill>
                  </a:tcPr>
                </a:tc>
                <a:tc>
                  <a:txBody>
                    <a:bodyPr/>
                    <a:lstStyle/>
                    <a:p>
                      <a:pPr>
                        <a:defRPr sz="900" b="0">
                          <a:solidFill>
                            <a:srgbClr val="0B0E26"/>
                          </a:solidFill>
                          <a:latin typeface="Calibri"/>
                        </a:defRPr>
                      </a:pPr>
                      <a:r>
                        <a:t>Itemised consent for multiple purposes</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p.28</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CH2.CONSENT.3</a:t>
                      </a:r>
                    </a:p>
                  </a:txBody>
                  <a:tcPr marL="43200" marR="43200" marT="21600" marB="21600" anchor="ctr">
                    <a:solidFill>
                      <a:srgbClr val="FFFFFF"/>
                    </a:solidFill>
                  </a:tcPr>
                </a:tc>
                <a:tc>
                  <a:txBody>
                    <a:bodyPr/>
                    <a:lstStyle/>
                    <a:p>
                      <a:pPr>
                        <a:defRPr sz="900" b="0">
                          <a:solidFill>
                            <a:srgbClr val="0B0E26"/>
                          </a:solidFill>
                          <a:latin typeface="Calibri"/>
                        </a:defRPr>
                      </a:pPr>
                      <a:r>
                        <a:t>Consent withdrawal mechanism</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p.18</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CH2.CONSENT.4</a:t>
                      </a:r>
                    </a:p>
                  </a:txBody>
                  <a:tcPr marL="43200" marR="43200" marT="21600" marB="21600" anchor="ctr">
                    <a:solidFill>
                      <a:srgbClr val="F1F3F8"/>
                    </a:solidFill>
                  </a:tcPr>
                </a:tc>
                <a:tc>
                  <a:txBody>
                    <a:bodyPr/>
                    <a:lstStyle/>
                    <a:p>
                      <a:pPr>
                        <a:defRPr sz="900" b="0">
                          <a:solidFill>
                            <a:srgbClr val="0B0E26"/>
                          </a:solidFill>
                          <a:latin typeface="Calibri"/>
                        </a:defRPr>
                      </a:pPr>
                      <a:r>
                        <a:t>Consent Manager registration and interoperability</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p.4</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CH2.CONSENT.5</a:t>
                      </a:r>
                    </a:p>
                  </a:txBody>
                  <a:tcPr marL="43200" marR="43200" marT="21600" marB="21600" anchor="ctr">
                    <a:solidFill>
                      <a:srgbClr val="FFFFFF"/>
                    </a:solidFill>
                  </a:tcPr>
                </a:tc>
                <a:tc>
                  <a:txBody>
                    <a:bodyPr/>
                    <a:lstStyle/>
                    <a:p>
                      <a:pPr>
                        <a:defRPr sz="900" b="0">
                          <a:solidFill>
                            <a:srgbClr val="0B0E26"/>
                          </a:solidFill>
                          <a:latin typeface="Calibri"/>
                        </a:defRPr>
                      </a:pPr>
                      <a:r>
                        <a:t>Verifiable parental consent for children's data</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p.28</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CH2.NOTICE.1</a:t>
                      </a:r>
                    </a:p>
                  </a:txBody>
                  <a:tcPr marL="43200" marR="43200" marT="21600" marB="21600" anchor="ctr">
                    <a:solidFill>
                      <a:srgbClr val="F1F3F8"/>
                    </a:solidFill>
                  </a:tcPr>
                </a:tc>
                <a:tc>
                  <a:txBody>
                    <a:bodyPr/>
                    <a:lstStyle/>
                    <a:p>
                      <a:pPr>
                        <a:defRPr sz="900" b="0">
                          <a:solidFill>
                            <a:srgbClr val="0B0E26"/>
                          </a:solidFill>
                          <a:latin typeface="Calibri"/>
                        </a:defRPr>
                      </a:pPr>
                      <a:r>
                        <a:t>Notice accompanying the consent request</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p.20</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CH2.NOTICE.2</a:t>
                      </a:r>
                    </a:p>
                  </a:txBody>
                  <a:tcPr marL="43200" marR="43200" marT="21600" marB="21600" anchor="ctr">
                    <a:solidFill>
                      <a:srgbClr val="FFFFFF"/>
                    </a:solidFill>
                  </a:tcPr>
                </a:tc>
                <a:tc>
                  <a:txBody>
                    <a:bodyPr/>
                    <a:lstStyle/>
                    <a:p>
                      <a:pPr>
                        <a:defRPr sz="900" b="0">
                          <a:solidFill>
                            <a:srgbClr val="0B0E26"/>
                          </a:solidFill>
                          <a:latin typeface="Calibri"/>
                        </a:defRPr>
                      </a:pPr>
                      <a:r>
                        <a:t>Notice for previously collected data</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p.3</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CH2.NOTICE.3</a:t>
                      </a:r>
                    </a:p>
                  </a:txBody>
                  <a:tcPr marL="43200" marR="43200" marT="21600" marB="21600" anchor="ctr">
                    <a:solidFill>
                      <a:srgbClr val="F1F3F8"/>
                    </a:solidFill>
                  </a:tcPr>
                </a:tc>
                <a:tc>
                  <a:txBody>
                    <a:bodyPr/>
                    <a:lstStyle/>
                    <a:p>
                      <a:pPr>
                        <a:defRPr sz="900" b="0">
                          <a:solidFill>
                            <a:srgbClr val="0B0E26"/>
                          </a:solidFill>
                          <a:latin typeface="Calibri"/>
                        </a:defRPr>
                      </a:pPr>
                      <a:r>
                        <a:t>Notice contains contact details of DPO or grievance officer</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p.6</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CH2.PURPOSE.1</a:t>
                      </a:r>
                    </a:p>
                  </a:txBody>
                  <a:tcPr marL="43200" marR="43200" marT="21600" marB="21600" anchor="ctr">
                    <a:solidFill>
                      <a:srgbClr val="FFFFFF"/>
                    </a:solidFill>
                  </a:tcPr>
                </a:tc>
                <a:tc>
                  <a:txBody>
                    <a:bodyPr/>
                    <a:lstStyle/>
                    <a:p>
                      <a:pPr>
                        <a:defRPr sz="900" b="0">
                          <a:solidFill>
                            <a:srgbClr val="0B0E26"/>
                          </a:solidFill>
                          <a:latin typeface="Calibri"/>
                        </a:defRPr>
                      </a:pPr>
                      <a:r>
                        <a:t>Processing only for stated purpose</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p.5</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CH2.PURPOSE.2</a:t>
                      </a:r>
                    </a:p>
                  </a:txBody>
                  <a:tcPr marL="43200" marR="43200" marT="21600" marB="21600" anchor="ctr">
                    <a:solidFill>
                      <a:srgbClr val="F1F3F8"/>
                    </a:solidFill>
                  </a:tcPr>
                </a:tc>
                <a:tc>
                  <a:txBody>
                    <a:bodyPr/>
                    <a:lstStyle/>
                    <a:p>
                      <a:pPr>
                        <a:defRPr sz="900" b="0">
                          <a:solidFill>
                            <a:srgbClr val="0B0E26"/>
                          </a:solidFill>
                          <a:latin typeface="Calibri"/>
                        </a:defRPr>
                      </a:pPr>
                      <a:r>
                        <a:t>Legitimate uses without consent properly identified</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p.5</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CH2.MINIMIZE.1</a:t>
                      </a:r>
                    </a:p>
                  </a:txBody>
                  <a:tcPr marL="43200" marR="43200" marT="21600" marB="21600" anchor="ctr">
                    <a:solidFill>
                      <a:srgbClr val="FFFFFF"/>
                    </a:solidFill>
                  </a:tcPr>
                </a:tc>
                <a:tc>
                  <a:txBody>
                    <a:bodyPr/>
                    <a:lstStyle/>
                    <a:p>
                      <a:pPr>
                        <a:defRPr sz="900" b="0">
                          <a:solidFill>
                            <a:srgbClr val="0B0E26"/>
                          </a:solidFill>
                          <a:latin typeface="Calibri"/>
                        </a:defRPr>
                      </a:pPr>
                      <a:r>
                        <a:t>Collection limited to what is necessary</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p.21</a:t>
                      </a:r>
                    </a:p>
                  </a:txBody>
                  <a:tcPr marL="43200" marR="43200" marT="21600" marB="21600" anchor="ctr">
                    <a:solidFill>
                      <a:srgbClr val="FFFFFF"/>
                    </a:solidFill>
                  </a:tcPr>
                </a:tc>
              </a:tr>
              <a:tr h="365544">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CH2.MINIMIZE.2</a:t>
                      </a:r>
                    </a:p>
                  </a:txBody>
                  <a:tcPr marL="43200" marR="43200" marT="21600" marB="21600" anchor="ctr">
                    <a:solidFill>
                      <a:srgbClr val="F1F3F8"/>
                    </a:solidFill>
                  </a:tcPr>
                </a:tc>
                <a:tc>
                  <a:txBody>
                    <a:bodyPr/>
                    <a:lstStyle/>
                    <a:p>
                      <a:pPr>
                        <a:defRPr sz="900" b="0">
                          <a:solidFill>
                            <a:srgbClr val="0B0E26"/>
                          </a:solidFill>
                          <a:latin typeface="Calibri"/>
                        </a:defRPr>
                      </a:pPr>
                      <a:r>
                        <a:t>Data retention limited to purpose fulfilment</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data-retention-policy.pdf v1, s.3, p.2</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21 of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(2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CH2.MINIMIZE.3</a:t>
                      </a:r>
                    </a:p>
                  </a:txBody>
                  <a:tcPr marL="43200" marR="43200" marT="21600" marB="21600" anchor="ctr">
                    <a:solidFill>
                      <a:srgbClr val="FFFFFF"/>
                    </a:solidFill>
                  </a:tcPr>
                </a:tc>
                <a:tc>
                  <a:txBody>
                    <a:bodyPr/>
                    <a:lstStyle/>
                    <a:p>
                      <a:pPr>
                        <a:defRPr sz="900" b="0">
                          <a:solidFill>
                            <a:srgbClr val="0B0E26"/>
                          </a:solidFill>
                          <a:latin typeface="Calibri"/>
                        </a:defRPr>
                      </a:pPr>
                      <a:r>
                        <a:t>Retention schedule and deletion procedures</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p.16</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CH2.ACCURACY.1</a:t>
                      </a:r>
                    </a:p>
                  </a:txBody>
                  <a:tcPr marL="43200" marR="43200" marT="21600" marB="21600" anchor="ctr">
                    <a:solidFill>
                      <a:srgbClr val="F1F3F8"/>
                    </a:solidFill>
                  </a:tcPr>
                </a:tc>
                <a:tc>
                  <a:txBody>
                    <a:bodyPr/>
                    <a:lstStyle/>
                    <a:p>
                      <a:pPr>
                        <a:defRPr sz="900" b="0">
                          <a:solidFill>
                            <a:srgbClr val="0B0E26"/>
                          </a:solidFill>
                          <a:latin typeface="Calibri"/>
                        </a:defRPr>
                      </a:pPr>
                      <a:r>
                        <a:t>Data accuracy ensured for decision-making and onward disclosure</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p.9</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CH2.SECURITY.1</a:t>
                      </a:r>
                    </a:p>
                  </a:txBody>
                  <a:tcPr marL="43200" marR="43200" marT="21600" marB="21600" anchor="ctr">
                    <a:solidFill>
                      <a:srgbClr val="FFFFFF"/>
                    </a:solidFill>
                  </a:tcPr>
                </a:tc>
                <a:tc>
                  <a:txBody>
                    <a:bodyPr/>
                    <a:lstStyle/>
                    <a:p>
                      <a:pPr>
                        <a:defRPr sz="900" b="0">
                          <a:solidFill>
                            <a:srgbClr val="0B0E26"/>
                          </a:solidFill>
                          <a:latin typeface="Calibri"/>
                        </a:defRPr>
                      </a:pPr>
                      <a:r>
                        <a:t>Reasonable security safeguards implemented</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p.4</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CH2.SECURITY.2</a:t>
                      </a:r>
                    </a:p>
                  </a:txBody>
                  <a:tcPr marL="43200" marR="43200" marT="21600" marB="21600" anchor="ctr">
                    <a:solidFill>
                      <a:srgbClr val="F1F3F8"/>
                    </a:solidFill>
                  </a:tcPr>
                </a:tc>
                <a:tc>
                  <a:txBody>
                    <a:bodyPr/>
                    <a:lstStyle/>
                    <a:p>
                      <a:pPr>
                        <a:defRPr sz="900" b="0">
                          <a:solidFill>
                            <a:srgbClr val="0B0E26"/>
                          </a:solidFill>
                          <a:latin typeface="Calibri"/>
                        </a:defRPr>
                      </a:pPr>
                      <a:r>
                        <a:t>Encryption and access controls</a:t>
                      </a:r>
                    </a:p>
                  </a:txBody>
                  <a:tcPr marL="43200" marR="43200" marT="21600" marB="21600" anchor="ctr">
                    <a:solidFill>
                      <a:srgbClr val="F1F3F8"/>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Annex B, p.22</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CH2.SECURITY.3</a:t>
                      </a:r>
                    </a:p>
                  </a:txBody>
                  <a:tcPr marL="43200" marR="43200" marT="21600" marB="21600" anchor="ctr">
                    <a:solidFill>
                      <a:srgbClr val="FFFFFF"/>
                    </a:solidFill>
                  </a:tcPr>
                </a:tc>
                <a:tc>
                  <a:txBody>
                    <a:bodyPr/>
                    <a:lstStyle/>
                    <a:p>
                      <a:pPr>
                        <a:defRPr sz="900" b="0">
                          <a:solidFill>
                            <a:srgbClr val="0B0E26"/>
                          </a:solidFill>
                          <a:latin typeface="Calibri"/>
                        </a:defRPr>
                      </a:pPr>
                      <a:r>
                        <a:t>Data Processor contractual safeguards</a:t>
                      </a:r>
                    </a:p>
                  </a:txBody>
                  <a:tcPr marL="43200" marR="43200" marT="21600" marB="21600" anchor="ctr">
                    <a:solidFill>
                      <a:srgbClr val="FFFFFF"/>
                    </a:solidFill>
                  </a:tcPr>
                </a:tc>
                <a:tc>
                  <a:txBody>
                    <a:bodyPr/>
                    <a:lstStyle/>
                    <a:p>
                      <a:pPr>
                        <a:defRPr sz="900" b="0">
                          <a:solidFill>
                            <a:srgbClr val="0B0E26"/>
                          </a:solidFill>
                          <a:latin typeface="Calibri"/>
                        </a:defRPr>
                      </a:pPr>
                      <a:r>
                        <a:t>Obligations of Data Fiduciary</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vendor-contracts-index.xlsx v2, rows 3-11</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CH3.ACCESS.1</a:t>
                      </a:r>
                    </a:p>
                  </a:txBody>
                  <a:tcPr marL="43200" marR="43200" marT="21600" marB="21600" anchor="ctr">
                    <a:solidFill>
                      <a:srgbClr val="F1F3F8"/>
                    </a:solidFill>
                  </a:tcPr>
                </a:tc>
                <a:tc>
                  <a:txBody>
                    <a:bodyPr/>
                    <a:lstStyle/>
                    <a:p>
                      <a:pPr>
                        <a:defRPr sz="900" b="0">
                          <a:solidFill>
                            <a:srgbClr val="0B0E26"/>
                          </a:solidFill>
                          <a:latin typeface="Calibri"/>
                        </a:defRPr>
                      </a:pPr>
                      <a:r>
                        <a:t>Summary of personal data and processing activities</a:t>
                      </a:r>
                    </a:p>
                  </a:txBody>
                  <a:tcPr marL="43200" marR="43200" marT="21600" marB="21600" anchor="ctr">
                    <a:solidFill>
                      <a:srgbClr val="F1F3F8"/>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CH3.CORRECT.1</a:t>
                      </a:r>
                    </a:p>
                  </a:txBody>
                  <a:tcPr marL="43200" marR="43200" marT="21600" marB="21600" anchor="ctr">
                    <a:solidFill>
                      <a:srgbClr val="FFFFFF"/>
                    </a:solidFill>
                  </a:tcPr>
                </a:tc>
                <a:tc>
                  <a:txBody>
                    <a:bodyPr/>
                    <a:lstStyle/>
                    <a:p>
                      <a:pPr>
                        <a:defRPr sz="900" b="0">
                          <a:solidFill>
                            <a:srgbClr val="0B0E26"/>
                          </a:solidFill>
                          <a:latin typeface="Calibri"/>
                        </a:defRPr>
                      </a:pPr>
                      <a:r>
                        <a:t>Mechanism for correction and completion of data</a:t>
                      </a:r>
                    </a:p>
                  </a:txBody>
                  <a:tcPr marL="43200" marR="43200" marT="21600" marB="21600" anchor="ctr">
                    <a:solidFill>
                      <a:srgbClr val="FFFFFF"/>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p.18</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CH3.CORRECT.2</a:t>
                      </a:r>
                    </a:p>
                  </a:txBody>
                  <a:tcPr marL="43200" marR="43200" marT="21600" marB="21600" anchor="ctr">
                    <a:solidFill>
                      <a:srgbClr val="F1F3F8"/>
                    </a:solidFill>
                  </a:tcPr>
                </a:tc>
                <a:tc>
                  <a:txBody>
                    <a:bodyPr/>
                    <a:lstStyle/>
                    <a:p>
                      <a:pPr>
                        <a:defRPr sz="900" b="0">
                          <a:solidFill>
                            <a:srgbClr val="0B0E26"/>
                          </a:solidFill>
                          <a:latin typeface="Calibri"/>
                        </a:defRPr>
                      </a:pPr>
                      <a:r>
                        <a:t>Mechanism for erasure of personal data</a:t>
                      </a:r>
                    </a:p>
                  </a:txBody>
                  <a:tcPr marL="43200" marR="43200" marT="21600" marB="21600" anchor="ctr">
                    <a:solidFill>
                      <a:srgbClr val="F1F3F8"/>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p.17</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CH3.GRIEVANCE.1</a:t>
                      </a:r>
                    </a:p>
                  </a:txBody>
                  <a:tcPr marL="43200" marR="43200" marT="21600" marB="21600" anchor="ctr">
                    <a:solidFill>
                      <a:srgbClr val="FFFFFF"/>
                    </a:solidFill>
                  </a:tcPr>
                </a:tc>
                <a:tc>
                  <a:txBody>
                    <a:bodyPr/>
                    <a:lstStyle/>
                    <a:p>
                      <a:pPr>
                        <a:defRPr sz="900" b="0">
                          <a:solidFill>
                            <a:srgbClr val="0B0E26"/>
                          </a:solidFill>
                          <a:latin typeface="Calibri"/>
                        </a:defRPr>
                      </a:pPr>
                      <a:r>
                        <a:t>Grievance redressal mechanism available</a:t>
                      </a:r>
                    </a:p>
                  </a:txBody>
                  <a:tcPr marL="43200" marR="43200" marT="21600" marB="21600" anchor="ctr">
                    <a:solidFill>
                      <a:srgbClr val="FFFFFF"/>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p.26</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CH3.GRIEVANCE.2</a:t>
                      </a:r>
                    </a:p>
                  </a:txBody>
                  <a:tcPr marL="43200" marR="43200" marT="21600" marB="21600" anchor="ctr">
                    <a:solidFill>
                      <a:srgbClr val="F1F3F8"/>
                    </a:solidFill>
                  </a:tcPr>
                </a:tc>
                <a:tc>
                  <a:txBody>
                    <a:bodyPr/>
                    <a:lstStyle/>
                    <a:p>
                      <a:pPr>
                        <a:defRPr sz="900" b="0">
                          <a:solidFill>
                            <a:srgbClr val="0B0E26"/>
                          </a:solidFill>
                          <a:latin typeface="Calibri"/>
                        </a:defRPr>
                      </a:pPr>
                      <a:r>
                        <a:t>Timely response to grievances</a:t>
                      </a:r>
                    </a:p>
                  </a:txBody>
                  <a:tcPr marL="43200" marR="43200" marT="21600" marB="21600" anchor="ctr">
                    <a:solidFill>
                      <a:srgbClr val="F1F3F8"/>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p.12</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CH3.NOMINATE.1</a:t>
                      </a:r>
                    </a:p>
                  </a:txBody>
                  <a:tcPr marL="43200" marR="43200" marT="21600" marB="21600" anchor="ctr">
                    <a:solidFill>
                      <a:srgbClr val="FFFFFF"/>
                    </a:solidFill>
                  </a:tcPr>
                </a:tc>
                <a:tc>
                  <a:txBody>
                    <a:bodyPr/>
                    <a:lstStyle/>
                    <a:p>
                      <a:pPr>
                        <a:defRPr sz="900" b="0">
                          <a:solidFill>
                            <a:srgbClr val="0B0E26"/>
                          </a:solidFill>
                          <a:latin typeface="Calibri"/>
                        </a:defRPr>
                      </a:pPr>
                      <a:r>
                        <a:t>Nomination mechanism for death or incapacity</a:t>
                      </a:r>
                    </a:p>
                  </a:txBody>
                  <a:tcPr marL="43200" marR="43200" marT="21600" marB="21600" anchor="ctr">
                    <a:solidFill>
                      <a:srgbClr val="FFFFFF"/>
                    </a:solidFill>
                  </a:tcPr>
                </a:tc>
                <a:tc>
                  <a:txBody>
                    <a:bodyPr/>
                    <a:lstStyle/>
                    <a:p>
                      <a:pPr>
                        <a:defRPr sz="900" b="0">
                          <a:solidFill>
                            <a:srgbClr val="0B0E26"/>
                          </a:solidFill>
                          <a:latin typeface="Calibri"/>
                        </a:defRPr>
                      </a:pPr>
                      <a:r>
                        <a:t>Rights of Data Principal</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p.4</a:t>
                      </a:r>
                    </a:p>
                  </a:txBody>
                  <a:tcPr marL="43200" marR="43200" marT="21600" marB="21600" anchor="ctr">
                    <a:solidFill>
                      <a:srgbClr val="FFFFFF"/>
                    </a:solidFill>
                  </a:tcPr>
                </a:tc>
              </a:tr>
              <a:tr h="365544">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CH4.CHILD.1</a:t>
                      </a:r>
                    </a:p>
                  </a:txBody>
                  <a:tcPr marL="43200" marR="43200" marT="21600" marB="21600" anchor="ctr">
                    <a:solidFill>
                      <a:srgbClr val="F1F3F8"/>
                    </a:solidFill>
                  </a:tcPr>
                </a:tc>
                <a:tc>
                  <a:txBody>
                    <a:bodyPr/>
                    <a:lstStyle/>
                    <a:p>
                      <a:pPr>
                        <a:defRPr sz="900" b="0">
                          <a:solidFill>
                            <a:srgbClr val="0B0E26"/>
                          </a:solidFill>
                          <a:latin typeface="Calibri"/>
                        </a:defRPr>
                      </a:pPr>
                      <a:r>
                        <a:t>No tracking or behavioural monitoring of children</a:t>
                      </a:r>
                    </a:p>
                  </a:txBody>
                  <a:tcPr marL="43200" marR="43200" marT="21600" marB="21600" anchor="ctr">
                    <a:solidFill>
                      <a:srgbClr val="F1F3F8"/>
                    </a:solidFill>
                  </a:tcPr>
                </a:tc>
                <a:tc>
                  <a:txBody>
                    <a:bodyPr/>
                    <a:lstStyle/>
                    <a:p>
                      <a:pPr>
                        <a:defRPr sz="900" b="0">
                          <a:solidFill>
                            <a:srgbClr val="0B0E26"/>
                          </a:solidFill>
                          <a:latin typeface="Calibri"/>
                        </a:defRPr>
                      </a:pPr>
                      <a:r>
                        <a:t>Special Provisions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p.24</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22 of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(3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CH4.CHILD.2</a:t>
                      </a:r>
                    </a:p>
                  </a:txBody>
                  <a:tcPr marL="43200" marR="43200" marT="21600" marB="21600" anchor="ctr">
                    <a:solidFill>
                      <a:srgbClr val="FFFFFF"/>
                    </a:solidFill>
                  </a:tcPr>
                </a:tc>
                <a:tc>
                  <a:txBody>
                    <a:bodyPr/>
                    <a:lstStyle/>
                    <a:p>
                      <a:pPr>
                        <a:defRPr sz="900" b="0">
                          <a:solidFill>
                            <a:srgbClr val="0B0E26"/>
                          </a:solidFill>
                          <a:latin typeface="Calibri"/>
                        </a:defRPr>
                      </a:pPr>
                      <a:r>
                        <a:t>No processing detrimental to child's well-being</a:t>
                      </a:r>
                    </a:p>
                  </a:txBody>
                  <a:tcPr marL="43200" marR="43200" marT="21600" marB="21600" anchor="ctr">
                    <a:solidFill>
                      <a:srgbClr val="FFFFFF"/>
                    </a:solidFill>
                  </a:tcPr>
                </a:tc>
                <a:tc>
                  <a:txBody>
                    <a:bodyPr/>
                    <a:lstStyle/>
                    <a:p>
                      <a:pPr>
                        <a:defRPr sz="900" b="0">
                          <a:solidFill>
                            <a:srgbClr val="0B0E26"/>
                          </a:solidFill>
                          <a:latin typeface="Calibri"/>
                        </a:defRPr>
                      </a:pPr>
                      <a:r>
                        <a:t>Special Provisions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p.22</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CH4.CHILD.3</a:t>
                      </a:r>
                    </a:p>
                  </a:txBody>
                  <a:tcPr marL="43200" marR="43200" marT="21600" marB="21600" anchor="ctr">
                    <a:solidFill>
                      <a:srgbClr val="F1F3F8"/>
                    </a:solidFill>
                  </a:tcPr>
                </a:tc>
                <a:tc>
                  <a:txBody>
                    <a:bodyPr/>
                    <a:lstStyle/>
                    <a:p>
                      <a:pPr>
                        <a:defRPr sz="900" b="0">
                          <a:solidFill>
                            <a:srgbClr val="0B0E26"/>
                          </a:solidFill>
                          <a:latin typeface="Calibri"/>
                        </a:defRPr>
                      </a:pPr>
                      <a:r>
                        <a:t>Age verification mechanism</a:t>
                      </a:r>
                    </a:p>
                  </a:txBody>
                  <a:tcPr marL="43200" marR="43200" marT="21600" marB="21600" anchor="ctr">
                    <a:solidFill>
                      <a:srgbClr val="F1F3F8"/>
                    </a:solidFill>
                  </a:tcPr>
                </a:tc>
                <a:tc>
                  <a:txBody>
                    <a:bodyPr/>
                    <a:lstStyle/>
                    <a:p>
                      <a:pPr>
                        <a:defRPr sz="900" b="0">
                          <a:solidFill>
                            <a:srgbClr val="0B0E26"/>
                          </a:solidFill>
                          <a:latin typeface="Calibri"/>
                        </a:defRPr>
                      </a:pPr>
                      <a:r>
                        <a:t>Special Provisions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p.11</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CH4.SDF.1</a:t>
                      </a:r>
                    </a:p>
                  </a:txBody>
                  <a:tcPr marL="43200" marR="43200" marT="21600" marB="21600" anchor="ctr">
                    <a:solidFill>
                      <a:srgbClr val="FFFFFF"/>
                    </a:solidFill>
                  </a:tcPr>
                </a:tc>
                <a:tc>
                  <a:txBody>
                    <a:bodyPr/>
                    <a:lstStyle/>
                    <a:p>
                      <a:pPr>
                        <a:defRPr sz="900" b="0">
                          <a:solidFill>
                            <a:srgbClr val="0B0E26"/>
                          </a:solidFill>
                          <a:latin typeface="Calibri"/>
                        </a:defRPr>
                      </a:pPr>
                      <a:r>
                        <a:t>Data Protection Officer (DPO) appointed</a:t>
                      </a:r>
                    </a:p>
                  </a:txBody>
                  <a:tcPr marL="43200" marR="43200" marT="21600" marB="21600" anchor="ctr">
                    <a:solidFill>
                      <a:srgbClr val="FFFFFF"/>
                    </a:solidFill>
                  </a:tcPr>
                </a:tc>
                <a:tc>
                  <a:txBody>
                    <a:bodyPr/>
                    <a:lstStyle/>
                    <a:p>
                      <a:pPr>
                        <a:defRPr sz="900" b="0">
                          <a:solidFill>
                            <a:srgbClr val="0B0E26"/>
                          </a:solidFill>
                          <a:latin typeface="Calibri"/>
                        </a:defRPr>
                      </a:pPr>
                      <a:r>
                        <a:t>Special Provisions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CH4.SDF.2</a:t>
                      </a:r>
                    </a:p>
                  </a:txBody>
                  <a:tcPr marL="43200" marR="43200" marT="21600" marB="21600" anchor="ctr">
                    <a:solidFill>
                      <a:srgbClr val="F1F3F8"/>
                    </a:solidFill>
                  </a:tcPr>
                </a:tc>
                <a:tc>
                  <a:txBody>
                    <a:bodyPr/>
                    <a:lstStyle/>
                    <a:p>
                      <a:pPr>
                        <a:defRPr sz="900" b="0">
                          <a:solidFill>
                            <a:srgbClr val="0B0E26"/>
                          </a:solidFill>
                          <a:latin typeface="Calibri"/>
                        </a:defRPr>
                      </a:pPr>
                      <a:r>
                        <a:t>Independent Data Auditor appointed</a:t>
                      </a:r>
                    </a:p>
                  </a:txBody>
                  <a:tcPr marL="43200" marR="43200" marT="21600" marB="21600" anchor="ctr">
                    <a:solidFill>
                      <a:srgbClr val="F1F3F8"/>
                    </a:solidFill>
                  </a:tcPr>
                </a:tc>
                <a:tc>
                  <a:txBody>
                    <a:bodyPr/>
                    <a:lstStyle/>
                    <a:p>
                      <a:pPr>
                        <a:defRPr sz="900" b="0">
                          <a:solidFill>
                            <a:srgbClr val="0B0E26"/>
                          </a:solidFill>
                          <a:latin typeface="Calibri"/>
                        </a:defRPr>
                      </a:pPr>
                      <a:r>
                        <a:t>Special Provisions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CH4.SDF.3</a:t>
                      </a:r>
                    </a:p>
                  </a:txBody>
                  <a:tcPr marL="43200" marR="43200" marT="21600" marB="21600" anchor="ctr">
                    <a:solidFill>
                      <a:srgbClr val="FFFFFF"/>
                    </a:solidFill>
                  </a:tcPr>
                </a:tc>
                <a:tc>
                  <a:txBody>
                    <a:bodyPr/>
                    <a:lstStyle/>
                    <a:p>
                      <a:pPr>
                        <a:defRPr sz="900" b="0">
                          <a:solidFill>
                            <a:srgbClr val="0B0E26"/>
                          </a:solidFill>
                          <a:latin typeface="Calibri"/>
                        </a:defRPr>
                      </a:pPr>
                      <a:r>
                        <a:t>Data Protection Impact Assessment (DPIA) conducted</a:t>
                      </a:r>
                    </a:p>
                  </a:txBody>
                  <a:tcPr marL="43200" marR="43200" marT="21600" marB="21600" anchor="ctr">
                    <a:solidFill>
                      <a:srgbClr val="FFFFFF"/>
                    </a:solidFill>
                  </a:tcPr>
                </a:tc>
                <a:tc>
                  <a:txBody>
                    <a:bodyPr/>
                    <a:lstStyle/>
                    <a:p>
                      <a:pPr>
                        <a:defRPr sz="900" b="0">
                          <a:solidFill>
                            <a:srgbClr val="0B0E26"/>
                          </a:solidFill>
                          <a:latin typeface="Calibri"/>
                        </a:defRPr>
                      </a:pPr>
                      <a:r>
                        <a:t>Special Provisions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p.26</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CH4.SDF.4</a:t>
                      </a:r>
                    </a:p>
                  </a:txBody>
                  <a:tcPr marL="43200" marR="43200" marT="21600" marB="21600" anchor="ctr">
                    <a:solidFill>
                      <a:srgbClr val="F1F3F8"/>
                    </a:solidFill>
                  </a:tcPr>
                </a:tc>
                <a:tc>
                  <a:txBody>
                    <a:bodyPr/>
                    <a:lstStyle/>
                    <a:p>
                      <a:pPr>
                        <a:defRPr sz="900" b="0">
                          <a:solidFill>
                            <a:srgbClr val="0B0E26"/>
                          </a:solidFill>
                          <a:latin typeface="Calibri"/>
                        </a:defRPr>
                      </a:pPr>
                      <a:r>
                        <a:t>Periodic audit completed</a:t>
                      </a:r>
                    </a:p>
                  </a:txBody>
                  <a:tcPr marL="43200" marR="43200" marT="21600" marB="21600" anchor="ctr">
                    <a:solidFill>
                      <a:srgbClr val="F1F3F8"/>
                    </a:solidFill>
                  </a:tcPr>
                </a:tc>
                <a:tc>
                  <a:txBody>
                    <a:bodyPr/>
                    <a:lstStyle/>
                    <a:p>
                      <a:pPr>
                        <a:defRPr sz="900" b="0">
                          <a:solidFill>
                            <a:srgbClr val="0B0E26"/>
                          </a:solidFill>
                          <a:latin typeface="Calibri"/>
                        </a:defRPr>
                      </a:pPr>
                      <a:r>
                        <a:t>Special Provisions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p.14</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CM.RECORDS.1</a:t>
                      </a:r>
                    </a:p>
                  </a:txBody>
                  <a:tcPr marL="43200" marR="43200" marT="21600" marB="21600" anchor="ctr">
                    <a:solidFill>
                      <a:srgbClr val="FFFFFF"/>
                    </a:solidFill>
                  </a:tcPr>
                </a:tc>
                <a:tc>
                  <a:txBody>
                    <a:bodyPr/>
                    <a:lstStyle/>
                    <a:p>
                      <a:pPr>
                        <a:defRPr sz="900" b="0">
                          <a:solidFill>
                            <a:srgbClr val="0B0E26"/>
                          </a:solidFill>
                          <a:latin typeface="Calibri"/>
                        </a:defRPr>
                      </a:pPr>
                      <a:r>
                        <a:t>Consent records maintained</a:t>
                      </a:r>
                    </a:p>
                  </a:txBody>
                  <a:tcPr marL="43200" marR="43200" marT="21600" marB="21600" anchor="ctr">
                    <a:solidFill>
                      <a:srgbClr val="FFFFFF"/>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CM.RECORDS.2</a:t>
                      </a:r>
                    </a:p>
                  </a:txBody>
                  <a:tcPr marL="43200" marR="43200" marT="21600" marB="21600" anchor="ctr">
                    <a:solidFill>
                      <a:srgbClr val="F1F3F8"/>
                    </a:solidFill>
                  </a:tcPr>
                </a:tc>
                <a:tc>
                  <a:txBody>
                    <a:bodyPr/>
                    <a:lstStyle/>
                    <a:p>
                      <a:pPr>
                        <a:defRPr sz="900" b="0">
                          <a:solidFill>
                            <a:srgbClr val="0B0E26"/>
                          </a:solidFill>
                          <a:latin typeface="Calibri"/>
                        </a:defRPr>
                      </a:pPr>
                      <a:r>
                        <a:t>Fresh consent for a new or changed purpose</a:t>
                      </a:r>
                    </a:p>
                  </a:txBody>
                  <a:tcPr marL="43200" marR="43200" marT="21600" marB="21600" anchor="ctr">
                    <a:solidFill>
                      <a:srgbClr val="F1F3F8"/>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p.30</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CM.GRANULAR.1</a:t>
                      </a:r>
                    </a:p>
                  </a:txBody>
                  <a:tcPr marL="43200" marR="43200" marT="21600" marB="21600" anchor="ctr">
                    <a:solidFill>
                      <a:srgbClr val="FFFFFF"/>
                    </a:solidFill>
                  </a:tcPr>
                </a:tc>
                <a:tc>
                  <a:txBody>
                    <a:bodyPr/>
                    <a:lstStyle/>
                    <a:p>
                      <a:pPr>
                        <a:defRPr sz="900" b="0">
                          <a:solidFill>
                            <a:srgbClr val="0B0E26"/>
                          </a:solidFill>
                          <a:latin typeface="Calibri"/>
                        </a:defRPr>
                      </a:pPr>
                      <a:r>
                        <a:t>Granular consent options available</a:t>
                      </a:r>
                    </a:p>
                  </a:txBody>
                  <a:tcPr marL="43200" marR="43200" marT="21600" marB="21600" anchor="ctr">
                    <a:solidFill>
                      <a:srgbClr val="FFFFFF"/>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CM.GRANULAR.2</a:t>
                      </a:r>
                    </a:p>
                  </a:txBody>
                  <a:tcPr marL="43200" marR="43200" marT="21600" marB="21600" anchor="ctr">
                    <a:solidFill>
                      <a:srgbClr val="F1F3F8"/>
                    </a:solidFill>
                  </a:tcPr>
                </a:tc>
                <a:tc>
                  <a:txBody>
                    <a:bodyPr/>
                    <a:lstStyle/>
                    <a:p>
                      <a:pPr>
                        <a:defRPr sz="900" b="0">
                          <a:solidFill>
                            <a:srgbClr val="0B0E26"/>
                          </a:solidFill>
                          <a:latin typeface="Calibri"/>
                        </a:defRPr>
                      </a:pPr>
                      <a:r>
                        <a:t>No consent bundling with service access</a:t>
                      </a:r>
                    </a:p>
                  </a:txBody>
                  <a:tcPr marL="43200" marR="43200" marT="21600" marB="21600" anchor="ctr">
                    <a:solidFill>
                      <a:srgbClr val="F1F3F8"/>
                    </a:solidFill>
                  </a:tcPr>
                </a:tc>
                <a:tc>
                  <a:txBody>
                    <a:bodyPr/>
                    <a:lstStyle/>
                    <a:p>
                      <a:pPr>
                        <a:defRPr sz="900" b="0">
                          <a:solidFill>
                            <a:srgbClr val="0B0E26"/>
                          </a:solidFill>
                          <a:latin typeface="Calibri"/>
                        </a:defRPr>
                      </a:pPr>
                      <a:r>
                        <a:t>Consent Management (Detailed)</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p.9</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CB.TRANSFER.1</a:t>
                      </a:r>
                    </a:p>
                  </a:txBody>
                  <a:tcPr marL="43200" marR="43200" marT="21600" marB="21600" anchor="ctr">
                    <a:solidFill>
                      <a:srgbClr val="FFFFFF"/>
                    </a:solidFill>
                  </a:tcPr>
                </a:tc>
                <a:tc>
                  <a:txBody>
                    <a:bodyPr/>
                    <a:lstStyle/>
                    <a:p>
                      <a:pPr>
                        <a:defRPr sz="900" b="0">
                          <a:solidFill>
                            <a:srgbClr val="0B0E26"/>
                          </a:solidFill>
                          <a:latin typeface="Calibri"/>
                        </a:defRPr>
                      </a:pPr>
                      <a:r>
                        <a:t>Data transfers only to non-restricted jurisdictions</a:t>
                      </a:r>
                    </a:p>
                  </a:txBody>
                  <a:tcPr marL="43200" marR="43200" marT="21600" marB="21600" anchor="ctr">
                    <a:solidFill>
                      <a:srgbClr val="FFFFFF"/>
                    </a:solidFill>
                  </a:tcPr>
                </a:tc>
                <a:tc>
                  <a:txBody>
                    <a:bodyPr/>
                    <a:lstStyle/>
                    <a:p>
                      <a:pPr>
                        <a:defRPr sz="900" b="0">
                          <a:solidFill>
                            <a:srgbClr val="0B0E26"/>
                          </a:solidFill>
                          <a:latin typeface="Calibri"/>
                        </a:defRPr>
                      </a:pPr>
                      <a:r>
                        <a:t>Cross-Border Data Transfer</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p.23</a:t>
                      </a:r>
                    </a:p>
                  </a:txBody>
                  <a:tcPr marL="43200" marR="43200" marT="21600" marB="21600" anchor="ctr">
                    <a:solidFill>
                      <a:srgbClr val="FFFFFF"/>
                    </a:solidFill>
                  </a:tcPr>
                </a:tc>
              </a:tr>
              <a:tr h="365544">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CB.TRANSFER.2</a:t>
                      </a:r>
                    </a:p>
                  </a:txBody>
                  <a:tcPr marL="43200" marR="43200" marT="21600" marB="21600" anchor="ctr">
                    <a:solidFill>
                      <a:srgbClr val="F1F3F8"/>
                    </a:solidFill>
                  </a:tcPr>
                </a:tc>
                <a:tc>
                  <a:txBody>
                    <a:bodyPr/>
                    <a:lstStyle/>
                    <a:p>
                      <a:pPr>
                        <a:defRPr sz="900" b="0">
                          <a:solidFill>
                            <a:srgbClr val="0B0E26"/>
                          </a:solidFill>
                          <a:latin typeface="Calibri"/>
                        </a:defRPr>
                      </a:pPr>
                      <a:r>
                        <a:t>Transfers comply with s.16 restrictions and stricter sectoral law</a:t>
                      </a:r>
                    </a:p>
                  </a:txBody>
                  <a:tcPr marL="43200" marR="43200" marT="21600" marB="21600" anchor="ctr">
                    <a:solidFill>
                      <a:srgbClr val="F1F3F8"/>
                    </a:solidFill>
                  </a:tcPr>
                </a:tc>
                <a:tc>
                  <a:txBody>
                    <a:bodyPr/>
                    <a:lstStyle/>
                    <a:p>
                      <a:pPr>
                        <a:defRPr sz="900" b="0">
                          <a:solidFill>
                            <a:srgbClr val="0B0E26"/>
                          </a:solidFill>
                          <a:latin typeface="Calibri"/>
                        </a:defRPr>
                      </a:pPr>
                      <a:r>
                        <a:t>Cross-Border Data Transfer</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p.10</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23 of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(4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CB.TRANSFER.3</a:t>
                      </a:r>
                    </a:p>
                  </a:txBody>
                  <a:tcPr marL="43200" marR="43200" marT="21600" marB="21600" anchor="ctr">
                    <a:solidFill>
                      <a:srgbClr val="FFFFFF"/>
                    </a:solidFill>
                  </a:tcPr>
                </a:tc>
                <a:tc>
                  <a:txBody>
                    <a:bodyPr/>
                    <a:lstStyle/>
                    <a:p>
                      <a:pPr>
                        <a:defRPr sz="900" b="0">
                          <a:solidFill>
                            <a:srgbClr val="0B0E26"/>
                          </a:solidFill>
                          <a:latin typeface="Calibri"/>
                        </a:defRPr>
                      </a:pPr>
                      <a:r>
                        <a:t>Data localisation where required</a:t>
                      </a:r>
                    </a:p>
                  </a:txBody>
                  <a:tcPr marL="43200" marR="43200" marT="21600" marB="21600" anchor="ctr">
                    <a:solidFill>
                      <a:srgbClr val="FFFFFF"/>
                    </a:solidFill>
                  </a:tcPr>
                </a:tc>
                <a:tc>
                  <a:txBody>
                    <a:bodyPr/>
                    <a:lstStyle/>
                    <a:p>
                      <a:pPr>
                        <a:defRPr sz="900" b="0">
                          <a:solidFill>
                            <a:srgbClr val="0B0E26"/>
                          </a:solidFill>
                          <a:latin typeface="Calibri"/>
                        </a:defRPr>
                      </a:pPr>
                      <a:r>
                        <a:t>Cross-Border Data Transfer</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p.21</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BN.NOTIFY.1</a:t>
                      </a:r>
                    </a:p>
                  </a:txBody>
                  <a:tcPr marL="43200" marR="43200" marT="21600" marB="21600" anchor="ctr">
                    <a:solidFill>
                      <a:srgbClr val="F1F3F8"/>
                    </a:solidFill>
                  </a:tcPr>
                </a:tc>
                <a:tc>
                  <a:txBody>
                    <a:bodyPr/>
                    <a:lstStyle/>
                    <a:p>
                      <a:pPr>
                        <a:defRPr sz="900" b="0">
                          <a:solidFill>
                            <a:srgbClr val="0B0E26"/>
                          </a:solidFill>
                          <a:latin typeface="Calibri"/>
                        </a:defRPr>
                      </a:pPr>
                      <a:r>
                        <a:t>Breach notification to Data Protection Board</a:t>
                      </a:r>
                    </a:p>
                  </a:txBody>
                  <a:tcPr marL="43200" marR="43200" marT="21600" marB="21600" anchor="ctr">
                    <a:solidFill>
                      <a:srgbClr val="F1F3F8"/>
                    </a:solidFill>
                  </a:tcPr>
                </a:tc>
                <a:tc>
                  <a:txBody>
                    <a:bodyPr/>
                    <a:lstStyle/>
                    <a:p>
                      <a:pPr>
                        <a:defRPr sz="900" b="0">
                          <a:solidFill>
                            <a:srgbClr val="0B0E26"/>
                          </a:solidFill>
                          <a:latin typeface="Calibri"/>
                        </a:defRPr>
                      </a:pPr>
                      <a:r>
                        <a:t>Breach Notification</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incident-response-plan.docx v2, s.5, p.3</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BN.NOTIFY.2</a:t>
                      </a:r>
                    </a:p>
                  </a:txBody>
                  <a:tcPr marL="43200" marR="43200" marT="21600" marB="21600" anchor="ctr">
                    <a:solidFill>
                      <a:srgbClr val="FFFFFF"/>
                    </a:solidFill>
                  </a:tcPr>
                </a:tc>
                <a:tc>
                  <a:txBody>
                    <a:bodyPr/>
                    <a:lstStyle/>
                    <a:p>
                      <a:pPr>
                        <a:defRPr sz="900" b="0">
                          <a:solidFill>
                            <a:srgbClr val="0B0E26"/>
                          </a:solidFill>
                          <a:latin typeface="Calibri"/>
                        </a:defRPr>
                      </a:pPr>
                      <a:r>
                        <a:t>Breach notification to affected Data Principals</a:t>
                      </a:r>
                    </a:p>
                  </a:txBody>
                  <a:tcPr marL="43200" marR="43200" marT="21600" marB="21600" anchor="ctr">
                    <a:solidFill>
                      <a:srgbClr val="FFFFFF"/>
                    </a:solidFill>
                  </a:tcPr>
                </a:tc>
                <a:tc>
                  <a:txBody>
                    <a:bodyPr/>
                    <a:lstStyle/>
                    <a:p>
                      <a:pPr>
                        <a:defRPr sz="900" b="0">
                          <a:solidFill>
                            <a:srgbClr val="0B0E26"/>
                          </a:solidFill>
                          <a:latin typeface="Calibri"/>
                        </a:defRPr>
                      </a:pPr>
                      <a:r>
                        <a:t>Breach Notification</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1F3F8"/>
                    </a:solidFill>
                  </a:tcPr>
                </a:tc>
                <a:tc>
                  <a:txBody>
                    <a:bodyPr/>
                    <a:lstStyle/>
                    <a:p>
                      <a:pPr>
                        <a:defRPr sz="900" b="0">
                          <a:solidFill>
                            <a:srgbClr val="0B0E26"/>
                          </a:solidFill>
                          <a:latin typeface="Calibri"/>
                        </a:defRPr>
                      </a:pPr>
                      <a:r>
                        <a:t>BN.NOTIFY.3</a:t>
                      </a:r>
                    </a:p>
                  </a:txBody>
                  <a:tcPr marL="43200" marR="43200" marT="21600" marB="21600" anchor="ctr">
                    <a:solidFill>
                      <a:srgbClr val="F1F3F8"/>
                    </a:solidFill>
                  </a:tcPr>
                </a:tc>
                <a:tc>
                  <a:txBody>
                    <a:bodyPr/>
                    <a:lstStyle/>
                    <a:p>
                      <a:pPr>
                        <a:defRPr sz="900" b="0">
                          <a:solidFill>
                            <a:srgbClr val="0B0E26"/>
                          </a:solidFill>
                          <a:latin typeface="Calibri"/>
                        </a:defRPr>
                      </a:pPr>
                      <a:r>
                        <a:t>Incident response plan documented</a:t>
                      </a:r>
                    </a:p>
                  </a:txBody>
                  <a:tcPr marL="43200" marR="43200" marT="21600" marB="21600" anchor="ctr">
                    <a:solidFill>
                      <a:srgbClr val="F1F3F8"/>
                    </a:solidFill>
                  </a:tcPr>
                </a:tc>
                <a:tc>
                  <a:txBody>
                    <a:bodyPr/>
                    <a:lstStyle/>
                    <a:p>
                      <a:pPr>
                        <a:defRPr sz="900" b="0">
                          <a:solidFill>
                            <a:srgbClr val="0B0E26"/>
                          </a:solidFill>
                          <a:latin typeface="Calibri"/>
                        </a:defRPr>
                      </a:pPr>
                      <a:r>
                        <a:t>Breach Notification</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p.16</a:t>
                      </a:r>
                    </a:p>
                  </a:txBody>
                  <a:tcPr marL="43200" marR="43200" marT="21600" marB="21600" anchor="ctr">
                    <a:solidFill>
                      <a:srgbClr val="F1F3F8"/>
                    </a:solidFill>
                  </a:tcPr>
                </a:tc>
              </a:tr>
              <a:tr h="365538">
                <a:tc>
                  <a:txBody>
                    <a:bodyPr/>
                    <a:lstStyle/>
                    <a:p>
                      <a:pPr>
                        <a:defRPr sz="900" b="0">
                          <a:solidFill>
                            <a:srgbClr val="0B0E26"/>
                          </a:solidFill>
                          <a:latin typeface="Calibri"/>
                        </a:defRPr>
                      </a:pPr>
                      <a:r>
                        <a:t>India DPDPA</a:t>
                      </a:r>
                    </a:p>
                  </a:txBody>
                  <a:tcPr marL="43200" marR="43200" marT="21600" marB="21600" anchor="ctr">
                    <a:solidFill>
                      <a:srgbClr val="FFFFFF"/>
                    </a:solidFill>
                  </a:tcPr>
                </a:tc>
                <a:tc>
                  <a:txBody>
                    <a:bodyPr/>
                    <a:lstStyle/>
                    <a:p>
                      <a:pPr>
                        <a:defRPr sz="900" b="0">
                          <a:solidFill>
                            <a:srgbClr val="0B0E26"/>
                          </a:solidFill>
                          <a:latin typeface="Calibri"/>
                        </a:defRPr>
                      </a:pPr>
                      <a:r>
                        <a:t>BN.NOTIFY.4</a:t>
                      </a:r>
                    </a:p>
                  </a:txBody>
                  <a:tcPr marL="43200" marR="43200" marT="21600" marB="21600" anchor="ctr">
                    <a:solidFill>
                      <a:srgbClr val="FFFFFF"/>
                    </a:solidFill>
                  </a:tcPr>
                </a:tc>
                <a:tc>
                  <a:txBody>
                    <a:bodyPr/>
                    <a:lstStyle/>
                    <a:p>
                      <a:pPr>
                        <a:defRPr sz="900" b="0">
                          <a:solidFill>
                            <a:srgbClr val="0B0E26"/>
                          </a:solidFill>
                          <a:latin typeface="Calibri"/>
                        </a:defRPr>
                      </a:pPr>
                      <a:r>
                        <a:t>Breach register maintained</a:t>
                      </a:r>
                    </a:p>
                  </a:txBody>
                  <a:tcPr marL="43200" marR="43200" marT="21600" marB="21600" anchor="ctr">
                    <a:solidFill>
                      <a:srgbClr val="FFFFFF"/>
                    </a:solidFill>
                  </a:tcPr>
                </a:tc>
                <a:tc>
                  <a:txBody>
                    <a:bodyPr/>
                    <a:lstStyle/>
                    <a:p>
                      <a:pPr>
                        <a:defRPr sz="900" b="0">
                          <a:solidFill>
                            <a:srgbClr val="0B0E26"/>
                          </a:solidFill>
                          <a:latin typeface="Calibri"/>
                        </a:defRPr>
                      </a:pPr>
                      <a:r>
                        <a:t>Breach Notification</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a:t>
                      </a:r>
                    </a:p>
                  </a:txBody>
                  <a:tcPr marL="43200" marR="43200" marT="21600" marB="21600" anchor="ctr">
                    <a:solidFill>
                      <a:srgbClr val="F1F3F8"/>
                    </a:solidFill>
                  </a:tcPr>
                </a:tc>
                <a:tc>
                  <a:txBody>
                    <a:bodyPr/>
                    <a:lstStyle/>
                    <a:p>
                      <a:pPr>
                        <a:defRPr sz="900" b="0">
                          <a:solidFill>
                            <a:srgbClr val="0B0E26"/>
                          </a:solidFill>
                          <a:latin typeface="Calibri"/>
                        </a:defRPr>
                      </a:pPr>
                      <a:r>
                        <a:t>Policies for information security</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roles and responsibilities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p.17</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a:t>
                      </a:r>
                    </a:p>
                  </a:txBody>
                  <a:tcPr marL="43200" marR="43200" marT="21600" marB="21600" anchor="ctr">
                    <a:solidFill>
                      <a:srgbClr val="F1F3F8"/>
                    </a:solidFill>
                  </a:tcPr>
                </a:tc>
                <a:tc>
                  <a:txBody>
                    <a:bodyPr/>
                    <a:lstStyle/>
                    <a:p>
                      <a:pPr>
                        <a:defRPr sz="900" b="0">
                          <a:solidFill>
                            <a:srgbClr val="0B0E26"/>
                          </a:solidFill>
                          <a:latin typeface="Calibri"/>
                        </a:defRPr>
                      </a:pPr>
                      <a:r>
                        <a:t>Segregation of duties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ISO.A5.4</a:t>
                      </a:r>
                    </a:p>
                  </a:txBody>
                  <a:tcPr marL="43200" marR="43200" marT="21600" marB="21600" anchor="ctr">
                    <a:solidFill>
                      <a:srgbClr val="FFFFFF"/>
                    </a:solidFill>
                  </a:tcPr>
                </a:tc>
                <a:tc>
                  <a:txBody>
                    <a:bodyPr/>
                    <a:lstStyle/>
                    <a:p>
                      <a:pPr>
                        <a:defRPr sz="900" b="0">
                          <a:solidFill>
                            <a:srgbClr val="0B0E26"/>
                          </a:solidFill>
                          <a:latin typeface="Calibri"/>
                        </a:defRPr>
                      </a:pPr>
                      <a:r>
                        <a:t>Management responsibilities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ISO.A5.5</a:t>
                      </a:r>
                    </a:p>
                  </a:txBody>
                  <a:tcPr marL="43200" marR="43200" marT="21600" marB="21600" anchor="ctr">
                    <a:solidFill>
                      <a:srgbClr val="F1F3F8"/>
                    </a:solidFill>
                  </a:tcPr>
                </a:tc>
                <a:tc>
                  <a:txBody>
                    <a:bodyPr/>
                    <a:lstStyle/>
                    <a:p>
                      <a:pPr>
                        <a:defRPr sz="900" b="0">
                          <a:solidFill>
                            <a:srgbClr val="0B0E26"/>
                          </a:solidFill>
                          <a:latin typeface="Calibri"/>
                        </a:defRPr>
                      </a:pPr>
                      <a:r>
                        <a:t>Contact with authorities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ISO.A5.6</a:t>
                      </a:r>
                    </a:p>
                  </a:txBody>
                  <a:tcPr marL="43200" marR="43200" marT="21600" marB="21600" anchor="ctr">
                    <a:solidFill>
                      <a:srgbClr val="FFFFFF"/>
                    </a:solidFill>
                  </a:tcPr>
                </a:tc>
                <a:tc>
                  <a:txBody>
                    <a:bodyPr/>
                    <a:lstStyle/>
                    <a:p>
                      <a:pPr>
                        <a:defRPr sz="900" b="0">
                          <a:solidFill>
                            <a:srgbClr val="0B0E26"/>
                          </a:solidFill>
                          <a:latin typeface="Calibri"/>
                        </a:defRPr>
                      </a:pPr>
                      <a:r>
                        <a:t>Contact with special interest groups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p.21</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ISO.A5.7</a:t>
                      </a:r>
                    </a:p>
                  </a:txBody>
                  <a:tcPr marL="43200" marR="43200" marT="21600" marB="21600" anchor="ctr">
                    <a:solidFill>
                      <a:srgbClr val="F1F3F8"/>
                    </a:solidFill>
                  </a:tcPr>
                </a:tc>
                <a:tc>
                  <a:txBody>
                    <a:bodyPr/>
                    <a:lstStyle/>
                    <a:p>
                      <a:pPr>
                        <a:defRPr sz="900" b="0">
                          <a:solidFill>
                            <a:srgbClr val="0B0E26"/>
                          </a:solidFill>
                          <a:latin typeface="Calibri"/>
                        </a:defRPr>
                      </a:pPr>
                      <a:r>
                        <a:t>Threat intelligence</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p.21</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24 of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(5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ISO.A5.8</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in project management</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p.16</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ISO.A5.9</a:t>
                      </a:r>
                    </a:p>
                  </a:txBody>
                  <a:tcPr marL="43200" marR="43200" marT="21600" marB="21600" anchor="ctr">
                    <a:solidFill>
                      <a:srgbClr val="F1F3F8"/>
                    </a:solidFill>
                  </a:tcPr>
                </a:tc>
                <a:tc>
                  <a:txBody>
                    <a:bodyPr/>
                    <a:lstStyle/>
                    <a:p>
                      <a:pPr>
                        <a:defRPr sz="900" b="0">
                          <a:solidFill>
                            <a:srgbClr val="0B0E26"/>
                          </a:solidFill>
                          <a:latin typeface="Calibri"/>
                        </a:defRPr>
                      </a:pPr>
                      <a:r>
                        <a:t>Inventory of information and other associated assets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ISO.A5.10</a:t>
                      </a:r>
                    </a:p>
                  </a:txBody>
                  <a:tcPr marL="43200" marR="43200" marT="21600" marB="21600" anchor="ctr">
                    <a:solidFill>
                      <a:srgbClr val="FFFFFF"/>
                    </a:solidFill>
                  </a:tcPr>
                </a:tc>
                <a:tc>
                  <a:txBody>
                    <a:bodyPr/>
                    <a:lstStyle/>
                    <a:p>
                      <a:pPr>
                        <a:defRPr sz="900" b="0">
                          <a:solidFill>
                            <a:srgbClr val="0B0E26"/>
                          </a:solidFill>
                          <a:latin typeface="Calibri"/>
                        </a:defRPr>
                      </a:pPr>
                      <a:r>
                        <a:t>Acceptable use of information and other associated assets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ISO.A5.11</a:t>
                      </a:r>
                    </a:p>
                  </a:txBody>
                  <a:tcPr marL="43200" marR="43200" marT="21600" marB="21600" anchor="ctr">
                    <a:solidFill>
                      <a:srgbClr val="F1F3F8"/>
                    </a:solidFill>
                  </a:tcPr>
                </a:tc>
                <a:tc>
                  <a:txBody>
                    <a:bodyPr/>
                    <a:lstStyle/>
                    <a:p>
                      <a:pPr>
                        <a:defRPr sz="900" b="0">
                          <a:solidFill>
                            <a:srgbClr val="0B0E26"/>
                          </a:solidFill>
                          <a:latin typeface="Calibri"/>
                        </a:defRPr>
                      </a:pPr>
                      <a:r>
                        <a:t>Return of assets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ISO.A5.12</a:t>
                      </a:r>
                    </a:p>
                  </a:txBody>
                  <a:tcPr marL="43200" marR="43200" marT="21600" marB="21600" anchor="ctr">
                    <a:solidFill>
                      <a:srgbClr val="FFFFFF"/>
                    </a:solidFill>
                  </a:tcPr>
                </a:tc>
                <a:tc>
                  <a:txBody>
                    <a:bodyPr/>
                    <a:lstStyle/>
                    <a:p>
                      <a:pPr>
                        <a:defRPr sz="900" b="0">
                          <a:solidFill>
                            <a:srgbClr val="0B0E26"/>
                          </a:solidFill>
                          <a:latin typeface="Calibri"/>
                        </a:defRPr>
                      </a:pPr>
                      <a:r>
                        <a:t>Classification of information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p.26</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ISO.A5.13</a:t>
                      </a:r>
                    </a:p>
                  </a:txBody>
                  <a:tcPr marL="43200" marR="43200" marT="21600" marB="21600" anchor="ctr">
                    <a:solidFill>
                      <a:srgbClr val="F1F3F8"/>
                    </a:solidFill>
                  </a:tcPr>
                </a:tc>
                <a:tc>
                  <a:txBody>
                    <a:bodyPr/>
                    <a:lstStyle/>
                    <a:p>
                      <a:pPr>
                        <a:defRPr sz="900" b="0">
                          <a:solidFill>
                            <a:srgbClr val="0B0E26"/>
                          </a:solidFill>
                          <a:latin typeface="Calibri"/>
                        </a:defRPr>
                      </a:pPr>
                      <a:r>
                        <a:t>Labelling of information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ISO.A5.14</a:t>
                      </a:r>
                    </a:p>
                  </a:txBody>
                  <a:tcPr marL="43200" marR="43200" marT="21600" marB="21600" anchor="ctr">
                    <a:solidFill>
                      <a:srgbClr val="FFFFFF"/>
                    </a:solidFill>
                  </a:tcPr>
                </a:tc>
                <a:tc>
                  <a:txBody>
                    <a:bodyPr/>
                    <a:lstStyle/>
                    <a:p>
                      <a:pPr>
                        <a:defRPr sz="900" b="0">
                          <a:solidFill>
                            <a:srgbClr val="0B0E26"/>
                          </a:solidFill>
                          <a:latin typeface="Calibri"/>
                        </a:defRPr>
                      </a:pPr>
                      <a:r>
                        <a:t>Information transfer</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p.13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ISO.A5.15</a:t>
                      </a:r>
                    </a:p>
                  </a:txBody>
                  <a:tcPr marL="43200" marR="43200" marT="21600" marB="21600" anchor="ctr">
                    <a:solidFill>
                      <a:srgbClr val="F1F3F8"/>
                    </a:solidFill>
                  </a:tcPr>
                </a:tc>
                <a:tc>
                  <a:txBody>
                    <a:bodyPr/>
                    <a:lstStyle/>
                    <a:p>
                      <a:pPr>
                        <a:defRPr sz="900" b="0">
                          <a:solidFill>
                            <a:srgbClr val="0B0E26"/>
                          </a:solidFill>
                          <a:latin typeface="Calibri"/>
                        </a:defRPr>
                      </a:pPr>
                      <a:r>
                        <a:t>Access control</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p.22</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ISO.A5.16</a:t>
                      </a:r>
                    </a:p>
                  </a:txBody>
                  <a:tcPr marL="43200" marR="43200" marT="21600" marB="21600" anchor="ctr">
                    <a:solidFill>
                      <a:srgbClr val="FFFFFF"/>
                    </a:solidFill>
                  </a:tcPr>
                </a:tc>
                <a:tc>
                  <a:txBody>
                    <a:bodyPr/>
                    <a:lstStyle/>
                    <a:p>
                      <a:pPr>
                        <a:defRPr sz="900" b="0">
                          <a:solidFill>
                            <a:srgbClr val="0B0E26"/>
                          </a:solidFill>
                          <a:latin typeface="Calibri"/>
                        </a:defRPr>
                      </a:pPr>
                      <a:r>
                        <a:t>Identity management</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p.27</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ISO.A5.17</a:t>
                      </a:r>
                    </a:p>
                  </a:txBody>
                  <a:tcPr marL="43200" marR="43200" marT="21600" marB="21600" anchor="ctr">
                    <a:solidFill>
                      <a:srgbClr val="F1F3F8"/>
                    </a:solidFill>
                  </a:tcPr>
                </a:tc>
                <a:tc>
                  <a:txBody>
                    <a:bodyPr/>
                    <a:lstStyle/>
                    <a:p>
                      <a:pPr>
                        <a:defRPr sz="900" b="0">
                          <a:solidFill>
                            <a:srgbClr val="0B0E26"/>
                          </a:solidFill>
                          <a:latin typeface="Calibri"/>
                        </a:defRPr>
                      </a:pPr>
                      <a:r>
                        <a:t>Authentication information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ISO.A5.18</a:t>
                      </a:r>
                    </a:p>
                  </a:txBody>
                  <a:tcPr marL="43200" marR="43200" marT="21600" marB="21600" anchor="ctr">
                    <a:solidFill>
                      <a:srgbClr val="FFFFFF"/>
                    </a:solidFill>
                  </a:tcPr>
                </a:tc>
                <a:tc>
                  <a:txBody>
                    <a:bodyPr/>
                    <a:lstStyle/>
                    <a:p>
                      <a:pPr>
                        <a:defRPr sz="900" b="0">
                          <a:solidFill>
                            <a:srgbClr val="0B0E26"/>
                          </a:solidFill>
                          <a:latin typeface="Calibri"/>
                        </a:defRPr>
                      </a:pPr>
                      <a:r>
                        <a:t>Access rights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access-review-export.xlsx v1, Sheet 'Leavers', rows 2-15</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ISO.A5.19</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in supplier relationships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25 of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(6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ISO.A5.20</a:t>
                      </a:r>
                    </a:p>
                  </a:txBody>
                  <a:tcPr marL="43200" marR="43200" marT="21600" marB="21600" anchor="ctr">
                    <a:solidFill>
                      <a:srgbClr val="FFFFFF"/>
                    </a:solidFill>
                  </a:tcPr>
                </a:tc>
                <a:tc>
                  <a:txBody>
                    <a:bodyPr/>
                    <a:lstStyle/>
                    <a:p>
                      <a:pPr>
                        <a:defRPr sz="900" b="0">
                          <a:solidFill>
                            <a:srgbClr val="0B0E26"/>
                          </a:solidFill>
                          <a:latin typeface="Calibri"/>
                        </a:defRPr>
                      </a:pPr>
                      <a:r>
                        <a:t>Addressing information security within supplier agreements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ISO.A5.21</a:t>
                      </a:r>
                    </a:p>
                  </a:txBody>
                  <a:tcPr marL="43200" marR="43200" marT="21600" marB="21600" anchor="ctr">
                    <a:solidFill>
                      <a:srgbClr val="F1F3F8"/>
                    </a:solidFill>
                  </a:tcPr>
                </a:tc>
                <a:tc>
                  <a:txBody>
                    <a:bodyPr/>
                    <a:lstStyle/>
                    <a:p>
                      <a:pPr>
                        <a:defRPr sz="900" b="0">
                          <a:solidFill>
                            <a:srgbClr val="0B0E26"/>
                          </a:solidFill>
                          <a:latin typeface="Calibri"/>
                        </a:defRPr>
                      </a:pPr>
                      <a:r>
                        <a:t>Managing information security in the ICT supply chain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ISO.A5.22</a:t>
                      </a:r>
                    </a:p>
                  </a:txBody>
                  <a:tcPr marL="43200" marR="43200" marT="21600" marB="21600" anchor="ctr">
                    <a:solidFill>
                      <a:srgbClr val="FFFFFF"/>
                    </a:solidFill>
                  </a:tcPr>
                </a:tc>
                <a:tc>
                  <a:txBody>
                    <a:bodyPr/>
                    <a:lstStyle/>
                    <a:p>
                      <a:pPr>
                        <a:defRPr sz="900" b="0">
                          <a:solidFill>
                            <a:srgbClr val="0B0E26"/>
                          </a:solidFill>
                          <a:latin typeface="Calibri"/>
                        </a:defRPr>
                      </a:pPr>
                      <a:r>
                        <a:t>Monitoring, review and change management of supplier services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ISO.A5.23</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for use of cloud services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p.17</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ISO.A5.24</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incident management planning and preparation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ISO.A5.25</a:t>
                      </a:r>
                    </a:p>
                  </a:txBody>
                  <a:tcPr marL="43200" marR="43200" marT="21600" marB="21600" anchor="ctr">
                    <a:solidFill>
                      <a:srgbClr val="F1F3F8"/>
                    </a:solidFill>
                  </a:tcPr>
                </a:tc>
                <a:tc>
                  <a:txBody>
                    <a:bodyPr/>
                    <a:lstStyle/>
                    <a:p>
                      <a:pPr>
                        <a:defRPr sz="900" b="0">
                          <a:solidFill>
                            <a:srgbClr val="0B0E26"/>
                          </a:solidFill>
                          <a:latin typeface="Calibri"/>
                        </a:defRPr>
                      </a:pPr>
                      <a:r>
                        <a:t>Assessment and decision on information security events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ISO.A5.26</a:t>
                      </a:r>
                    </a:p>
                  </a:txBody>
                  <a:tcPr marL="43200" marR="43200" marT="21600" marB="21600" anchor="ctr">
                    <a:solidFill>
                      <a:srgbClr val="FFFFFF"/>
                    </a:solidFill>
                  </a:tcPr>
                </a:tc>
                <a:tc>
                  <a:txBody>
                    <a:bodyPr/>
                    <a:lstStyle/>
                    <a:p>
                      <a:pPr>
                        <a:defRPr sz="900" b="0">
                          <a:solidFill>
                            <a:srgbClr val="0B0E26"/>
                          </a:solidFill>
                          <a:latin typeface="Calibri"/>
                        </a:defRPr>
                      </a:pPr>
                      <a:r>
                        <a:t>Response to information security incidents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p.30</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ISO.A5.27</a:t>
                      </a:r>
                    </a:p>
                  </a:txBody>
                  <a:tcPr marL="43200" marR="43200" marT="21600" marB="21600" anchor="ctr">
                    <a:solidFill>
                      <a:srgbClr val="F1F3F8"/>
                    </a:solidFill>
                  </a:tcPr>
                </a:tc>
                <a:tc>
                  <a:txBody>
                    <a:bodyPr/>
                    <a:lstStyle/>
                    <a:p>
                      <a:pPr>
                        <a:defRPr sz="900" b="0">
                          <a:solidFill>
                            <a:srgbClr val="0B0E26"/>
                          </a:solidFill>
                          <a:latin typeface="Calibri"/>
                        </a:defRPr>
                      </a:pPr>
                      <a:r>
                        <a:t>Learning from information security incidents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ISO.A5.28</a:t>
                      </a:r>
                    </a:p>
                  </a:txBody>
                  <a:tcPr marL="43200" marR="43200" marT="21600" marB="21600" anchor="ctr">
                    <a:solidFill>
                      <a:srgbClr val="FFFFFF"/>
                    </a:solidFill>
                  </a:tcPr>
                </a:tc>
                <a:tc>
                  <a:txBody>
                    <a:bodyPr/>
                    <a:lstStyle/>
                    <a:p>
                      <a:pPr>
                        <a:defRPr sz="900" b="0">
                          <a:solidFill>
                            <a:srgbClr val="0B0E26"/>
                          </a:solidFill>
                          <a:latin typeface="Calibri"/>
                        </a:defRPr>
                      </a:pPr>
                      <a:r>
                        <a:t>Collection of evidence</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p.16</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ISO.A5.29</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during disruption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p.7</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ISO.A5.30</a:t>
                      </a:r>
                    </a:p>
                  </a:txBody>
                  <a:tcPr marL="43200" marR="43200" marT="21600" marB="21600" anchor="ctr">
                    <a:solidFill>
                      <a:srgbClr val="FFFFFF"/>
                    </a:solidFill>
                  </a:tcPr>
                </a:tc>
                <a:tc>
                  <a:txBody>
                    <a:bodyPr/>
                    <a:lstStyle/>
                    <a:p>
                      <a:pPr>
                        <a:defRPr sz="900" b="0">
                          <a:solidFill>
                            <a:srgbClr val="0B0E26"/>
                          </a:solidFill>
                          <a:latin typeface="Calibri"/>
                        </a:defRPr>
                      </a:pPr>
                      <a:r>
                        <a:t>ICT readiness for business continuity</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bcp-2024.pdf v1, whole</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ISO.A5.31</a:t>
                      </a:r>
                    </a:p>
                  </a:txBody>
                  <a:tcPr marL="43200" marR="43200" marT="21600" marB="21600" anchor="ctr">
                    <a:solidFill>
                      <a:srgbClr val="F1F3F8"/>
                    </a:solidFill>
                  </a:tcPr>
                </a:tc>
                <a:tc>
                  <a:txBody>
                    <a:bodyPr/>
                    <a:lstStyle/>
                    <a:p>
                      <a:pPr>
                        <a:defRPr sz="900" b="0">
                          <a:solidFill>
                            <a:srgbClr val="0B0E26"/>
                          </a:solidFill>
                          <a:latin typeface="Calibri"/>
                        </a:defRPr>
                      </a:pPr>
                      <a:r>
                        <a:t>Legal, statutory, regulatory and contractual requirements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p.27</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26 of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(7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ISO.A5.32</a:t>
                      </a:r>
                    </a:p>
                  </a:txBody>
                  <a:tcPr marL="43200" marR="43200" marT="21600" marB="21600" anchor="ctr">
                    <a:solidFill>
                      <a:srgbClr val="FFFFFF"/>
                    </a:solidFill>
                  </a:tcPr>
                </a:tc>
                <a:tc>
                  <a:txBody>
                    <a:bodyPr/>
                    <a:lstStyle/>
                    <a:p>
                      <a:pPr>
                        <a:defRPr sz="900" b="0">
                          <a:solidFill>
                            <a:srgbClr val="0B0E26"/>
                          </a:solidFill>
                          <a:latin typeface="Calibri"/>
                        </a:defRPr>
                      </a:pPr>
                      <a:r>
                        <a:t>Intellectual property rights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ISO.A5.33</a:t>
                      </a:r>
                    </a:p>
                  </a:txBody>
                  <a:tcPr marL="43200" marR="43200" marT="21600" marB="21600" anchor="ctr">
                    <a:solidFill>
                      <a:srgbClr val="F1F3F8"/>
                    </a:solidFill>
                  </a:tcPr>
                </a:tc>
                <a:tc>
                  <a:txBody>
                    <a:bodyPr/>
                    <a:lstStyle/>
                    <a:p>
                      <a:pPr>
                        <a:defRPr sz="900" b="0">
                          <a:solidFill>
                            <a:srgbClr val="0B0E26"/>
                          </a:solidFill>
                          <a:latin typeface="Calibri"/>
                        </a:defRPr>
                      </a:pPr>
                      <a:r>
                        <a:t>Protection of records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ISO.A5.34</a:t>
                      </a:r>
                    </a:p>
                  </a:txBody>
                  <a:tcPr marL="43200" marR="43200" marT="21600" marB="21600" anchor="ctr">
                    <a:solidFill>
                      <a:srgbClr val="FFFFFF"/>
                    </a:solidFill>
                  </a:tcPr>
                </a:tc>
                <a:tc>
                  <a:txBody>
                    <a:bodyPr/>
                    <a:lstStyle/>
                    <a:p>
                      <a:pPr>
                        <a:defRPr sz="900" b="0">
                          <a:solidFill>
                            <a:srgbClr val="0B0E26"/>
                          </a:solidFill>
                          <a:latin typeface="Calibri"/>
                        </a:defRPr>
                      </a:pPr>
                      <a:r>
                        <a:t>Privacy and protection of personal information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ISO.A5.35</a:t>
                      </a:r>
                    </a:p>
                  </a:txBody>
                  <a:tcPr marL="43200" marR="43200" marT="21600" marB="21600" anchor="ctr">
                    <a:solidFill>
                      <a:srgbClr val="F1F3F8"/>
                    </a:solidFill>
                  </a:tcPr>
                </a:tc>
                <a:tc>
                  <a:txBody>
                    <a:bodyPr/>
                    <a:lstStyle/>
                    <a:p>
                      <a:pPr>
                        <a:defRPr sz="900" b="0">
                          <a:solidFill>
                            <a:srgbClr val="0B0E26"/>
                          </a:solidFill>
                          <a:latin typeface="Calibri"/>
                        </a:defRPr>
                      </a:pPr>
                      <a:r>
                        <a:t>Independent review of information security</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ISO.A5.36</a:t>
                      </a:r>
                    </a:p>
                  </a:txBody>
                  <a:tcPr marL="43200" marR="43200" marT="21600" marB="21600" anchor="ctr">
                    <a:solidFill>
                      <a:srgbClr val="FFFFFF"/>
                    </a:solidFill>
                  </a:tcPr>
                </a:tc>
                <a:tc>
                  <a:txBody>
                    <a:bodyPr/>
                    <a:lstStyle/>
                    <a:p>
                      <a:pPr>
                        <a:defRPr sz="900" b="0">
                          <a:solidFill>
                            <a:srgbClr val="0B0E26"/>
                          </a:solidFill>
                          <a:latin typeface="Calibri"/>
                        </a:defRPr>
                      </a:pPr>
                      <a:r>
                        <a:t>Compliance with policies, rules and standards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ISO.A5.37</a:t>
                      </a:r>
                    </a:p>
                  </a:txBody>
                  <a:tcPr marL="43200" marR="43200" marT="21600" marB="21600" anchor="ctr">
                    <a:solidFill>
                      <a:srgbClr val="F1F3F8"/>
                    </a:solidFill>
                  </a:tcPr>
                </a:tc>
                <a:tc>
                  <a:txBody>
                    <a:bodyPr/>
                    <a:lstStyle/>
                    <a:p>
                      <a:pPr>
                        <a:defRPr sz="900" b="0">
                          <a:solidFill>
                            <a:srgbClr val="0B0E26"/>
                          </a:solidFill>
                          <a:latin typeface="Calibri"/>
                        </a:defRPr>
                      </a:pPr>
                      <a:r>
                        <a:t>Documented operating procedures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ISO.A6.1</a:t>
                      </a:r>
                    </a:p>
                  </a:txBody>
                  <a:tcPr marL="43200" marR="43200" marT="21600" marB="21600" anchor="ctr">
                    <a:solidFill>
                      <a:srgbClr val="FFFFFF"/>
                    </a:solidFill>
                  </a:tcPr>
                </a:tc>
                <a:tc>
                  <a:txBody>
                    <a:bodyPr/>
                    <a:lstStyle/>
                    <a:p>
                      <a:pPr>
                        <a:defRPr sz="900" b="0">
                          <a:solidFill>
                            <a:srgbClr val="0B0E26"/>
                          </a:solidFill>
                          <a:latin typeface="Calibri"/>
                        </a:defRPr>
                      </a:pPr>
                      <a:r>
                        <a:t>Screening</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ISO.A6.2</a:t>
                      </a:r>
                    </a:p>
                  </a:txBody>
                  <a:tcPr marL="43200" marR="43200" marT="21600" marB="21600" anchor="ctr">
                    <a:solidFill>
                      <a:srgbClr val="F1F3F8"/>
                    </a:solidFill>
                  </a:tcPr>
                </a:tc>
                <a:tc>
                  <a:txBody>
                    <a:bodyPr/>
                    <a:lstStyle/>
                    <a:p>
                      <a:pPr>
                        <a:defRPr sz="900" b="0">
                          <a:solidFill>
                            <a:srgbClr val="0B0E26"/>
                          </a:solidFill>
                          <a:latin typeface="Calibri"/>
                        </a:defRPr>
                      </a:pPr>
                      <a:r>
                        <a:t>Terms and conditions of employment</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ISO.A6.3</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awareness, education and training</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ISO.A6.4</a:t>
                      </a:r>
                    </a:p>
                  </a:txBody>
                  <a:tcPr marL="43200" marR="43200" marT="21600" marB="21600" anchor="ctr">
                    <a:solidFill>
                      <a:srgbClr val="F1F3F8"/>
                    </a:solidFill>
                  </a:tcPr>
                </a:tc>
                <a:tc>
                  <a:txBody>
                    <a:bodyPr/>
                    <a:lstStyle/>
                    <a:p>
                      <a:pPr>
                        <a:defRPr sz="900" b="0">
                          <a:solidFill>
                            <a:srgbClr val="0B0E26"/>
                          </a:solidFill>
                          <a:latin typeface="Calibri"/>
                        </a:defRPr>
                      </a:pPr>
                      <a:r>
                        <a:t>Disciplinary process</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p.29</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ISO.A6.5</a:t>
                      </a:r>
                    </a:p>
                  </a:txBody>
                  <a:tcPr marL="43200" marR="43200" marT="21600" marB="21600" anchor="ctr">
                    <a:solidFill>
                      <a:srgbClr val="FFFFFF"/>
                    </a:solidFill>
                  </a:tcPr>
                </a:tc>
                <a:tc>
                  <a:txBody>
                    <a:bodyPr/>
                    <a:lstStyle/>
                    <a:p>
                      <a:pPr>
                        <a:defRPr sz="900" b="0">
                          <a:solidFill>
                            <a:srgbClr val="0B0E26"/>
                          </a:solidFill>
                          <a:latin typeface="Calibri"/>
                        </a:defRPr>
                      </a:pPr>
                      <a:r>
                        <a:t>Responsibilities after termination or change of employment</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p.26</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ISO.A6.6</a:t>
                      </a:r>
                    </a:p>
                  </a:txBody>
                  <a:tcPr marL="43200" marR="43200" marT="21600" marB="21600" anchor="ctr">
                    <a:solidFill>
                      <a:srgbClr val="F1F3F8"/>
                    </a:solidFill>
                  </a:tcPr>
                </a:tc>
                <a:tc>
                  <a:txBody>
                    <a:bodyPr/>
                    <a:lstStyle/>
                    <a:p>
                      <a:pPr>
                        <a:defRPr sz="900" b="0">
                          <a:solidFill>
                            <a:srgbClr val="0B0E26"/>
                          </a:solidFill>
                          <a:latin typeface="Calibri"/>
                        </a:defRPr>
                      </a:pPr>
                      <a:r>
                        <a:t>Confidentiality or non-disclosure agreements</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p.21</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27 of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(8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ISO.A6.7</a:t>
                      </a:r>
                    </a:p>
                  </a:txBody>
                  <a:tcPr marL="43200" marR="43200" marT="21600" marB="21600" anchor="ctr">
                    <a:solidFill>
                      <a:srgbClr val="FFFFFF"/>
                    </a:solidFill>
                  </a:tcPr>
                </a:tc>
                <a:tc>
                  <a:txBody>
                    <a:bodyPr/>
                    <a:lstStyle/>
                    <a:p>
                      <a:pPr>
                        <a:defRPr sz="900" b="0">
                          <a:solidFill>
                            <a:srgbClr val="0B0E26"/>
                          </a:solidFill>
                          <a:latin typeface="Calibri"/>
                        </a:defRPr>
                      </a:pPr>
                      <a:r>
                        <a:t>Remote working</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ISO.A6.8</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event reporting</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p.30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a:t>
                      </a:r>
                    </a:p>
                  </a:txBody>
                  <a:tcPr marL="43200" marR="43200" marT="21600" marB="21600" anchor="ctr">
                    <a:solidFill>
                      <a:srgbClr val="FFFFFF"/>
                    </a:solidFill>
                  </a:tcPr>
                </a:tc>
                <a:tc>
                  <a:txBody>
                    <a:bodyPr/>
                    <a:lstStyle/>
                    <a:p>
                      <a:pPr>
                        <a:defRPr sz="900" b="0">
                          <a:solidFill>
                            <a:srgbClr val="0B0E26"/>
                          </a:solidFill>
                          <a:latin typeface="Calibri"/>
                        </a:defRPr>
                      </a:pPr>
                      <a:r>
                        <a:t>User endpoint devices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a:t>
                      </a:r>
                    </a:p>
                  </a:txBody>
                  <a:tcPr marL="43200" marR="43200" marT="21600" marB="21600" anchor="ctr">
                    <a:solidFill>
                      <a:srgbClr val="F1F3F8"/>
                    </a:solidFill>
                  </a:tcPr>
                </a:tc>
                <a:tc>
                  <a:txBody>
                    <a:bodyPr/>
                    <a:lstStyle/>
                    <a:p>
                      <a:pPr>
                        <a:defRPr sz="900" b="0">
                          <a:solidFill>
                            <a:srgbClr val="0B0E26"/>
                          </a:solidFill>
                          <a:latin typeface="Calibri"/>
                        </a:defRPr>
                      </a:pPr>
                      <a:r>
                        <a:t>Privileged access rights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p.26</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a:t>
                      </a:r>
                    </a:p>
                  </a:txBody>
                  <a:tcPr marL="43200" marR="43200" marT="21600" marB="21600" anchor="ctr">
                    <a:solidFill>
                      <a:srgbClr val="FFFFFF"/>
                    </a:solidFill>
                  </a:tcPr>
                </a:tc>
                <a:tc>
                  <a:txBody>
                    <a:bodyPr/>
                    <a:lstStyle/>
                    <a:p>
                      <a:pPr>
                        <a:defRPr sz="900" b="0">
                          <a:solidFill>
                            <a:srgbClr val="0B0E26"/>
                          </a:solidFill>
                          <a:latin typeface="Calibri"/>
                        </a:defRPr>
                      </a:pPr>
                      <a:r>
                        <a:t>Information access restriction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ISO.A8.4</a:t>
                      </a:r>
                    </a:p>
                  </a:txBody>
                  <a:tcPr marL="43200" marR="43200" marT="21600" marB="21600" anchor="ctr">
                    <a:solidFill>
                      <a:srgbClr val="F1F3F8"/>
                    </a:solidFill>
                  </a:tcPr>
                </a:tc>
                <a:tc>
                  <a:txBody>
                    <a:bodyPr/>
                    <a:lstStyle/>
                    <a:p>
                      <a:pPr>
                        <a:defRPr sz="900" b="0">
                          <a:solidFill>
                            <a:srgbClr val="0B0E26"/>
                          </a:solidFill>
                          <a:latin typeface="Calibri"/>
                        </a:defRPr>
                      </a:pPr>
                      <a:r>
                        <a:t>Access to source code</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ISO.A8.5</a:t>
                      </a:r>
                    </a:p>
                  </a:txBody>
                  <a:tcPr marL="43200" marR="43200" marT="21600" marB="21600" anchor="ctr">
                    <a:solidFill>
                      <a:srgbClr val="FFFFFF"/>
                    </a:solidFill>
                  </a:tcPr>
                </a:tc>
                <a:tc>
                  <a:txBody>
                    <a:bodyPr/>
                    <a:lstStyle/>
                    <a:p>
                      <a:pPr>
                        <a:defRPr sz="900" b="0">
                          <a:solidFill>
                            <a:srgbClr val="0B0E26"/>
                          </a:solidFill>
                          <a:latin typeface="Calibri"/>
                        </a:defRPr>
                      </a:pPr>
                      <a:r>
                        <a:t>Secure authentication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ISO.A8.6</a:t>
                      </a:r>
                    </a:p>
                  </a:txBody>
                  <a:tcPr marL="43200" marR="43200" marT="21600" marB="21600" anchor="ctr">
                    <a:solidFill>
                      <a:srgbClr val="F1F3F8"/>
                    </a:solidFill>
                  </a:tcPr>
                </a:tc>
                <a:tc>
                  <a:txBody>
                    <a:bodyPr/>
                    <a:lstStyle/>
                    <a:p>
                      <a:pPr>
                        <a:defRPr sz="900" b="0">
                          <a:solidFill>
                            <a:srgbClr val="0B0E26"/>
                          </a:solidFill>
                          <a:latin typeface="Calibri"/>
                        </a:defRPr>
                      </a:pPr>
                      <a:r>
                        <a:t>Capacity management</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Not Applicable</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p.19</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ISO.A8.7</a:t>
                      </a:r>
                    </a:p>
                  </a:txBody>
                  <a:tcPr marL="43200" marR="43200" marT="21600" marB="21600" anchor="ctr">
                    <a:solidFill>
                      <a:srgbClr val="FFFFFF"/>
                    </a:solidFill>
                  </a:tcPr>
                </a:tc>
                <a:tc>
                  <a:txBody>
                    <a:bodyPr/>
                    <a:lstStyle/>
                    <a:p>
                      <a:pPr>
                        <a:defRPr sz="900" b="0">
                          <a:solidFill>
                            <a:srgbClr val="0B0E26"/>
                          </a:solidFill>
                          <a:latin typeface="Calibri"/>
                        </a:defRPr>
                      </a:pPr>
                      <a:r>
                        <a:t>Protection against malware</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ISO.A8.8</a:t>
                      </a:r>
                    </a:p>
                  </a:txBody>
                  <a:tcPr marL="43200" marR="43200" marT="21600" marB="21600" anchor="ctr">
                    <a:solidFill>
                      <a:srgbClr val="F1F3F8"/>
                    </a:solidFill>
                  </a:tcPr>
                </a:tc>
                <a:tc>
                  <a:txBody>
                    <a:bodyPr/>
                    <a:lstStyle/>
                    <a:p>
                      <a:pPr>
                        <a:defRPr sz="900" b="0">
                          <a:solidFill>
                            <a:srgbClr val="0B0E26"/>
                          </a:solidFill>
                          <a:latin typeface="Calibri"/>
                        </a:defRPr>
                      </a:pPr>
                      <a:r>
                        <a:t>Management of technical vulnerabilities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vuln-scan-summary.pdf v1, p.2</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ISO.A8.9</a:t>
                      </a:r>
                    </a:p>
                  </a:txBody>
                  <a:tcPr marL="43200" marR="43200" marT="21600" marB="21600" anchor="ctr">
                    <a:solidFill>
                      <a:srgbClr val="FFFFFF"/>
                    </a:solidFill>
                  </a:tcPr>
                </a:tc>
                <a:tc>
                  <a:txBody>
                    <a:bodyPr/>
                    <a:lstStyle/>
                    <a:p>
                      <a:pPr>
                        <a:defRPr sz="900" b="0">
                          <a:solidFill>
                            <a:srgbClr val="0B0E26"/>
                          </a:solidFill>
                          <a:latin typeface="Calibri"/>
                        </a:defRPr>
                      </a:pPr>
                      <a:r>
                        <a:t>Configuration management</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ISO.A8.10</a:t>
                      </a:r>
                    </a:p>
                  </a:txBody>
                  <a:tcPr marL="43200" marR="43200" marT="21600" marB="21600" anchor="ctr">
                    <a:solidFill>
                      <a:srgbClr val="F1F3F8"/>
                    </a:solidFill>
                  </a:tcPr>
                </a:tc>
                <a:tc>
                  <a:txBody>
                    <a:bodyPr/>
                    <a:lstStyle/>
                    <a:p>
                      <a:pPr>
                        <a:defRPr sz="900" b="0">
                          <a:solidFill>
                            <a:srgbClr val="0B0E26"/>
                          </a:solidFill>
                          <a:latin typeface="Calibri"/>
                        </a:defRPr>
                      </a:pPr>
                      <a:r>
                        <a:t>Information deletion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p.23</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28 of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(9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ISO.A8.11</a:t>
                      </a:r>
                    </a:p>
                  </a:txBody>
                  <a:tcPr marL="43200" marR="43200" marT="21600" marB="21600" anchor="ctr">
                    <a:solidFill>
                      <a:srgbClr val="FFFFFF"/>
                    </a:solidFill>
                  </a:tcPr>
                </a:tc>
                <a:tc>
                  <a:txBody>
                    <a:bodyPr/>
                    <a:lstStyle/>
                    <a:p>
                      <a:pPr>
                        <a:defRPr sz="900" b="0">
                          <a:solidFill>
                            <a:srgbClr val="0B0E26"/>
                          </a:solidFill>
                          <a:latin typeface="Calibri"/>
                        </a:defRPr>
                      </a:pPr>
                      <a:r>
                        <a:t>Data masking</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ISO.A8.12</a:t>
                      </a:r>
                    </a:p>
                  </a:txBody>
                  <a:tcPr marL="43200" marR="43200" marT="21600" marB="21600" anchor="ctr">
                    <a:solidFill>
                      <a:srgbClr val="F1F3F8"/>
                    </a:solidFill>
                  </a:tcPr>
                </a:tc>
                <a:tc>
                  <a:txBody>
                    <a:bodyPr/>
                    <a:lstStyle/>
                    <a:p>
                      <a:pPr>
                        <a:defRPr sz="900" b="0">
                          <a:solidFill>
                            <a:srgbClr val="0B0E26"/>
                          </a:solidFill>
                          <a:latin typeface="Calibri"/>
                        </a:defRPr>
                      </a:pPr>
                      <a:r>
                        <a:t>Data leakage prevention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p.30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ISO.A8.13</a:t>
                      </a:r>
                    </a:p>
                  </a:txBody>
                  <a:tcPr marL="43200" marR="43200" marT="21600" marB="21600" anchor="ctr">
                    <a:solidFill>
                      <a:srgbClr val="FFFFFF"/>
                    </a:solidFill>
                  </a:tcPr>
                </a:tc>
                <a:tc>
                  <a:txBody>
                    <a:bodyPr/>
                    <a:lstStyle/>
                    <a:p>
                      <a:pPr>
                        <a:defRPr sz="900" b="0">
                          <a:solidFill>
                            <a:srgbClr val="0B0E26"/>
                          </a:solidFill>
                          <a:latin typeface="Calibri"/>
                        </a:defRPr>
                      </a:pPr>
                      <a:r>
                        <a:t>Information backup</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ISO.A8.14</a:t>
                      </a:r>
                    </a:p>
                  </a:txBody>
                  <a:tcPr marL="43200" marR="43200" marT="21600" marB="21600" anchor="ctr">
                    <a:solidFill>
                      <a:srgbClr val="F1F3F8"/>
                    </a:solidFill>
                  </a:tcPr>
                </a:tc>
                <a:tc>
                  <a:txBody>
                    <a:bodyPr/>
                    <a:lstStyle/>
                    <a:p>
                      <a:pPr>
                        <a:defRPr sz="900" b="0">
                          <a:solidFill>
                            <a:srgbClr val="0B0E26"/>
                          </a:solidFill>
                          <a:latin typeface="Calibri"/>
                        </a:defRPr>
                      </a:pPr>
                      <a:r>
                        <a:t>Redundancy of information processing facilities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ISO.A8.15</a:t>
                      </a:r>
                    </a:p>
                  </a:txBody>
                  <a:tcPr marL="43200" marR="43200" marT="21600" marB="21600" anchor="ctr">
                    <a:solidFill>
                      <a:srgbClr val="FFFFFF"/>
                    </a:solidFill>
                  </a:tcPr>
                </a:tc>
                <a:tc>
                  <a:txBody>
                    <a:bodyPr/>
                    <a:lstStyle/>
                    <a:p>
                      <a:pPr>
                        <a:defRPr sz="900" b="0">
                          <a:solidFill>
                            <a:srgbClr val="0B0E26"/>
                          </a:solidFill>
                          <a:latin typeface="Calibri"/>
                        </a:defRPr>
                      </a:pPr>
                      <a:r>
                        <a:t>Logging</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ISO.A8.16</a:t>
                      </a:r>
                    </a:p>
                  </a:txBody>
                  <a:tcPr marL="43200" marR="43200" marT="21600" marB="21600" anchor="ctr">
                    <a:solidFill>
                      <a:srgbClr val="F1F3F8"/>
                    </a:solidFill>
                  </a:tcPr>
                </a:tc>
                <a:tc>
                  <a:txBody>
                    <a:bodyPr/>
                    <a:lstStyle/>
                    <a:p>
                      <a:pPr>
                        <a:defRPr sz="900" b="0">
                          <a:solidFill>
                            <a:srgbClr val="0B0E26"/>
                          </a:solidFill>
                          <a:latin typeface="Calibri"/>
                        </a:defRPr>
                      </a:pPr>
                      <a:r>
                        <a:t>Monitoring activities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p.12</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ISO.A8.17</a:t>
                      </a:r>
                    </a:p>
                  </a:txBody>
                  <a:tcPr marL="43200" marR="43200" marT="21600" marB="21600" anchor="ctr">
                    <a:solidFill>
                      <a:srgbClr val="FFFFFF"/>
                    </a:solidFill>
                  </a:tcPr>
                </a:tc>
                <a:tc>
                  <a:txBody>
                    <a:bodyPr/>
                    <a:lstStyle/>
                    <a:p>
                      <a:pPr>
                        <a:defRPr sz="900" b="0">
                          <a:solidFill>
                            <a:srgbClr val="0B0E26"/>
                          </a:solidFill>
                          <a:latin typeface="Calibri"/>
                        </a:defRPr>
                      </a:pPr>
                      <a:r>
                        <a:t>Clock synchronization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p.19</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ISO.A8.18</a:t>
                      </a:r>
                    </a:p>
                  </a:txBody>
                  <a:tcPr marL="43200" marR="43200" marT="21600" marB="21600" anchor="ctr">
                    <a:solidFill>
                      <a:srgbClr val="F1F3F8"/>
                    </a:solidFill>
                  </a:tcPr>
                </a:tc>
                <a:tc>
                  <a:txBody>
                    <a:bodyPr/>
                    <a:lstStyle/>
                    <a:p>
                      <a:pPr>
                        <a:defRPr sz="900" b="0">
                          <a:solidFill>
                            <a:srgbClr val="0B0E26"/>
                          </a:solidFill>
                          <a:latin typeface="Calibri"/>
                        </a:defRPr>
                      </a:pPr>
                      <a:r>
                        <a:t>Use of privileged utility programs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p.12</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ISO.A8.19</a:t>
                      </a:r>
                    </a:p>
                  </a:txBody>
                  <a:tcPr marL="43200" marR="43200" marT="21600" marB="21600" anchor="ctr">
                    <a:solidFill>
                      <a:srgbClr val="FFFFFF"/>
                    </a:solidFill>
                  </a:tcPr>
                </a:tc>
                <a:tc>
                  <a:txBody>
                    <a:bodyPr/>
                    <a:lstStyle/>
                    <a:p>
                      <a:pPr>
                        <a:defRPr sz="900" b="0">
                          <a:solidFill>
                            <a:srgbClr val="0B0E26"/>
                          </a:solidFill>
                          <a:latin typeface="Calibri"/>
                        </a:defRPr>
                      </a:pPr>
                      <a:r>
                        <a:t>Installation of software on operational systems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ISO.A8.20</a:t>
                      </a:r>
                    </a:p>
                  </a:txBody>
                  <a:tcPr marL="43200" marR="43200" marT="21600" marB="21600" anchor="ctr">
                    <a:solidFill>
                      <a:srgbClr val="F1F3F8"/>
                    </a:solidFill>
                  </a:tcPr>
                </a:tc>
                <a:tc>
                  <a:txBody>
                    <a:bodyPr/>
                    <a:lstStyle/>
                    <a:p>
                      <a:pPr>
                        <a:defRPr sz="900" b="0">
                          <a:solidFill>
                            <a:srgbClr val="0B0E26"/>
                          </a:solidFill>
                          <a:latin typeface="Calibri"/>
                        </a:defRPr>
                      </a:pPr>
                      <a:r>
                        <a:t>Networks security</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Not Applicable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ISO.A8.21</a:t>
                      </a:r>
                    </a:p>
                  </a:txBody>
                  <a:tcPr marL="43200" marR="43200" marT="21600" marB="21600" anchor="ctr">
                    <a:solidFill>
                      <a:srgbClr val="FFFFFF"/>
                    </a:solidFill>
                  </a:tcPr>
                </a:tc>
                <a:tc>
                  <a:txBody>
                    <a:bodyPr/>
                    <a:lstStyle/>
                    <a:p>
                      <a:pPr>
                        <a:defRPr sz="900" b="0">
                          <a:solidFill>
                            <a:srgbClr val="0B0E26"/>
                          </a:solidFill>
                          <a:latin typeface="Calibri"/>
                        </a:defRPr>
                      </a:pPr>
                      <a:r>
                        <a:t>Security of network services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p.10</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ISO.A8.22</a:t>
                      </a:r>
                    </a:p>
                  </a:txBody>
                  <a:tcPr marL="43200" marR="43200" marT="21600" marB="21600" anchor="ctr">
                    <a:solidFill>
                      <a:srgbClr val="F1F3F8"/>
                    </a:solidFill>
                  </a:tcPr>
                </a:tc>
                <a:tc>
                  <a:txBody>
                    <a:bodyPr/>
                    <a:lstStyle/>
                    <a:p>
                      <a:pPr>
                        <a:defRPr sz="900" b="0">
                          <a:solidFill>
                            <a:srgbClr val="0B0E26"/>
                          </a:solidFill>
                          <a:latin typeface="Calibri"/>
                        </a:defRPr>
                      </a:pPr>
                      <a:r>
                        <a:t>Segregation of networks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p.14</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29 of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(10 of 10)</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ISO.A8.23</a:t>
                      </a:r>
                    </a:p>
                  </a:txBody>
                  <a:tcPr marL="43200" marR="43200" marT="21600" marB="21600" anchor="ctr">
                    <a:solidFill>
                      <a:srgbClr val="FFFFFF"/>
                    </a:solidFill>
                  </a:tcPr>
                </a:tc>
                <a:tc>
                  <a:txBody>
                    <a:bodyPr/>
                    <a:lstStyle/>
                    <a:p>
                      <a:pPr>
                        <a:defRPr sz="900" b="0">
                          <a:solidFill>
                            <a:srgbClr val="0B0E26"/>
                          </a:solidFill>
                          <a:latin typeface="Calibri"/>
                        </a:defRPr>
                      </a:pPr>
                      <a:r>
                        <a:t>Web filtering</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ISO.A8.24</a:t>
                      </a:r>
                    </a:p>
                  </a:txBody>
                  <a:tcPr marL="43200" marR="43200" marT="21600" marB="21600" anchor="ctr">
                    <a:solidFill>
                      <a:srgbClr val="F1F3F8"/>
                    </a:solidFill>
                  </a:tcPr>
                </a:tc>
                <a:tc>
                  <a:txBody>
                    <a:bodyPr/>
                    <a:lstStyle/>
                    <a:p>
                      <a:pPr>
                        <a:defRPr sz="900" b="0">
                          <a:solidFill>
                            <a:srgbClr val="0B0E26"/>
                          </a:solidFill>
                          <a:latin typeface="Calibri"/>
                        </a:defRPr>
                      </a:pPr>
                      <a:r>
                        <a:t>Use of cryptography</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ISO.A8.25</a:t>
                      </a:r>
                    </a:p>
                  </a:txBody>
                  <a:tcPr marL="43200" marR="43200" marT="21600" marB="21600" anchor="ctr">
                    <a:solidFill>
                      <a:srgbClr val="FFFFFF"/>
                    </a:solidFill>
                  </a:tcPr>
                </a:tc>
                <a:tc>
                  <a:txBody>
                    <a:bodyPr/>
                    <a:lstStyle/>
                    <a:p>
                      <a:pPr>
                        <a:defRPr sz="900" b="0">
                          <a:solidFill>
                            <a:srgbClr val="0B0E26"/>
                          </a:solidFill>
                          <a:latin typeface="Calibri"/>
                        </a:defRPr>
                      </a:pPr>
                      <a:r>
                        <a:t>Secure development life cycle</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ISO.A8.26</a:t>
                      </a:r>
                    </a:p>
                  </a:txBody>
                  <a:tcPr marL="43200" marR="43200" marT="21600" marB="21600" anchor="ctr">
                    <a:solidFill>
                      <a:srgbClr val="F1F3F8"/>
                    </a:solidFill>
                  </a:tcPr>
                </a:tc>
                <a:tc>
                  <a:txBody>
                    <a:bodyPr/>
                    <a:lstStyle/>
                    <a:p>
                      <a:pPr>
                        <a:defRPr sz="900" b="0">
                          <a:solidFill>
                            <a:srgbClr val="0B0E26"/>
                          </a:solidFill>
                          <a:latin typeface="Calibri"/>
                        </a:defRPr>
                      </a:pPr>
                      <a:r>
                        <a:t>Application security requirements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ISO.A8.27</a:t>
                      </a:r>
                    </a:p>
                  </a:txBody>
                  <a:tcPr marL="43200" marR="43200" marT="21600" marB="21600" anchor="ctr">
                    <a:solidFill>
                      <a:srgbClr val="FFFFFF"/>
                    </a:solidFill>
                  </a:tcPr>
                </a:tc>
                <a:tc>
                  <a:txBody>
                    <a:bodyPr/>
                    <a:lstStyle/>
                    <a:p>
                      <a:pPr>
                        <a:defRPr sz="900" b="0">
                          <a:solidFill>
                            <a:srgbClr val="0B0E26"/>
                          </a:solidFill>
                          <a:latin typeface="Calibri"/>
                        </a:defRPr>
                      </a:pPr>
                      <a:r>
                        <a:t>Secure system architecture and engineering principles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p.29</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ISO.A8.28</a:t>
                      </a:r>
                    </a:p>
                  </a:txBody>
                  <a:tcPr marL="43200" marR="43200" marT="21600" marB="21600" anchor="ctr">
                    <a:solidFill>
                      <a:srgbClr val="F1F3F8"/>
                    </a:solidFill>
                  </a:tcPr>
                </a:tc>
                <a:tc>
                  <a:txBody>
                    <a:bodyPr/>
                    <a:lstStyle/>
                    <a:p>
                      <a:pPr>
                        <a:defRPr sz="900" b="0">
                          <a:solidFill>
                            <a:srgbClr val="0B0E26"/>
                          </a:solidFill>
                          <a:latin typeface="Calibri"/>
                        </a:defRPr>
                      </a:pPr>
                      <a:r>
                        <a:t>Secure coding</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ISO.A8.29</a:t>
                      </a:r>
                    </a:p>
                  </a:txBody>
                  <a:tcPr marL="43200" marR="43200" marT="21600" marB="21600" anchor="ctr">
                    <a:solidFill>
                      <a:srgbClr val="FFFFFF"/>
                    </a:solidFill>
                  </a:tcPr>
                </a:tc>
                <a:tc>
                  <a:txBody>
                    <a:bodyPr/>
                    <a:lstStyle/>
                    <a:p>
                      <a:pPr>
                        <a:defRPr sz="900" b="0">
                          <a:solidFill>
                            <a:srgbClr val="0B0E26"/>
                          </a:solidFill>
                          <a:latin typeface="Calibri"/>
                        </a:defRPr>
                      </a:pPr>
                      <a:r>
                        <a:t>Security testing in development and acceptance</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ISO.A8.30</a:t>
                      </a:r>
                    </a:p>
                  </a:txBody>
                  <a:tcPr marL="43200" marR="43200" marT="21600" marB="21600" anchor="ctr">
                    <a:solidFill>
                      <a:srgbClr val="F1F3F8"/>
                    </a:solidFill>
                  </a:tcPr>
                </a:tc>
                <a:tc>
                  <a:txBody>
                    <a:bodyPr/>
                    <a:lstStyle/>
                    <a:p>
                      <a:pPr>
                        <a:defRPr sz="900" b="0">
                          <a:solidFill>
                            <a:srgbClr val="0B0E26"/>
                          </a:solidFill>
                          <a:latin typeface="Calibri"/>
                        </a:defRPr>
                      </a:pPr>
                      <a:r>
                        <a:t>Outsourced development</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Not Applicable</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ISO.A8.31</a:t>
                      </a:r>
                    </a:p>
                  </a:txBody>
                  <a:tcPr marL="43200" marR="43200" marT="21600" marB="21600" anchor="ctr">
                    <a:solidFill>
                      <a:srgbClr val="FFFFFF"/>
                    </a:solidFill>
                  </a:tcPr>
                </a:tc>
                <a:tc>
                  <a:txBody>
                    <a:bodyPr/>
                    <a:lstStyle/>
                    <a:p>
                      <a:pPr>
                        <a:defRPr sz="900" b="0">
                          <a:solidFill>
                            <a:srgbClr val="0B0E26"/>
                          </a:solidFill>
                          <a:latin typeface="Calibri"/>
                        </a:defRPr>
                      </a:pPr>
                      <a:r>
                        <a:t>Separation of development, test and production environments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ISO.A8.32</a:t>
                      </a:r>
                    </a:p>
                  </a:txBody>
                  <a:tcPr marL="43200" marR="43200" marT="21600" marB="21600" anchor="ctr">
                    <a:solidFill>
                      <a:srgbClr val="F1F3F8"/>
                    </a:solidFill>
                  </a:tcPr>
                </a:tc>
                <a:tc>
                  <a:txBody>
                    <a:bodyPr/>
                    <a:lstStyle/>
                    <a:p>
                      <a:pPr>
                        <a:defRPr sz="900" b="0">
                          <a:solidFill>
                            <a:srgbClr val="0B0E26"/>
                          </a:solidFill>
                          <a:latin typeface="Calibri"/>
                        </a:defRPr>
                      </a:pPr>
                      <a:r>
                        <a:t>Change management</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ISO.A8.33</a:t>
                      </a:r>
                    </a:p>
                  </a:txBody>
                  <a:tcPr marL="43200" marR="43200" marT="21600" marB="21600" anchor="ctr">
                    <a:solidFill>
                      <a:srgbClr val="FFFFFF"/>
                    </a:solidFill>
                  </a:tcPr>
                </a:tc>
                <a:tc>
                  <a:txBody>
                    <a:bodyPr/>
                    <a:lstStyle/>
                    <a:p>
                      <a:pPr>
                        <a:defRPr sz="900" b="0">
                          <a:solidFill>
                            <a:srgbClr val="0B0E26"/>
                          </a:solidFill>
                          <a:latin typeface="Calibri"/>
                        </a:defRPr>
                      </a:pPr>
                      <a:r>
                        <a:t>Test information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p.10</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ISO.A8.34</a:t>
                      </a:r>
                    </a:p>
                  </a:txBody>
                  <a:tcPr marL="43200" marR="43200" marT="21600" marB="21600" anchor="ctr">
                    <a:solidFill>
                      <a:srgbClr val="F1F3F8"/>
                    </a:solidFill>
                  </a:tcPr>
                </a:tc>
                <a:tc>
                  <a:txBody>
                    <a:bodyPr/>
                    <a:lstStyle/>
                    <a:p>
                      <a:pPr>
                        <a:defRPr sz="900" b="0">
                          <a:solidFill>
                            <a:srgbClr val="0B0E26"/>
                          </a:solidFill>
                          <a:latin typeface="Calibri"/>
                        </a:defRPr>
                      </a:pPr>
                      <a:r>
                        <a:t>Protection of information systems during audit testing</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p.18</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30 of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Evidence register</a:t>
            </a:r>
          </a:p>
        </p:txBody>
      </p:sp>
      <p:graphicFrame>
        <p:nvGraphicFramePr>
          <p:cNvPr id="5" name="Native evidence table"/>
          <p:cNvGraphicFramePr>
            <a:graphicFrameLocks noGrp="1"/>
          </p:cNvGraphicFramePr>
          <p:nvPr/>
        </p:nvGraphicFramePr>
        <p:xfrm>
          <a:off x="504000" y="1728000"/>
          <a:ext cx="6840000" cy="4032000"/>
        </p:xfrm>
        <a:graphic>
          <a:graphicData uri="http://schemas.openxmlformats.org/drawingml/2006/table">
            <a:tbl>
              <a:tblPr firstRow="1" bandRow="1">
                <a:tableStyleId>{5C22544A-7EE6-4342-B048-85BDC9FD1C3A}</a:tableStyleId>
              </a:tblPr>
              <a:tblGrid>
                <a:gridCol w="2592000"/>
                <a:gridCol w="720000"/>
                <a:gridCol w="1080000"/>
                <a:gridCol w="1800000"/>
                <a:gridCol w="648000"/>
              </a:tblGrid>
              <a:tr h="336000">
                <a:tc>
                  <a:txBody>
                    <a:bodyPr/>
                    <a:lstStyle/>
                    <a:p>
                      <a:pPr>
                        <a:defRPr sz="900" b="1">
                          <a:solidFill>
                            <a:srgbClr val="FFFFFF"/>
                          </a:solidFill>
                          <a:latin typeface="Calibri"/>
                        </a:defRPr>
                      </a:pPr>
                      <a:r>
                        <a:t>Document</a:t>
                      </a:r>
                    </a:p>
                  </a:txBody>
                  <a:tcPr marL="43200" marR="43200" marT="21600" marB="21600" anchor="ctr">
                    <a:solidFill>
                      <a:srgbClr val="161A5C"/>
                    </a:solidFill>
                  </a:tcPr>
                </a:tc>
                <a:tc>
                  <a:txBody>
                    <a:bodyPr/>
                    <a:lstStyle/>
                    <a:p>
                      <a:pPr>
                        <a:defRPr sz="900" b="1">
                          <a:solidFill>
                            <a:srgbClr val="FFFFFF"/>
                          </a:solidFill>
                          <a:latin typeface="Calibri"/>
                        </a:defRPr>
                      </a:pPr>
                      <a:r>
                        <a:t>Version</a:t>
                      </a:r>
                    </a:p>
                  </a:txBody>
                  <a:tcPr marL="43200" marR="43200" marT="21600" marB="21600" anchor="ctr">
                    <a:solidFill>
                      <a:srgbClr val="161A5C"/>
                    </a:solidFill>
                  </a:tcPr>
                </a:tc>
                <a:tc>
                  <a:txBody>
                    <a:bodyPr/>
                    <a:lstStyle/>
                    <a:p>
                      <a:pPr>
                        <a:defRPr sz="900" b="1">
                          <a:solidFill>
                            <a:srgbClr val="FFFFFF"/>
                          </a:solidFill>
                          <a:latin typeface="Calibri"/>
                        </a:defRPr>
                      </a:pPr>
                      <a:r>
                        <a:t>Added</a:t>
                      </a:r>
                    </a:p>
                  </a:txBody>
                  <a:tcPr marL="43200" marR="43200" marT="21600" marB="21600" anchor="ctr">
                    <a:solidFill>
                      <a:srgbClr val="161A5C"/>
                    </a:solidFill>
                  </a:tcPr>
                </a:tc>
                <a:tc>
                  <a:txBody>
                    <a:bodyPr/>
                    <a:lstStyle/>
                    <a:p>
                      <a:pPr>
                        <a:defRPr sz="900" b="1">
                          <a:solidFill>
                            <a:srgbClr val="FFFFFF"/>
                          </a:solidFill>
                          <a:latin typeface="Calibri"/>
                        </a:defRPr>
                      </a:pPr>
                      <a:r>
                        <a:t>Fingerprint</a:t>
                      </a:r>
                    </a:p>
                  </a:txBody>
                  <a:tcPr marL="43200" marR="43200" marT="21600" marB="21600" anchor="ctr">
                    <a:solidFill>
                      <a:srgbClr val="161A5C"/>
                    </a:solidFill>
                  </a:tcPr>
                </a:tc>
                <a:tc>
                  <a:txBody>
                    <a:bodyPr/>
                    <a:lstStyle/>
                    <a:p>
                      <a:pPr>
                        <a:defRPr sz="900" b="1">
                          <a:solidFill>
                            <a:srgbClr val="FFFFFF"/>
                          </a:solidFill>
                          <a:latin typeface="Calibri"/>
                        </a:defRPr>
                      </a:pPr>
                      <a:r>
                        <a:t>Cited</a:t>
                      </a:r>
                    </a:p>
                  </a:txBody>
                  <a:tcPr marL="43200" marR="43200" marT="21600" marB="21600" anchor="ctr">
                    <a:solidFill>
                      <a:srgbClr val="161A5C"/>
                    </a:solidFill>
                  </a:tcPr>
                </a:tc>
              </a:tr>
              <a:tr h="336000">
                <a:tc>
                  <a:txBody>
                    <a:bodyPr/>
                    <a:lstStyle/>
                    <a:p>
                      <a:pPr>
                        <a:defRPr sz="900" b="0">
                          <a:solidFill>
                            <a:srgbClr val="0B0E26"/>
                          </a:solidFill>
                          <a:latin typeface="Calibri"/>
                        </a:defRPr>
                      </a:pPr>
                      <a:r>
                        <a:t>access-control-policy.pdf</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2026-07-01</a:t>
                      </a:r>
                    </a:p>
                  </a:txBody>
                  <a:tcPr marL="43200" marR="43200" marT="21600" marB="21600" anchor="ctr">
                    <a:solidFill>
                      <a:srgbClr val="FFFFFF"/>
                    </a:solidFill>
                  </a:tcPr>
                </a:tc>
                <a:tc>
                  <a:txBody>
                    <a:bodyPr/>
                    <a:lstStyle/>
                    <a:p>
                      <a:pPr>
                        <a:defRPr sz="900" b="0">
                          <a:solidFill>
                            <a:srgbClr val="0B0E26"/>
                          </a:solidFill>
                          <a:latin typeface="Calibri"/>
                        </a:defRPr>
                      </a:pPr>
                      <a:r>
                        <a:t>cd072fd1a9b9</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access-review-export.xlsx</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2026-07-02</a:t>
                      </a:r>
                    </a:p>
                  </a:txBody>
                  <a:tcPr marL="43200" marR="43200" marT="21600" marB="21600" anchor="ctr">
                    <a:solidFill>
                      <a:srgbClr val="F1F3F8"/>
                    </a:solidFill>
                  </a:tcPr>
                </a:tc>
                <a:tc>
                  <a:txBody>
                    <a:bodyPr/>
                    <a:lstStyle/>
                    <a:p>
                      <a:pPr>
                        <a:defRPr sz="900" b="0">
                          <a:solidFill>
                            <a:srgbClr val="0B0E26"/>
                          </a:solidFill>
                          <a:latin typeface="Calibri"/>
                        </a:defRPr>
                      </a:pPr>
                      <a:r>
                        <a:t>03c3beb9183c</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bcp-2024.pdf</a:t>
                      </a:r>
                    </a:p>
                  </a:txBody>
                  <a:tcPr marL="43200" marR="43200" marT="21600" marB="21600" anchor="ctr">
                    <a:solidFill>
                      <a:srgbClr val="FFFFFF"/>
                    </a:solidFill>
                  </a:tcPr>
                </a:tc>
                <a:tc>
                  <a:txBody>
                    <a:bodyPr/>
                    <a:lstStyle/>
                    <a:p>
                      <a:pPr>
                        <a:defRPr sz="900" b="0">
                          <a:solidFill>
                            <a:srgbClr val="0B0E26"/>
                          </a:solidFill>
                          <a:latin typeface="Calibri"/>
                        </a:defRPr>
                      </a:pPr>
                      <a:r>
                        <a:t>v1</a:t>
                      </a:r>
                    </a:p>
                  </a:txBody>
                  <a:tcPr marL="43200" marR="43200" marT="21600" marB="21600" anchor="ctr">
                    <a:solidFill>
                      <a:srgbClr val="FFFFFF"/>
                    </a:solidFill>
                  </a:tcPr>
                </a:tc>
                <a:tc>
                  <a:txBody>
                    <a:bodyPr/>
                    <a:lstStyle/>
                    <a:p>
                      <a:pPr>
                        <a:defRPr sz="900" b="0">
                          <a:solidFill>
                            <a:srgbClr val="0B0E26"/>
                          </a:solidFill>
                          <a:latin typeface="Calibri"/>
                        </a:defRPr>
                      </a:pPr>
                      <a:r>
                        <a:t>2026-07-03</a:t>
                      </a:r>
                    </a:p>
                  </a:txBody>
                  <a:tcPr marL="43200" marR="43200" marT="21600" marB="21600" anchor="ctr">
                    <a:solidFill>
                      <a:srgbClr val="FFFFFF"/>
                    </a:solidFill>
                  </a:tcPr>
                </a:tc>
                <a:tc>
                  <a:txBody>
                    <a:bodyPr/>
                    <a:lstStyle/>
                    <a:p>
                      <a:pPr>
                        <a:defRPr sz="900" b="0">
                          <a:solidFill>
                            <a:srgbClr val="0B0E26"/>
                          </a:solidFill>
                          <a:latin typeface="Calibri"/>
                        </a:defRPr>
                      </a:pPr>
                      <a:r>
                        <a:t>5a83eec521a9</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data-retention-policy.pdf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2026-07-04</a:t>
                      </a:r>
                    </a:p>
                  </a:txBody>
                  <a:tcPr marL="43200" marR="43200" marT="21600" marB="21600" anchor="ctr">
                    <a:solidFill>
                      <a:srgbClr val="F1F3F8"/>
                    </a:solidFill>
                  </a:tcPr>
                </a:tc>
                <a:tc>
                  <a:txBody>
                    <a:bodyPr/>
                    <a:lstStyle/>
                    <a:p>
                      <a:pPr>
                        <a:defRPr sz="900" b="0">
                          <a:solidFill>
                            <a:srgbClr val="0B0E26"/>
                          </a:solidFill>
                          <a:latin typeface="Calibri"/>
                        </a:defRPr>
                      </a:pPr>
                      <a:r>
                        <a:t>a159d6175aaa</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incident-response-plan.docx</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2026-07-05</a:t>
                      </a:r>
                    </a:p>
                  </a:txBody>
                  <a:tcPr marL="43200" marR="43200" marT="21600" marB="21600" anchor="ctr">
                    <a:solidFill>
                      <a:srgbClr val="FFFFFF"/>
                    </a:solidFill>
                  </a:tcPr>
                </a:tc>
                <a:tc>
                  <a:txBody>
                    <a:bodyPr/>
                    <a:lstStyle/>
                    <a:p>
                      <a:pPr>
                        <a:defRPr sz="900" b="0">
                          <a:solidFill>
                            <a:srgbClr val="0B0E26"/>
                          </a:solidFill>
                          <a:latin typeface="Calibri"/>
                        </a:defRPr>
                      </a:pPr>
                      <a:r>
                        <a:t>154f0237f3ea</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isms-manual.pdf</a:t>
                      </a:r>
                    </a:p>
                  </a:txBody>
                  <a:tcPr marL="43200" marR="43200" marT="21600" marB="21600" anchor="ctr">
                    <a:solidFill>
                      <a:srgbClr val="F1F3F8"/>
                    </a:solidFill>
                  </a:tcPr>
                </a:tc>
                <a:tc>
                  <a:txBody>
                    <a:bodyPr/>
                    <a:lstStyle/>
                    <a:p>
                      <a:pPr>
                        <a:defRPr sz="900" b="0">
                          <a:solidFill>
                            <a:srgbClr val="0B0E26"/>
                          </a:solidFill>
                          <a:latin typeface="Calibri"/>
                        </a:defRPr>
                      </a:pPr>
                      <a:r>
                        <a:t>v4</a:t>
                      </a:r>
                    </a:p>
                  </a:txBody>
                  <a:tcPr marL="43200" marR="43200" marT="21600" marB="21600" anchor="ctr">
                    <a:solidFill>
                      <a:srgbClr val="F1F3F8"/>
                    </a:solidFill>
                  </a:tcPr>
                </a:tc>
                <a:tc>
                  <a:txBody>
                    <a:bodyPr/>
                    <a:lstStyle/>
                    <a:p>
                      <a:pPr>
                        <a:defRPr sz="900" b="0">
                          <a:solidFill>
                            <a:srgbClr val="0B0E26"/>
                          </a:solidFill>
                          <a:latin typeface="Calibri"/>
                        </a:defRPr>
                      </a:pPr>
                      <a:r>
                        <a:t>2026-07-06</a:t>
                      </a:r>
                    </a:p>
                  </a:txBody>
                  <a:tcPr marL="43200" marR="43200" marT="21600" marB="21600" anchor="ctr">
                    <a:solidFill>
                      <a:srgbClr val="F1F3F8"/>
                    </a:solidFill>
                  </a:tcPr>
                </a:tc>
                <a:tc>
                  <a:txBody>
                    <a:bodyPr/>
                    <a:lstStyle/>
                    <a:p>
                      <a:pPr>
                        <a:defRPr sz="900" b="0">
                          <a:solidFill>
                            <a:srgbClr val="0B0E26"/>
                          </a:solidFill>
                          <a:latin typeface="Calibri"/>
                        </a:defRPr>
                      </a:pPr>
                      <a:r>
                        <a:t>9d25772e52dd</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privacy-policy.pdf</a:t>
                      </a:r>
                    </a:p>
                  </a:txBody>
                  <a:tcPr marL="43200" marR="43200" marT="21600" marB="21600" anchor="ctr">
                    <a:solidFill>
                      <a:srgbClr val="FFFFFF"/>
                    </a:solidFill>
                  </a:tcPr>
                </a:tc>
                <a:tc>
                  <a:txBody>
                    <a:bodyPr/>
                    <a:lstStyle/>
                    <a:p>
                      <a:pPr>
                        <a:defRPr sz="900" b="0">
                          <a:solidFill>
                            <a:srgbClr val="0B0E26"/>
                          </a:solidFill>
                          <a:latin typeface="Calibri"/>
                        </a:defRPr>
                      </a:pPr>
                      <a:r>
                        <a:t>v3</a:t>
                      </a:r>
                    </a:p>
                  </a:txBody>
                  <a:tcPr marL="43200" marR="43200" marT="21600" marB="21600" anchor="ctr">
                    <a:solidFill>
                      <a:srgbClr val="FFFFFF"/>
                    </a:solidFill>
                  </a:tcPr>
                </a:tc>
                <a:tc>
                  <a:txBody>
                    <a:bodyPr/>
                    <a:lstStyle/>
                    <a:p>
                      <a:pPr>
                        <a:defRPr sz="900" b="0">
                          <a:solidFill>
                            <a:srgbClr val="0B0E26"/>
                          </a:solidFill>
                          <a:latin typeface="Calibri"/>
                        </a:defRPr>
                      </a:pPr>
                      <a:r>
                        <a:t>2026-07-07</a:t>
                      </a:r>
                    </a:p>
                  </a:txBody>
                  <a:tcPr marL="43200" marR="43200" marT="21600" marB="21600" anchor="ctr">
                    <a:solidFill>
                      <a:srgbClr val="FFFFFF"/>
                    </a:solidFill>
                  </a:tcPr>
                </a:tc>
                <a:tc>
                  <a:txBody>
                    <a:bodyPr/>
                    <a:lstStyle/>
                    <a:p>
                      <a:pPr>
                        <a:defRPr sz="900" b="0">
                          <a:solidFill>
                            <a:srgbClr val="0B0E26"/>
                          </a:solidFill>
                          <a:latin typeface="Calibri"/>
                        </a:defRPr>
                      </a:pPr>
                      <a:r>
                        <a:t>b582f7695b7d</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questionnaire-response.pdf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2026-07-08</a:t>
                      </a:r>
                    </a:p>
                  </a:txBody>
                  <a:tcPr marL="43200" marR="43200" marT="21600" marB="21600" anchor="ctr">
                    <a:solidFill>
                      <a:srgbClr val="F1F3F8"/>
                    </a:solidFill>
                  </a:tcPr>
                </a:tc>
                <a:tc>
                  <a:txBody>
                    <a:bodyPr/>
                    <a:lstStyle/>
                    <a:p>
                      <a:pPr>
                        <a:defRPr sz="900" b="0">
                          <a:solidFill>
                            <a:srgbClr val="0B0E26"/>
                          </a:solidFill>
                          <a:latin typeface="Calibri"/>
                        </a:defRPr>
                      </a:pPr>
                      <a:r>
                        <a:t>7bd7980b0a2b</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vendor-contracts-index.xlsx</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2026-07-09</a:t>
                      </a:r>
                    </a:p>
                  </a:txBody>
                  <a:tcPr marL="43200" marR="43200" marT="21600" marB="21600" anchor="ctr">
                    <a:solidFill>
                      <a:srgbClr val="FFFFFF"/>
                    </a:solidFill>
                  </a:tcPr>
                </a:tc>
                <a:tc>
                  <a:txBody>
                    <a:bodyPr/>
                    <a:lstStyle/>
                    <a:p>
                      <a:pPr>
                        <a:defRPr sz="900" b="0">
                          <a:solidFill>
                            <a:srgbClr val="0B0E26"/>
                          </a:solidFill>
                          <a:latin typeface="Calibri"/>
                        </a:defRPr>
                      </a:pPr>
                      <a:r>
                        <a:t>b231220b5006</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vuln-scan-summary.pdf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2026-07-01</a:t>
                      </a:r>
                    </a:p>
                  </a:txBody>
                  <a:tcPr marL="43200" marR="43200" marT="21600" marB="21600" anchor="ctr">
                    <a:solidFill>
                      <a:srgbClr val="F1F3F8"/>
                    </a:solidFill>
                  </a:tcPr>
                </a:tc>
                <a:tc>
                  <a:txBody>
                    <a:bodyPr/>
                    <a:lstStyle/>
                    <a:p>
                      <a:pPr>
                        <a:defRPr sz="900" b="0">
                          <a:solidFill>
                            <a:srgbClr val="0B0E26"/>
                          </a:solidFill>
                          <a:latin typeface="Calibri"/>
                        </a:defRPr>
                      </a:pPr>
                      <a:r>
                        <a:t>3fec5195e1c5</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board-minutes-q1.pdf</a:t>
                      </a:r>
                    </a:p>
                  </a:txBody>
                  <a:tcPr marL="43200" marR="43200" marT="21600" marB="21600" anchor="ctr">
                    <a:solidFill>
                      <a:srgbClr val="FFFFFF"/>
                    </a:solidFill>
                  </a:tcPr>
                </a:tc>
                <a:tc>
                  <a:txBody>
                    <a:bodyPr/>
                    <a:lstStyle/>
                    <a:p>
                      <a:pPr>
                        <a:defRPr sz="900" b="0">
                          <a:solidFill>
                            <a:srgbClr val="0B0E26"/>
                          </a:solidFill>
                          <a:latin typeface="Calibri"/>
                        </a:defRPr>
                      </a:pPr>
                      <a:r>
                        <a:t>v1</a:t>
                      </a:r>
                    </a:p>
                  </a:txBody>
                  <a:tcPr marL="43200" marR="43200" marT="21600" marB="21600" anchor="ctr">
                    <a:solidFill>
                      <a:srgbClr val="FFFFFF"/>
                    </a:solidFill>
                  </a:tcPr>
                </a:tc>
                <a:tc>
                  <a:txBody>
                    <a:bodyPr/>
                    <a:lstStyle/>
                    <a:p>
                      <a:pPr>
                        <a:defRPr sz="900" b="0">
                          <a:solidFill>
                            <a:srgbClr val="0B0E26"/>
                          </a:solidFill>
                          <a:latin typeface="Calibri"/>
                        </a:defRPr>
                      </a:pPr>
                      <a:r>
                        <a:t>2026-07-02</a:t>
                      </a:r>
                    </a:p>
                  </a:txBody>
                  <a:tcPr marL="43200" marR="43200" marT="21600" marB="21600" anchor="ctr">
                    <a:solidFill>
                      <a:srgbClr val="FFFFFF"/>
                    </a:solidFill>
                  </a:tcPr>
                </a:tc>
                <a:tc>
                  <a:txBody>
                    <a:bodyPr/>
                    <a:lstStyle/>
                    <a:p>
                      <a:pPr>
                        <a:defRPr sz="900" b="0">
                          <a:solidFill>
                            <a:srgbClr val="0B0E26"/>
                          </a:solidFill>
                          <a:latin typeface="Calibri"/>
                        </a:defRPr>
                      </a:pPr>
                      <a:r>
                        <a:t>72466e7676a1</a:t>
                      </a:r>
                    </a:p>
                  </a:txBody>
                  <a:tcPr marL="43200" marR="43200" marT="21600" marB="21600" anchor="ctr">
                    <a:solidFill>
                      <a:srgbClr val="FFFFFF"/>
                    </a:solidFill>
                  </a:tcPr>
                </a:tc>
                <a:tc>
                  <a:txBody>
                    <a:bodyPr/>
                    <a:lstStyle/>
                    <a:p>
                      <a:pPr>
                        <a:defRPr sz="900" b="0">
                          <a:solidFill>
                            <a:srgbClr val="0B0E26"/>
                          </a:solidFill>
                          <a:latin typeface="Calibri"/>
                        </a:defRPr>
                      </a:pPr>
                      <a:r>
                        <a:t>No</a:t>
                      </a:r>
                    </a:p>
                  </a:txBody>
                  <a:tcPr marL="43200" marR="43200" marT="21600" marB="21600" anchor="ctr">
                    <a:solidFill>
                      <a:srgbClr val="FFFFFF"/>
                    </a:solidFill>
                  </a:tcPr>
                </a:tc>
              </a:tr>
            </a:tbl>
          </a:graphicData>
        </a:graphic>
      </p:graphicFrame>
      <p:sp>
        <p:nvSpPr>
          <p:cNvPr id="6" name="TextBox 5"/>
          <p:cNvSpPr txBox="1"/>
          <p:nvPr/>
        </p:nvSpPr>
        <p:spPr>
          <a:xfrm>
            <a:off x="7560000" y="1728000"/>
            <a:ext cx="4104000" cy="900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Statement of Applicability</a:t>
            </a:r>
          </a:p>
          <a:p>
            <a:pPr>
              <a:defRPr sz="1100" b="0">
                <a:solidFill>
                  <a:srgbClr val="3A4060"/>
                </a:solidFill>
                <a:latin typeface="Calibri"/>
              </a:defRPr>
            </a:pPr>
            <a:r>
              <a:t>ISO 27001 2022 · 93 controls</a:t>
            </a:r>
          </a:p>
        </p:txBody>
      </p:sp>
      <p:graphicFrame>
        <p:nvGraphicFramePr>
          <p:cNvPr id="7" name="Native evidence table"/>
          <p:cNvGraphicFramePr>
            <a:graphicFrameLocks noGrp="1"/>
          </p:cNvGraphicFramePr>
          <p:nvPr/>
        </p:nvGraphicFramePr>
        <p:xfrm>
          <a:off x="7560000" y="2808000"/>
          <a:ext cx="4104000" cy="1440000"/>
        </p:xfrm>
        <a:graphic>
          <a:graphicData uri="http://schemas.openxmlformats.org/drawingml/2006/table">
            <a:tbl>
              <a:tblPr firstRow="1" bandRow="1">
                <a:tableStyleId>{5C22544A-7EE6-4342-B048-85BDC9FD1C3A}</a:tableStyleId>
              </a:tblPr>
              <a:tblGrid>
                <a:gridCol w="2880000"/>
                <a:gridCol w="1224000"/>
              </a:tblGrid>
              <a:tr h="360000">
                <a:tc>
                  <a:txBody>
                    <a:bodyPr/>
                    <a:lstStyle/>
                    <a:p>
                      <a:pPr>
                        <a:defRPr sz="900" b="1">
                          <a:solidFill>
                            <a:srgbClr val="FFFFFF"/>
                          </a:solidFill>
                          <a:latin typeface="Calibri"/>
                        </a:defRPr>
                      </a:pPr>
                      <a:r>
                        <a:t>Applicability</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r>
              <a:tr h="360000">
                <a:tc>
                  <a:txBody>
                    <a:bodyPr/>
                    <a:lstStyle/>
                    <a:p>
                      <a:pPr>
                        <a:defRPr sz="900" b="0">
                          <a:solidFill>
                            <a:srgbClr val="0B0E26"/>
                          </a:solidFill>
                          <a:latin typeface="Calibri"/>
                        </a:defRPr>
                      </a:pPr>
                      <a:r>
                        <a:t>Applicable</a:t>
                      </a:r>
                    </a:p>
                  </a:txBody>
                  <a:tcPr marL="43200" marR="43200" marT="21600" marB="21600" anchor="ctr">
                    <a:solidFill>
                      <a:srgbClr val="FFFFFF"/>
                    </a:solidFill>
                  </a:tcPr>
                </a:tc>
                <a:tc>
                  <a:txBody>
                    <a:bodyPr/>
                    <a:lstStyle/>
                    <a:p>
                      <a:pPr>
                        <a:defRPr sz="900" b="0">
                          <a:solidFill>
                            <a:srgbClr val="0B0E26"/>
                          </a:solidFill>
                          <a:latin typeface="Calibri"/>
                        </a:defRPr>
                      </a:pPr>
                      <a:r>
                        <a:t>76</a:t>
                      </a:r>
                    </a:p>
                  </a:txBody>
                  <a:tcPr marL="43200" marR="43200" marT="21600" marB="21600" anchor="ctr">
                    <a:solidFill>
                      <a:srgbClr val="FFFFFF"/>
                    </a:solidFill>
                  </a:tcPr>
                </a:tc>
              </a:tr>
              <a:tr h="360000">
                <a:tc>
                  <a:txBody>
                    <a:bodyPr/>
                    <a:lstStyle/>
                    <a:p>
                      <a:pPr>
                        <a:defRPr sz="900" b="0">
                          <a:solidFill>
                            <a:srgbClr val="0B0E26"/>
                          </a:solidFill>
                          <a:latin typeface="Calibri"/>
                        </a:defRPr>
                      </a:pPr>
                      <a:r>
                        <a:t>Excluded</a:t>
                      </a:r>
                    </a:p>
                  </a:txBody>
                  <a:tcPr marL="43200" marR="43200" marT="21600" marB="21600" anchor="ctr">
                    <a:solidFill>
                      <a:srgbClr val="F1F3F8"/>
                    </a:solidFill>
                  </a:tcPr>
                </a:tc>
                <a:tc>
                  <a:txBody>
                    <a:bodyPr/>
                    <a:lstStyle/>
                    <a:p>
                      <a:pPr>
                        <a:defRPr sz="900" b="0">
                          <a:solidFill>
                            <a:srgbClr val="0B0E26"/>
                          </a:solidFill>
                          <a:latin typeface="Calibri"/>
                        </a:defRPr>
                      </a:pPr>
                      <a:r>
                        <a:t>3</a:t>
                      </a:r>
                    </a:p>
                  </a:txBody>
                  <a:tcPr marL="43200" marR="43200" marT="21600" marB="21600" anchor="ctr">
                    <a:solidFill>
                      <a:srgbClr val="F1F3F8"/>
                    </a:solidFill>
                  </a:tcPr>
                </a:tc>
              </a:tr>
              <a:tr h="360000">
                <a:tc>
                  <a:txBody>
                    <a:bodyPr/>
                    <a:lstStyle/>
                    <a:p>
                      <a:pPr>
                        <a:defRPr sz="900" b="0">
                          <a:solidFill>
                            <a:srgbClr val="0B0E26"/>
                          </a:solidFill>
                          <a:latin typeface="Calibri"/>
                        </a:defRPr>
                      </a:pPr>
                      <a:r>
                        <a:t>Not determined</a:t>
                      </a:r>
                    </a:p>
                  </a:txBody>
                  <a:tcPr marL="43200" marR="43200" marT="21600" marB="21600" anchor="ctr">
                    <a:solidFill>
                      <a:srgbClr val="FFFFFF"/>
                    </a:solidFill>
                  </a:tcPr>
                </a:tc>
                <a:tc>
                  <a:txBody>
                    <a:bodyPr/>
                    <a:lstStyle/>
                    <a:p>
                      <a:pPr>
                        <a:defRPr sz="900" b="0">
                          <a:solidFill>
                            <a:srgbClr val="0B0E26"/>
                          </a:solidFill>
                          <a:latin typeface="Calibri"/>
                        </a:defRPr>
                      </a:pPr>
                      <a:r>
                        <a:t>14</a:t>
                      </a:r>
                    </a:p>
                  </a:txBody>
                  <a:tcPr marL="43200" marR="43200" marT="21600" marB="21600" anchor="ctr">
                    <a:solidFill>
                      <a:srgbClr val="FFFFFF"/>
                    </a:solidFill>
                  </a:tcPr>
                </a:tc>
              </a:tr>
            </a:tbl>
          </a:graphicData>
        </a:graphic>
      </p:graphicFrame>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31 of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