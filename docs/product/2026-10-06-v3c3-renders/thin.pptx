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1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Domain score</c:v>
                </c:pt>
              </c:strCache>
            </c:strRef>
          </c:tx>
          <c:spPr>
            <a:solidFill>
              <a:srgbClr val="161A5C"/>
            </a:solidFill>
            <a:ln>
              <a:solidFill>
                <a:srgbClr val="161A5C"/>
              </a:solidFill>
            </a:ln>
          </c:spPr>
          <c:cat>
            <c:strRef>
              <c:f>Sheet1!$A$2:$A$4</c:f>
              <c:strCache>
                <c:ptCount val="3"/>
                <c:pt idx="0">
                  <c:v>ISO 27001: People Controls</c:v>
                </c:pt>
                <c:pt idx="1">
                  <c:v>ISO 27001: Organizational Controls</c:v>
                </c:pt>
                <c:pt idx="2">
                  <c:v>ISO 27001: Technological Controls</c:v>
                </c:pt>
              </c:strCache>
            </c:strRef>
          </c:cat>
          <c:val>
            <c:numRef>
              <c:f>Sheet1!$B$2:$B$4</c:f>
              <c:numCache>
                <c:formatCode>General</c:formatCode>
                <c:ptCount val="3"/>
                <c:pt idx="0">
                  <c:v>60.0</c:v>
                </c:pt>
                <c:pt idx="1">
                  <c:v>65.3</c:v>
                </c:pt>
                <c:pt idx="2">
                  <c:v>75.5</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900">
                <a:latin typeface="Calibri"/>
              </a:defRPr>
            </a:pPr>
          </a:p>
        </c:txPr>
        <c:crossAx val="-2113994440"/>
        <c:crosses val="autoZero"/>
        <c:auto val="1"/>
        <c:lblAlgn val="ctr"/>
        <c:lblOffset val="100"/>
        <c:noMultiLvlLbl val="0"/>
      </c:catAx>
      <c:valAx>
        <c:axId val="-2113994440"/>
        <c:scaling>
          <c:max val="100.0"/>
          <c:min val="0.0"/>
        </c:scaling>
        <c:delete val="0"/>
        <c:axPos val="b"/>
        <c:majorGridlines/>
        <c:majorTickMark val="out"/>
        <c:minorTickMark val="none"/>
        <c:tickLblPos val="nextTo"/>
        <c:txPr>
          <a:bodyPr/>
          <a:lstStyle/>
          <a:p>
            <a:pPr>
              <a:defRPr sz="900">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Compliant</c:v>
                </c:pt>
              </c:strCache>
            </c:strRef>
          </c:tx>
          <c:spPr>
            <a:solidFill>
              <a:srgbClr val="0E8F86"/>
            </a:solidFill>
            <a:ln>
              <a:solidFill>
                <a:srgbClr val="0E8F86"/>
              </a:solidFill>
            </a:ln>
          </c:spPr>
          <c:cat>
            <c:strRef>
              <c:f>Sheet1!$A$2:$A$2</c:f>
              <c:strCache>
                <c:ptCount val="1"/>
                <c:pt idx="0">
                  <c:v>ISO 27001</c:v>
                </c:pt>
              </c:strCache>
            </c:strRef>
          </c:cat>
          <c:val>
            <c:numRef>
              <c:f>Sheet1!$B$2:$B$2</c:f>
              <c:numCache>
                <c:formatCode>General</c:formatCode>
                <c:ptCount val="1"/>
                <c:pt idx="0">
                  <c:v>33</c:v>
                </c:pt>
              </c:numCache>
            </c:numRef>
          </c:val>
        </c:ser>
        <c:ser>
          <c:idx val="1"/>
          <c:order val="1"/>
          <c:tx>
            <c:strRef>
              <c:f>Sheet1!$C$1</c:f>
              <c:strCache>
                <c:ptCount val="1"/>
                <c:pt idx="0">
                  <c:v>Partially compliant</c:v>
                </c:pt>
              </c:strCache>
            </c:strRef>
          </c:tx>
          <c:spPr>
            <a:solidFill>
              <a:srgbClr val="E39A1F"/>
            </a:solidFill>
            <a:ln>
              <a:solidFill>
                <a:srgbClr val="E39A1F"/>
              </a:solidFill>
            </a:ln>
          </c:spPr>
          <c:cat>
            <c:strRef>
              <c:f>Sheet1!$A$2:$A$2</c:f>
              <c:strCache>
                <c:ptCount val="1"/>
                <c:pt idx="0">
                  <c:v>ISO 27001</c:v>
                </c:pt>
              </c:strCache>
            </c:strRef>
          </c:cat>
          <c:val>
            <c:numRef>
              <c:f>Sheet1!$C$2:$C$2</c:f>
              <c:numCache>
                <c:formatCode>General</c:formatCode>
                <c:ptCount val="1"/>
                <c:pt idx="0">
                  <c:v>27</c:v>
                </c:pt>
              </c:numCache>
            </c:numRef>
          </c:val>
        </c:ser>
        <c:ser>
          <c:idx val="2"/>
          <c:order val="2"/>
          <c:tx>
            <c:strRef>
              <c:f>Sheet1!$D$1</c:f>
              <c:strCache>
                <c:ptCount val="1"/>
                <c:pt idx="0">
                  <c:v>Non-compliant</c:v>
                </c:pt>
              </c:strCache>
            </c:strRef>
          </c:tx>
          <c:spPr>
            <a:solidFill>
              <a:srgbClr val="C0392B"/>
            </a:solidFill>
            <a:ln>
              <a:solidFill>
                <a:srgbClr val="C0392B"/>
              </a:solidFill>
            </a:ln>
          </c:spPr>
          <c:cat>
            <c:strRef>
              <c:f>Sheet1!$A$2:$A$2</c:f>
              <c:strCache>
                <c:ptCount val="1"/>
                <c:pt idx="0">
                  <c:v>ISO 27001</c:v>
                </c:pt>
              </c:strCache>
            </c:strRef>
          </c:cat>
          <c:val>
            <c:numRef>
              <c:f>Sheet1!$D$2:$D$2</c:f>
              <c:numCache>
                <c:formatCode>General</c:formatCode>
                <c:ptCount val="1"/>
                <c:pt idx="0">
                  <c:v>6</c:v>
                </c:pt>
              </c:numCache>
            </c:numRef>
          </c:val>
        </c:ser>
        <c:ser>
          <c:idx val="3"/>
          <c:order val="3"/>
          <c:tx>
            <c:strRef>
              <c:f>Sheet1!$E$1</c:f>
              <c:strCache>
                <c:ptCount val="1"/>
                <c:pt idx="0">
                  <c:v>Not concluded</c:v>
                </c:pt>
              </c:strCache>
            </c:strRef>
          </c:tx>
          <c:spPr>
            <a:solidFill>
              <a:srgbClr val="9AA3B5"/>
            </a:solidFill>
            <a:ln>
              <a:solidFill>
                <a:srgbClr val="9AA3B5"/>
              </a:solidFill>
            </a:ln>
          </c:spPr>
          <c:cat>
            <c:strRef>
              <c:f>Sheet1!$A$2:$A$2</c:f>
              <c:strCache>
                <c:ptCount val="1"/>
                <c:pt idx="0">
                  <c:v>ISO 27001</c:v>
                </c:pt>
              </c:strCache>
            </c:strRef>
          </c:cat>
          <c:val>
            <c:numRef>
              <c:f>Sheet1!$E$2:$E$2</c:f>
              <c:numCache>
                <c:formatCode>General</c:formatCode>
                <c:ptCount val="1"/>
                <c:pt idx="0">
                  <c:v>10</c:v>
                </c:pt>
              </c:numCache>
            </c:numRef>
          </c:val>
        </c:ser>
        <c:ser>
          <c:idx val="4"/>
          <c:order val="4"/>
          <c:tx>
            <c:strRef>
              <c:f>Sheet1!$F$1</c:f>
              <c:strCache>
                <c:ptCount val="1"/>
                <c:pt idx="0">
                  <c:v>Not applicable</c:v>
                </c:pt>
              </c:strCache>
            </c:strRef>
          </c:tx>
          <c:spPr>
            <a:solidFill>
              <a:srgbClr val="D5D9E3"/>
            </a:solidFill>
            <a:ln>
              <a:solidFill>
                <a:srgbClr val="D5D9E3"/>
              </a:solidFill>
            </a:ln>
          </c:spPr>
          <c:cat>
            <c:strRef>
              <c:f>Sheet1!$A$2:$A$2</c:f>
              <c:strCache>
                <c:ptCount val="1"/>
                <c:pt idx="0">
                  <c:v>ISO 27001</c:v>
                </c:pt>
              </c:strCache>
            </c:strRef>
          </c:cat>
          <c:val>
            <c:numRef>
              <c:f>Sheet1!$F$2:$F$2</c:f>
              <c:numCache>
                <c:formatCode>General</c:formatCode>
                <c:ptCount val="1"/>
                <c:pt idx="0">
                  <c:v>3</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900">
                <a:latin typeface="Calibri"/>
              </a:defRPr>
            </a:pPr>
          </a:p>
        </c:txPr>
        <c:crossAx val="-2113994440"/>
        <c:crosses val="autoZero"/>
        <c:auto val="1"/>
        <c:lblAlgn val="ctr"/>
        <c:lblOffset val="100"/>
        <c:noMultiLvlLbl val="0"/>
      </c:catAx>
      <c:valAx>
        <c:axId val="-2113994440"/>
        <c:scaling>
          <c:min val="0.0"/>
        </c:scaling>
        <c:delete val="0"/>
        <c:axPos val="b"/>
        <c:majorGridlines/>
        <c:majorTickMark val="out"/>
        <c:minorTickMark val="none"/>
        <c:tickLblPos val="nextTo"/>
        <c:txPr>
          <a:bodyPr/>
          <a:lstStyle/>
          <a:p>
            <a:pPr>
              <a:defRPr sz="900">
                <a:latin typeface="Calibri"/>
              </a:defRPr>
            </a:pPr>
          </a:p>
        </c:txPr>
        <c:crossAx val="-2068027336"/>
        <c:crosses val="autoZero"/>
      </c:valAx>
    </c:plotArea>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Derived from board report snapshot 5f2c9e1a, v2 (document SHA-256 abababababab). Edits to this file do not change the report version it was derived from.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rk slide background"/>
          <p:cNvSpPr/>
          <p:nvPr/>
        </p:nvSpPr>
        <p:spPr>
          <a:xfrm>
            <a:off x="0" y="0"/>
            <a:ext cx="12192120" cy="6858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FFFFFF"/>
                </a:solidFill>
                <a:latin typeface="Calibri"/>
              </a:defRPr>
            </a:pPr>
            <a:r>
              <a:t>Board report</a:t>
            </a:r>
          </a:p>
        </p:txBody>
      </p:sp>
      <p:sp>
        <p:nvSpPr>
          <p:cNvPr id="6" name="TextBox 5"/>
          <p:cNvSpPr txBox="1"/>
          <p:nvPr/>
        </p:nvSpPr>
        <p:spPr>
          <a:xfrm>
            <a:off x="648000" y="1008000"/>
            <a:ext cx="6840000" cy="360000"/>
          </a:xfrm>
          <a:prstGeom prst="rect">
            <a:avLst/>
          </a:prstGeom>
          <a:noFill/>
          <a:ln>
            <a:noFill/>
          </a:ln>
        </p:spPr>
        <p:txBody>
          <a:bodyPr wrap="square" anchor="t" lIns="43200" rIns="43200" tIns="25200" bIns="25200">
            <a:spAutoFit/>
          </a:bodyPr>
          <a:lstStyle/>
          <a:p>
            <a:pPr>
              <a:defRPr sz="1200" b="1">
                <a:solidFill>
                  <a:srgbClr val="FFFFFF"/>
                </a:solidFill>
                <a:latin typeface="Calibri"/>
              </a:defRPr>
            </a:pPr>
            <a:r>
              <a:t>Golden Advisory</a:t>
            </a:r>
          </a:p>
        </p:txBody>
      </p:sp>
      <p:sp>
        <p:nvSpPr>
          <p:cNvPr id="7" name="Draft badge"/>
          <p:cNvSpPr txBox="1"/>
          <p:nvPr/>
        </p:nvSpPr>
        <p:spPr>
          <a:xfrm>
            <a:off x="648000" y="1512000"/>
            <a:ext cx="1944000" cy="324000"/>
          </a:xfrm>
          <a:prstGeom prst="rect">
            <a:avLst/>
          </a:prstGeom>
          <a:solidFill>
            <a:srgbClr val="F2C14E"/>
          </a:solidFill>
          <a:ln>
            <a:noFill/>
          </a:ln>
        </p:spPr>
        <p:txBody>
          <a:bodyPr wrap="square" anchor="t" lIns="43200" rIns="43200" tIns="25200" bIns="25200">
            <a:spAutoFit/>
          </a:bodyPr>
          <a:lstStyle/>
          <a:p>
            <a:pPr>
              <a:defRPr sz="900" b="1">
                <a:solidFill>
                  <a:srgbClr val="0B0E26"/>
                </a:solidFill>
                <a:latin typeface="Calibri"/>
              </a:defRPr>
            </a:pPr>
            <a:r>
              <a:t>DRAFT UNTIL ISSUED</a:t>
            </a:r>
          </a:p>
        </p:txBody>
      </p:sp>
      <p:sp>
        <p:nvSpPr>
          <p:cNvPr id="8" name="TextBox 7"/>
          <p:cNvSpPr txBox="1"/>
          <p:nvPr/>
        </p:nvSpPr>
        <p:spPr>
          <a:xfrm>
            <a:off x="648000" y="2052000"/>
            <a:ext cx="6840000" cy="360000"/>
          </a:xfrm>
          <a:prstGeom prst="rect">
            <a:avLst/>
          </a:prstGeom>
          <a:noFill/>
          <a:ln>
            <a:noFill/>
          </a:ln>
        </p:spPr>
        <p:txBody>
          <a:bodyPr wrap="square" anchor="t" lIns="43200" rIns="43200" tIns="25200" bIns="25200">
            <a:spAutoFit/>
          </a:bodyPr>
          <a:lstStyle/>
          <a:p>
            <a:pPr>
              <a:defRPr sz="1100" b="1">
                <a:solidFill>
                  <a:srgbClr val="12B3A6"/>
                </a:solidFill>
                <a:latin typeface="Calibri"/>
              </a:defRPr>
            </a:pPr>
            <a:r>
              <a:t>FY26 privacy and security review</a:t>
            </a:r>
          </a:p>
        </p:txBody>
      </p:sp>
      <p:sp>
        <p:nvSpPr>
          <p:cNvPr id="9" name="TextBox 8"/>
          <p:cNvSpPr txBox="1"/>
          <p:nvPr/>
        </p:nvSpPr>
        <p:spPr>
          <a:xfrm>
            <a:off x="648000" y="2520000"/>
            <a:ext cx="7380000" cy="900000"/>
          </a:xfrm>
          <a:prstGeom prst="rect">
            <a:avLst/>
          </a:prstGeom>
          <a:noFill/>
          <a:ln>
            <a:noFill/>
          </a:ln>
        </p:spPr>
        <p:txBody>
          <a:bodyPr wrap="square" anchor="t" lIns="43200" rIns="43200" tIns="25200" bIns="25200">
            <a:spAutoFit/>
          </a:bodyPr>
          <a:lstStyle/>
          <a:p>
            <a:pPr>
              <a:defRPr sz="3000" b="1">
                <a:solidFill>
                  <a:srgbClr val="FFFFFF"/>
                </a:solidFill>
                <a:latin typeface="Calibri"/>
              </a:defRPr>
            </a:pPr>
            <a:r>
              <a:t>भारत डेटा प्राइवेट लिमिटेड</a:t>
            </a:r>
          </a:p>
        </p:txBody>
      </p:sp>
      <p:sp>
        <p:nvSpPr>
          <p:cNvPr id="10" name="TextBox 9"/>
          <p:cNvSpPr txBox="1"/>
          <p:nvPr/>
        </p:nvSpPr>
        <p:spPr>
          <a:xfrm>
            <a:off x="648000" y="3636000"/>
            <a:ext cx="7920000" cy="900000"/>
          </a:xfrm>
          <a:prstGeom prst="rect">
            <a:avLst/>
          </a:prstGeom>
          <a:noFill/>
          <a:ln>
            <a:noFill/>
          </a:ln>
        </p:spPr>
        <p:txBody>
          <a:bodyPr wrap="square" anchor="t" lIns="43200" rIns="43200" tIns="25200" bIns="25200">
            <a:spAutoFit/>
          </a:bodyPr>
          <a:lstStyle/>
          <a:p>
            <a:pPr>
              <a:defRPr sz="2200" b="1">
                <a:solidFill>
                  <a:srgbClr val="C9D0FF"/>
                </a:solidFill>
                <a:latin typeface="Calibri"/>
              </a:defRPr>
            </a:pPr>
            <a:r>
              <a:t>Information security compliance assessment</a:t>
            </a:r>
          </a:p>
        </p:txBody>
      </p:sp>
      <p:sp>
        <p:nvSpPr>
          <p:cNvPr id="11" name="Framework chip"/>
          <p:cNvSpPr/>
          <p:nvPr/>
        </p:nvSpPr>
        <p:spPr>
          <a:xfrm>
            <a:off x="648000" y="4788000"/>
            <a:ext cx="1058400" cy="360000"/>
          </a:xfrm>
          <a:prstGeom prst="roundRect">
            <a:avLst/>
          </a:prstGeom>
          <a:noFill/>
          <a:ln w="7620">
            <a:solidFill>
              <a:srgbClr val="6D78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4000" y="4824000"/>
            <a:ext cx="986400" cy="252000"/>
          </a:xfrm>
          <a:prstGeom prst="rect">
            <a:avLst/>
          </a:prstGeom>
          <a:noFill/>
          <a:ln>
            <a:noFill/>
          </a:ln>
        </p:spPr>
        <p:txBody>
          <a:bodyPr wrap="square" anchor="t" lIns="43200" rIns="43200" tIns="25200" bIns="25200">
            <a:spAutoFit/>
          </a:bodyPr>
          <a:lstStyle/>
          <a:p>
            <a:pPr>
              <a:defRPr sz="900" b="1">
                <a:solidFill>
                  <a:srgbClr val="E4E8FF"/>
                </a:solidFill>
                <a:latin typeface="Calibri"/>
              </a:defRPr>
            </a:pPr>
            <a:r>
              <a:t>ISO 27001 2022</a:t>
            </a:r>
          </a:p>
        </p:txBody>
      </p:sp>
      <p:sp>
        <p:nvSpPr>
          <p:cNvPr id="13" name="TextBox 12"/>
          <p:cNvSpPr txBox="1"/>
          <p:nvPr/>
        </p:nvSpPr>
        <p:spPr>
          <a:xfrm>
            <a:off x="648000" y="5688000"/>
            <a:ext cx="2448000" cy="648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Assessment period</a:t>
            </a:r>
          </a:p>
          <a:p>
            <a:pPr>
              <a:defRPr sz="1100" b="1">
                <a:solidFill>
                  <a:srgbClr val="FFFFFF"/>
                </a:solidFill>
                <a:latin typeface="Calibri"/>
              </a:defRPr>
            </a:pPr>
            <a:r>
              <a:t>01 Apr 2026 to 30 Jun 2026</a:t>
            </a:r>
          </a:p>
        </p:txBody>
      </p:sp>
      <p:sp>
        <p:nvSpPr>
          <p:cNvPr id="14" name="TextBox 13"/>
          <p:cNvSpPr txBox="1"/>
          <p:nvPr/>
        </p:nvSpPr>
        <p:spPr>
          <a:xfrm>
            <a:off x="3240000" y="5688000"/>
            <a:ext cx="2448000" cy="648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Evidence cut-off</a:t>
            </a:r>
          </a:p>
          <a:p>
            <a:pPr>
              <a:defRPr sz="1100" b="1">
                <a:solidFill>
                  <a:srgbClr val="FFFFFF"/>
                </a:solidFill>
                <a:latin typeface="Calibri"/>
              </a:defRPr>
            </a:pPr>
            <a:r>
              <a:t>15 Jul 2026</a:t>
            </a:r>
          </a:p>
        </p:txBody>
      </p:sp>
      <p:sp>
        <p:nvSpPr>
          <p:cNvPr id="15" name="TextBox 14"/>
          <p:cNvSpPr txBox="1"/>
          <p:nvPr/>
        </p:nvSpPr>
        <p:spPr>
          <a:xfrm>
            <a:off x="5832000" y="5688000"/>
            <a:ext cx="2808000" cy="648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Version</a:t>
            </a:r>
          </a:p>
          <a:p>
            <a:pPr>
              <a:defRPr sz="1100" b="1">
                <a:solidFill>
                  <a:srgbClr val="FFFFFF"/>
                </a:solidFill>
                <a:latin typeface="Calibri"/>
              </a:defRPr>
            </a:pPr>
            <a:r>
              <a:t>v2 · 28 Sep 2026</a:t>
            </a:r>
          </a:p>
        </p:txBody>
      </p:sp>
      <p:sp>
        <p:nvSpPr>
          <p:cNvPr id="16" name="TextBox 15"/>
          <p:cNvSpPr txBox="1"/>
          <p:nvPr/>
        </p:nvSpPr>
        <p:spPr>
          <a:xfrm>
            <a:off x="8784000" y="5688000"/>
            <a:ext cx="2160000" cy="648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Snapshot</a:t>
            </a:r>
          </a:p>
          <a:p>
            <a:pPr>
              <a:defRPr sz="1100" b="1">
                <a:solidFill>
                  <a:srgbClr val="FFFFFF"/>
                </a:solidFill>
                <a:latin typeface="Calibri"/>
              </a:defRPr>
            </a:pPr>
            <a:r>
              <a:t>5f2c9e1a</a:t>
            </a:r>
          </a:p>
        </p:txBody>
      </p:sp>
      <p:sp>
        <p:nvSpPr>
          <p:cNvPr id="17" name="Footer rule"/>
          <p:cNvSpPr/>
          <p:nvPr/>
        </p:nvSpPr>
        <p:spPr>
          <a:xfrm>
            <a:off x="0" y="6480000"/>
            <a:ext cx="12192120" cy="14400"/>
          </a:xfrm>
          <a:prstGeom prst="rect">
            <a:avLst/>
          </a:prstGeom>
          <a:solidFill>
            <a:srgbClr val="6D7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C9D0FF"/>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 of 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Contents</a:t>
            </a:r>
          </a:p>
        </p:txBody>
      </p:sp>
      <p:sp>
        <p:nvSpPr>
          <p:cNvPr id="5" name="TextBox 4"/>
          <p:cNvSpPr txBox="1"/>
          <p:nvPr/>
        </p:nvSpPr>
        <p:spPr>
          <a:xfrm>
            <a:off x="936000" y="1584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01</a:t>
            </a:r>
          </a:p>
        </p:txBody>
      </p:sp>
      <p:sp>
        <p:nvSpPr>
          <p:cNvPr id="6" name="TextBox 5"/>
          <p:cNvSpPr txBox="1"/>
          <p:nvPr/>
        </p:nvSpPr>
        <p:spPr>
          <a:xfrm>
            <a:off x="1800000" y="1620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How to read this report</a:t>
            </a:r>
          </a:p>
        </p:txBody>
      </p:sp>
      <p:sp>
        <p:nvSpPr>
          <p:cNvPr id="7" name="TextBox 6"/>
          <p:cNvSpPr txBox="1"/>
          <p:nvPr/>
        </p:nvSpPr>
        <p:spPr>
          <a:xfrm>
            <a:off x="1800000" y="1980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Outcomes, risk levels and ratings</a:t>
            </a:r>
          </a:p>
        </p:txBody>
      </p:sp>
      <p:sp>
        <p:nvSpPr>
          <p:cNvPr id="8" name="TextBox 7"/>
          <p:cNvSpPr txBox="1"/>
          <p:nvPr/>
        </p:nvSpPr>
        <p:spPr>
          <a:xfrm>
            <a:off x="9792000" y="1764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3</a:t>
            </a:r>
          </a:p>
        </p:txBody>
      </p:sp>
      <p:sp>
        <p:nvSpPr>
          <p:cNvPr id="9" name="TextBox 8"/>
          <p:cNvSpPr txBox="1"/>
          <p:nvPr/>
        </p:nvSpPr>
        <p:spPr>
          <a:xfrm>
            <a:off x="936000" y="2448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02</a:t>
            </a:r>
          </a:p>
        </p:txBody>
      </p:sp>
      <p:sp>
        <p:nvSpPr>
          <p:cNvPr id="10" name="TextBox 9"/>
          <p:cNvSpPr txBox="1"/>
          <p:nvPr/>
        </p:nvSpPr>
        <p:spPr>
          <a:xfrm>
            <a:off x="1800000" y="2484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Executive summary</a:t>
            </a:r>
          </a:p>
        </p:txBody>
      </p:sp>
      <p:sp>
        <p:nvSpPr>
          <p:cNvPr id="11" name="TextBox 10"/>
          <p:cNvSpPr txBox="1"/>
          <p:nvPr/>
        </p:nvSpPr>
        <p:spPr>
          <a:xfrm>
            <a:off x="1800000" y="2844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Position, posture, domains, risk and decisions</a:t>
            </a:r>
          </a:p>
        </p:txBody>
      </p:sp>
      <p:sp>
        <p:nvSpPr>
          <p:cNvPr id="12" name="TextBox 11"/>
          <p:cNvSpPr txBox="1"/>
          <p:nvPr/>
        </p:nvSpPr>
        <p:spPr>
          <a:xfrm>
            <a:off x="9792000" y="2628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5</a:t>
            </a:r>
          </a:p>
        </p:txBody>
      </p:sp>
      <p:sp>
        <p:nvSpPr>
          <p:cNvPr id="13" name="TextBox 12"/>
          <p:cNvSpPr txBox="1"/>
          <p:nvPr/>
        </p:nvSpPr>
        <p:spPr>
          <a:xfrm>
            <a:off x="936000" y="3312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03</a:t>
            </a:r>
          </a:p>
        </p:txBody>
      </p:sp>
      <p:sp>
        <p:nvSpPr>
          <p:cNvPr id="14" name="TextBox 13"/>
          <p:cNvSpPr txBox="1"/>
          <p:nvPr/>
        </p:nvSpPr>
        <p:spPr>
          <a:xfrm>
            <a:off x="1800000" y="3348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Key observations</a:t>
            </a:r>
          </a:p>
        </p:txBody>
      </p:sp>
      <p:sp>
        <p:nvSpPr>
          <p:cNvPr id="15" name="TextBox 14"/>
          <p:cNvSpPr txBox="1"/>
          <p:nvPr/>
        </p:nvSpPr>
        <p:spPr>
          <a:xfrm>
            <a:off x="1800000" y="3708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3 approved findings</a:t>
            </a:r>
          </a:p>
        </p:txBody>
      </p:sp>
      <p:sp>
        <p:nvSpPr>
          <p:cNvPr id="16" name="TextBox 15"/>
          <p:cNvSpPr txBox="1"/>
          <p:nvPr/>
        </p:nvSpPr>
        <p:spPr>
          <a:xfrm>
            <a:off x="9792000" y="3492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10</a:t>
            </a:r>
          </a:p>
        </p:txBody>
      </p:sp>
      <p:sp>
        <p:nvSpPr>
          <p:cNvPr id="17" name="TextBox 16"/>
          <p:cNvSpPr txBox="1"/>
          <p:nvPr/>
        </p:nvSpPr>
        <p:spPr>
          <a:xfrm>
            <a:off x="936000" y="4176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04</a:t>
            </a:r>
          </a:p>
        </p:txBody>
      </p:sp>
      <p:sp>
        <p:nvSpPr>
          <p:cNvPr id="18" name="TextBox 17"/>
          <p:cNvSpPr txBox="1"/>
          <p:nvPr/>
        </p:nvSpPr>
        <p:spPr>
          <a:xfrm>
            <a:off x="1800000" y="4212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Remediation roadmap</a:t>
            </a:r>
          </a:p>
        </p:txBody>
      </p:sp>
      <p:sp>
        <p:nvSpPr>
          <p:cNvPr id="19" name="TextBox 18"/>
          <p:cNvSpPr txBox="1"/>
          <p:nvPr/>
        </p:nvSpPr>
        <p:spPr>
          <a:xfrm>
            <a:off x="1800000" y="4572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Initiatives, effort, benefit and change</a:t>
            </a:r>
          </a:p>
        </p:txBody>
      </p:sp>
      <p:sp>
        <p:nvSpPr>
          <p:cNvPr id="20" name="TextBox 19"/>
          <p:cNvSpPr txBox="1"/>
          <p:nvPr/>
        </p:nvSpPr>
        <p:spPr>
          <a:xfrm>
            <a:off x="9792000" y="4356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11</a:t>
            </a:r>
          </a:p>
        </p:txBody>
      </p:sp>
      <p:sp>
        <p:nvSpPr>
          <p:cNvPr id="21" name="TextBox 20"/>
          <p:cNvSpPr txBox="1"/>
          <p:nvPr/>
        </p:nvSpPr>
        <p:spPr>
          <a:xfrm>
            <a:off x="936000" y="5040000"/>
            <a:ext cx="720000" cy="576000"/>
          </a:xfrm>
          <a:prstGeom prst="rect">
            <a:avLst/>
          </a:prstGeom>
          <a:noFill/>
          <a:ln>
            <a:noFill/>
          </a:ln>
        </p:spPr>
        <p:txBody>
          <a:bodyPr wrap="square" anchor="t" lIns="43200" rIns="43200" tIns="25200" bIns="25200">
            <a:spAutoFit/>
          </a:bodyPr>
          <a:lstStyle/>
          <a:p>
            <a:pPr>
              <a:defRPr sz="2600" b="1">
                <a:solidFill>
                  <a:srgbClr val="2D3FD3"/>
                </a:solidFill>
                <a:latin typeface="Calibri"/>
              </a:defRPr>
            </a:pPr>
            <a:r>
              <a:t>05</a:t>
            </a:r>
          </a:p>
        </p:txBody>
      </p:sp>
      <p:sp>
        <p:nvSpPr>
          <p:cNvPr id="22" name="TextBox 21"/>
          <p:cNvSpPr txBox="1"/>
          <p:nvPr/>
        </p:nvSpPr>
        <p:spPr>
          <a:xfrm>
            <a:off x="1800000" y="5076000"/>
            <a:ext cx="5400000" cy="324000"/>
          </a:xfrm>
          <a:prstGeom prst="rect">
            <a:avLst/>
          </a:prstGeom>
          <a:noFill/>
          <a:ln>
            <a:noFill/>
          </a:ln>
        </p:spPr>
        <p:txBody>
          <a:bodyPr wrap="square" anchor="t" lIns="43200" rIns="43200" tIns="25200" bIns="25200">
            <a:spAutoFit/>
          </a:bodyPr>
          <a:lstStyle/>
          <a:p>
            <a:pPr>
              <a:defRPr sz="1400" b="1">
                <a:solidFill>
                  <a:srgbClr val="0B0E26"/>
                </a:solidFill>
                <a:latin typeface="Calibri"/>
              </a:defRPr>
            </a:pPr>
            <a:r>
              <a:t>Annexure</a:t>
            </a:r>
          </a:p>
        </p:txBody>
      </p:sp>
      <p:sp>
        <p:nvSpPr>
          <p:cNvPr id="23" name="TextBox 22"/>
          <p:cNvSpPr txBox="1"/>
          <p:nvPr/>
        </p:nvSpPr>
        <p:spPr>
          <a:xfrm>
            <a:off x="1800000" y="5436000"/>
            <a:ext cx="5760000" cy="288000"/>
          </a:xfrm>
          <a:prstGeom prst="rect">
            <a:avLst/>
          </a:prstGeom>
          <a:noFill/>
          <a:ln>
            <a:noFill/>
          </a:ln>
        </p:spPr>
        <p:txBody>
          <a:bodyPr wrap="square" anchor="t" lIns="43200" rIns="43200" tIns="25200" bIns="25200">
            <a:spAutoFit/>
          </a:bodyPr>
          <a:lstStyle/>
          <a:p>
            <a:pPr>
              <a:defRPr sz="1000" b="0">
                <a:solidFill>
                  <a:srgbClr val="626984"/>
                </a:solidFill>
                <a:latin typeface="Calibri"/>
              </a:defRPr>
            </a:pPr>
            <a:r>
              <a:t>Methodology, requirement and evidence registers</a:t>
            </a:r>
          </a:p>
        </p:txBody>
      </p:sp>
      <p:sp>
        <p:nvSpPr>
          <p:cNvPr id="24" name="TextBox 23"/>
          <p:cNvSpPr txBox="1"/>
          <p:nvPr/>
        </p:nvSpPr>
        <p:spPr>
          <a:xfrm>
            <a:off x="9792000" y="5220000"/>
            <a:ext cx="1224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Page 16</a:t>
            </a:r>
          </a:p>
        </p:txBody>
      </p:sp>
      <p:sp>
        <p:nvSpPr>
          <p:cNvPr id="25"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27"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 of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How to read this report</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Every requirement gets one outcome, every gap gets a risk level, and each framework gets a score.</a:t>
            </a:r>
          </a:p>
        </p:txBody>
      </p:sp>
      <p:graphicFrame>
        <p:nvGraphicFramePr>
          <p:cNvPr id="6" name="Native evidence table"/>
          <p:cNvGraphicFramePr>
            <a:graphicFrameLocks noGrp="1"/>
          </p:cNvGraphicFramePr>
          <p:nvPr/>
        </p:nvGraphicFramePr>
        <p:xfrm>
          <a:off x="504000" y="1728000"/>
          <a:ext cx="5760000" cy="1872000"/>
        </p:xfrm>
        <a:graphic>
          <a:graphicData uri="http://schemas.openxmlformats.org/drawingml/2006/table">
            <a:tbl>
              <a:tblPr firstRow="1" bandRow="1">
                <a:tableStyleId>{5C22544A-7EE6-4342-B048-85BDC9FD1C3A}</a:tableStyleId>
              </a:tblPr>
              <a:tblGrid>
                <a:gridCol w="1872000"/>
                <a:gridCol w="3888000"/>
              </a:tblGrid>
              <a:tr h="312000">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Meaning</a:t>
                      </a:r>
                    </a:p>
                  </a:txBody>
                  <a:tcPr marL="43200" marR="43200" marT="21600" marB="21600" anchor="ctr">
                    <a:solidFill>
                      <a:srgbClr val="161A5C"/>
                    </a:solidFill>
                  </a:tcPr>
                </a:tc>
              </a:tr>
              <a:tr h="312000">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Met, and the evidence shows it.</a:t>
                      </a:r>
                    </a:p>
                  </a:txBody>
                  <a:tcPr marL="43200" marR="43200" marT="21600" marB="21600" anchor="ctr">
                    <a:solidFill>
                      <a:srgbClr val="FFFFFF"/>
                    </a:solidFill>
                  </a:tcPr>
                </a:tc>
              </a:tr>
              <a:tr h="312000">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Met in part; a gap remains.</a:t>
                      </a:r>
                    </a:p>
                  </a:txBody>
                  <a:tcPr marL="43200" marR="43200" marT="21600" marB="21600" anchor="ctr">
                    <a:solidFill>
                      <a:srgbClr val="F1F3F8"/>
                    </a:solidFill>
                  </a:tcPr>
                </a:tc>
              </a:tr>
              <a:tr h="312000">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Not met.</a:t>
                      </a:r>
                    </a:p>
                  </a:txBody>
                  <a:tcPr marL="43200" marR="43200" marT="21600" marB="21600" anchor="ctr">
                    <a:solidFill>
                      <a:srgbClr val="FFFFFF"/>
                    </a:solidFill>
                  </a:tcPr>
                </a:tc>
              </a:tr>
              <a:tr h="312000">
                <a:tc>
                  <a:txBody>
                    <a:bodyPr/>
                    <a:lstStyle/>
                    <a:p>
                      <a:pPr>
                        <a:defRPr sz="900" b="0">
                          <a:solidFill>
                            <a:srgbClr val="0B0E26"/>
                          </a:solidFill>
                          <a:latin typeface="Calibri"/>
                        </a:defRPr>
                      </a:pPr>
                      <a:r>
                        <a:t>Not concluded</a:t>
                      </a:r>
                    </a:p>
                  </a:txBody>
                  <a:tcPr marL="43200" marR="43200" marT="21600" marB="21600" anchor="ctr">
                    <a:solidFill>
                      <a:srgbClr val="F1F3F8"/>
                    </a:solidFill>
                  </a:tcPr>
                </a:tc>
                <a:tc>
                  <a:txBody>
                    <a:bodyPr/>
                    <a:lstStyle/>
                    <a:p>
                      <a:pPr>
                        <a:defRPr sz="900" b="0">
                          <a:solidFill>
                            <a:srgbClr val="0B0E26"/>
                          </a:solidFill>
                          <a:latin typeface="Calibri"/>
                        </a:defRPr>
                      </a:pPr>
                      <a:r>
                        <a:t>Evidence does not support a conclusion; left out of scores.</a:t>
                      </a:r>
                    </a:p>
                  </a:txBody>
                  <a:tcPr marL="43200" marR="43200" marT="21600" marB="21600" anchor="ctr">
                    <a:solidFill>
                      <a:srgbClr val="F1F3F8"/>
                    </a:solidFill>
                  </a:tcPr>
                </a:tc>
              </a:tr>
              <a:tr h="312000">
                <a:tc>
                  <a:txBody>
                    <a:bodyPr/>
                    <a:lstStyle/>
                    <a:p>
                      <a:pPr>
                        <a:defRPr sz="900" b="0">
                          <a:solidFill>
                            <a:srgbClr val="0B0E26"/>
                          </a:solidFill>
                          <a:latin typeface="Calibri"/>
                        </a:defRPr>
                      </a:pPr>
                      <a:r>
                        <a:t>Not applicable</a:t>
                      </a:r>
                    </a:p>
                  </a:txBody>
                  <a:tcPr marL="43200" marR="43200" marT="21600" marB="21600" anchor="ctr">
                    <a:solidFill>
                      <a:srgbClr val="FFFFFF"/>
                    </a:solidFill>
                  </a:tcPr>
                </a:tc>
                <a:tc>
                  <a:txBody>
                    <a:bodyPr/>
                    <a:lstStyle/>
                    <a:p>
                      <a:pPr>
                        <a:defRPr sz="900" b="0">
                          <a:solidFill>
                            <a:srgbClr val="0B0E26"/>
                          </a:solidFill>
                          <a:latin typeface="Calibri"/>
                        </a:defRPr>
                      </a:pPr>
                      <a:r>
                        <a:t>Does not apply within the assessed scope.</a:t>
                      </a:r>
                    </a:p>
                  </a:txBody>
                  <a:tcPr marL="43200" marR="43200" marT="21600" marB="21600" anchor="ctr">
                    <a:solidFill>
                      <a:srgbClr val="FFFFFF"/>
                    </a:solidFill>
                  </a:tcPr>
                </a:tc>
              </a:tr>
            </a:tbl>
          </a:graphicData>
        </a:graphic>
      </p:graphicFrame>
      <p:sp>
        <p:nvSpPr>
          <p:cNvPr id="7" name="TextBox 6"/>
          <p:cNvSpPr txBox="1"/>
          <p:nvPr/>
        </p:nvSpPr>
        <p:spPr>
          <a:xfrm>
            <a:off x="6624000" y="1728000"/>
            <a:ext cx="4860000" cy="324000"/>
          </a:xfrm>
          <a:prstGeom prst="rect">
            <a:avLst/>
          </a:prstGeom>
          <a:noFill/>
          <a:ln>
            <a:noFill/>
          </a:ln>
        </p:spPr>
        <p:txBody>
          <a:bodyPr wrap="square" anchor="t" lIns="43200" rIns="43200" tIns="25200" bIns="25200">
            <a:spAutoFit/>
          </a:bodyPr>
          <a:lstStyle/>
          <a:p>
            <a:pPr>
              <a:defRPr sz="1400" b="1">
                <a:solidFill>
                  <a:srgbClr val="2D3FD3"/>
                </a:solidFill>
                <a:latin typeface="Calibri"/>
              </a:defRPr>
            </a:pPr>
            <a:r>
              <a:t>Risk levels</a:t>
            </a:r>
          </a:p>
        </p:txBody>
      </p:sp>
      <p:sp>
        <p:nvSpPr>
          <p:cNvPr id="8" name="Risk level legend"/>
          <p:cNvSpPr/>
          <p:nvPr/>
        </p:nvSpPr>
        <p:spPr>
          <a:xfrm>
            <a:off x="6624000" y="2196000"/>
            <a:ext cx="2304000" cy="720000"/>
          </a:xfrm>
          <a:prstGeom prst="roundRect">
            <a:avLst/>
          </a:prstGeom>
          <a:solidFill>
            <a:srgbClr val="9B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96000" y="2268000"/>
            <a:ext cx="2160000" cy="576000"/>
          </a:xfrm>
          <a:prstGeom prst="rect">
            <a:avLst/>
          </a:prstGeom>
          <a:noFill/>
          <a:ln>
            <a:noFill/>
          </a:ln>
        </p:spPr>
        <p:txBody>
          <a:bodyPr wrap="square" anchor="t" lIns="43200" rIns="43200" tIns="25200" bIns="25200">
            <a:spAutoFit/>
          </a:bodyPr>
          <a:lstStyle/>
          <a:p>
            <a:pPr>
              <a:defRPr sz="1000" b="1">
                <a:solidFill>
                  <a:srgbClr val="FFFFFF"/>
                </a:solidFill>
                <a:latin typeface="Calibri"/>
              </a:defRPr>
            </a:pPr>
            <a:r>
              <a:t>Critical</a:t>
            </a:r>
          </a:p>
          <a:p>
            <a:pPr>
              <a:defRPr sz="1000" b="1">
                <a:solidFill>
                  <a:srgbClr val="FFFFFF"/>
                </a:solidFill>
                <a:latin typeface="Calibri"/>
              </a:defRPr>
            </a:pPr>
            <a:r>
              <a:t>Material exposure. Act now.</a:t>
            </a:r>
          </a:p>
        </p:txBody>
      </p:sp>
      <p:sp>
        <p:nvSpPr>
          <p:cNvPr id="10" name="Risk level legend"/>
          <p:cNvSpPr/>
          <p:nvPr/>
        </p:nvSpPr>
        <p:spPr>
          <a:xfrm>
            <a:off x="9144000" y="2196000"/>
            <a:ext cx="2304000" cy="720000"/>
          </a:xfrm>
          <a:prstGeom prst="roundRect">
            <a:avLst/>
          </a:prstGeom>
          <a:solidFill>
            <a:srgbClr val="D94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216000" y="2268000"/>
            <a:ext cx="2160000" cy="576000"/>
          </a:xfrm>
          <a:prstGeom prst="rect">
            <a:avLst/>
          </a:prstGeom>
          <a:noFill/>
          <a:ln>
            <a:noFill/>
          </a:ln>
        </p:spPr>
        <p:txBody>
          <a:bodyPr wrap="square" anchor="t" lIns="43200" rIns="43200" tIns="25200" bIns="25200">
            <a:spAutoFit/>
          </a:bodyPr>
          <a:lstStyle/>
          <a:p>
            <a:pPr>
              <a:defRPr sz="1000" b="1">
                <a:solidFill>
                  <a:srgbClr val="FFFFFF"/>
                </a:solidFill>
                <a:latin typeface="Calibri"/>
              </a:defRPr>
            </a:pPr>
            <a:r>
              <a:t>High</a:t>
            </a:r>
          </a:p>
          <a:p>
            <a:pPr>
              <a:defRPr sz="1000" b="1">
                <a:solidFill>
                  <a:srgbClr val="FFFFFF"/>
                </a:solidFill>
                <a:latin typeface="Calibri"/>
              </a:defRPr>
            </a:pPr>
            <a:r>
              <a:t>Significant exposure. Act this quarter.</a:t>
            </a:r>
          </a:p>
        </p:txBody>
      </p:sp>
      <p:sp>
        <p:nvSpPr>
          <p:cNvPr id="12" name="Risk level legend"/>
          <p:cNvSpPr/>
          <p:nvPr/>
        </p:nvSpPr>
        <p:spPr>
          <a:xfrm>
            <a:off x="6624000" y="3096000"/>
            <a:ext cx="2304000" cy="720000"/>
          </a:xfrm>
          <a:prstGeom prst="roundRect">
            <a:avLst/>
          </a:prstGeom>
          <a:solidFill>
            <a:srgbClr val="F0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96000" y="3168000"/>
            <a:ext cx="2160000" cy="576000"/>
          </a:xfrm>
          <a:prstGeom prst="rect">
            <a:avLst/>
          </a:prstGeom>
          <a:noFill/>
          <a:ln>
            <a:noFill/>
          </a:ln>
        </p:spPr>
        <p:txBody>
          <a:bodyPr wrap="square" anchor="t" lIns="43200" rIns="43200" tIns="25200" bIns="25200">
            <a:spAutoFit/>
          </a:bodyPr>
          <a:lstStyle/>
          <a:p>
            <a:pPr>
              <a:defRPr sz="1000" b="1">
                <a:solidFill>
                  <a:srgbClr val="0B0E26"/>
                </a:solidFill>
                <a:latin typeface="Calibri"/>
              </a:defRPr>
            </a:pPr>
            <a:r>
              <a:t>Medium</a:t>
            </a:r>
          </a:p>
          <a:p>
            <a:pPr>
              <a:defRPr sz="1000" b="1">
                <a:solidFill>
                  <a:srgbClr val="0B0E26"/>
                </a:solidFill>
                <a:latin typeface="Calibri"/>
              </a:defRPr>
            </a:pPr>
            <a:r>
              <a:t>Moderate exposure. Plan within six months.</a:t>
            </a:r>
          </a:p>
        </p:txBody>
      </p:sp>
      <p:sp>
        <p:nvSpPr>
          <p:cNvPr id="14" name="Risk level legend"/>
          <p:cNvSpPr/>
          <p:nvPr/>
        </p:nvSpPr>
        <p:spPr>
          <a:xfrm>
            <a:off x="9144000" y="3096000"/>
            <a:ext cx="2304000" cy="720000"/>
          </a:xfrm>
          <a:prstGeom prst="roundRect">
            <a:avLst/>
          </a:prstGeom>
          <a:solidFill>
            <a:srgbClr val="3C9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16000" y="3168000"/>
            <a:ext cx="2160000" cy="576000"/>
          </a:xfrm>
          <a:prstGeom prst="rect">
            <a:avLst/>
          </a:prstGeom>
          <a:noFill/>
          <a:ln>
            <a:noFill/>
          </a:ln>
        </p:spPr>
        <p:txBody>
          <a:bodyPr wrap="square" anchor="t" lIns="43200" rIns="43200" tIns="25200" bIns="25200">
            <a:spAutoFit/>
          </a:bodyPr>
          <a:lstStyle/>
          <a:p>
            <a:pPr>
              <a:defRPr sz="1000" b="1">
                <a:solidFill>
                  <a:srgbClr val="FFFFFF"/>
                </a:solidFill>
                <a:latin typeface="Calibri"/>
              </a:defRPr>
            </a:pPr>
            <a:r>
              <a:t>Low</a:t>
            </a:r>
          </a:p>
          <a:p>
            <a:pPr>
              <a:defRPr sz="1000" b="1">
                <a:solidFill>
                  <a:srgbClr val="FFFFFF"/>
                </a:solidFill>
                <a:latin typeface="Calibri"/>
              </a:defRPr>
            </a:pPr>
            <a:r>
              <a:t>Limited exposure. Fix normally.</a:t>
            </a:r>
          </a:p>
        </p:txBody>
      </p:sp>
      <p:sp>
        <p:nvSpPr>
          <p:cNvPr id="16" name="TextBox 15"/>
          <p:cNvSpPr txBox="1"/>
          <p:nvPr/>
        </p:nvSpPr>
        <p:spPr>
          <a:xfrm>
            <a:off x="504000" y="4068000"/>
            <a:ext cx="3240000" cy="324000"/>
          </a:xfrm>
          <a:prstGeom prst="rect">
            <a:avLst/>
          </a:prstGeom>
          <a:noFill/>
          <a:ln>
            <a:noFill/>
          </a:ln>
        </p:spPr>
        <p:txBody>
          <a:bodyPr wrap="square" anchor="t" lIns="43200" rIns="43200" tIns="25200" bIns="25200">
            <a:spAutoFit/>
          </a:bodyPr>
          <a:lstStyle/>
          <a:p>
            <a:pPr>
              <a:defRPr sz="1400" b="1">
                <a:solidFill>
                  <a:srgbClr val="2D3FD3"/>
                </a:solidFill>
                <a:latin typeface="Calibri"/>
              </a:defRPr>
            </a:pPr>
            <a:r>
              <a:t>Rating bands</a:t>
            </a:r>
          </a:p>
        </p:txBody>
      </p:sp>
      <p:sp>
        <p:nvSpPr>
          <p:cNvPr id="17" name="Rating band legend"/>
          <p:cNvSpPr/>
          <p:nvPr/>
        </p:nvSpPr>
        <p:spPr>
          <a:xfrm>
            <a:off x="504000" y="4536000"/>
            <a:ext cx="2664000" cy="504000"/>
          </a:xfrm>
          <a:prstGeom prst="rect">
            <a:avLst/>
          </a:prstGeom>
          <a:solidFill>
            <a:srgbClr val="CDD2DE"/>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76000" y="4644000"/>
            <a:ext cx="2520000" cy="252000"/>
          </a:xfrm>
          <a:prstGeom prst="rect">
            <a:avLst/>
          </a:prstGeom>
          <a:noFill/>
          <a:ln>
            <a:noFill/>
          </a:ln>
        </p:spPr>
        <p:txBody>
          <a:bodyPr wrap="square" anchor="t" lIns="43200" rIns="43200" tIns="25200" bIns="25200">
            <a:spAutoFit/>
          </a:bodyPr>
          <a:lstStyle/>
          <a:p>
            <a:pPr algn="ctr">
              <a:defRPr sz="1000" b="1">
                <a:solidFill>
                  <a:srgbClr val="0B0E26"/>
                </a:solidFill>
                <a:latin typeface="Calibri"/>
              </a:defRPr>
            </a:pPr>
            <a:r>
              <a:t>Non-Compliant</a:t>
            </a:r>
          </a:p>
        </p:txBody>
      </p:sp>
      <p:sp>
        <p:nvSpPr>
          <p:cNvPr id="19" name="Rating band legend"/>
          <p:cNvSpPr/>
          <p:nvPr/>
        </p:nvSpPr>
        <p:spPr>
          <a:xfrm>
            <a:off x="3276000" y="4536000"/>
            <a:ext cx="2664000" cy="504000"/>
          </a:xfrm>
          <a:prstGeom prst="rect">
            <a:avLst/>
          </a:prstGeom>
          <a:solidFill>
            <a:srgbClr val="DCE0E9"/>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48000" y="4644000"/>
            <a:ext cx="2520000" cy="252000"/>
          </a:xfrm>
          <a:prstGeom prst="rect">
            <a:avLst/>
          </a:prstGeom>
          <a:noFill/>
          <a:ln>
            <a:noFill/>
          </a:ln>
        </p:spPr>
        <p:txBody>
          <a:bodyPr wrap="square" anchor="t" lIns="43200" rIns="43200" tIns="25200" bIns="25200">
            <a:spAutoFit/>
          </a:bodyPr>
          <a:lstStyle/>
          <a:p>
            <a:pPr algn="ctr">
              <a:defRPr sz="1000" b="1">
                <a:solidFill>
                  <a:srgbClr val="0B0E26"/>
                </a:solidFill>
                <a:latin typeface="Calibri"/>
              </a:defRPr>
            </a:pPr>
            <a:r>
              <a:t>Needs Significant Improvement</a:t>
            </a:r>
          </a:p>
        </p:txBody>
      </p:sp>
      <p:sp>
        <p:nvSpPr>
          <p:cNvPr id="21" name="Rating band legend"/>
          <p:cNvSpPr/>
          <p:nvPr/>
        </p:nvSpPr>
        <p:spPr>
          <a:xfrm>
            <a:off x="6048000" y="4536000"/>
            <a:ext cx="2664000" cy="504000"/>
          </a:xfrm>
          <a:prstGeom prst="rect">
            <a:avLst/>
          </a:prstGeom>
          <a:solidFill>
            <a:srgbClr val="E9ECF2"/>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20000" y="4644000"/>
            <a:ext cx="2520000" cy="252000"/>
          </a:xfrm>
          <a:prstGeom prst="rect">
            <a:avLst/>
          </a:prstGeom>
          <a:noFill/>
          <a:ln>
            <a:noFill/>
          </a:ln>
        </p:spPr>
        <p:txBody>
          <a:bodyPr wrap="square" anchor="t" lIns="43200" rIns="43200" tIns="25200" bIns="25200">
            <a:spAutoFit/>
          </a:bodyPr>
          <a:lstStyle/>
          <a:p>
            <a:pPr algn="ctr">
              <a:defRPr sz="1000" b="1">
                <a:solidFill>
                  <a:srgbClr val="0B0E26"/>
                </a:solidFill>
                <a:latin typeface="Calibri"/>
              </a:defRPr>
            </a:pPr>
            <a:r>
              <a:t>Partially Compliant</a:t>
            </a:r>
          </a:p>
        </p:txBody>
      </p:sp>
      <p:sp>
        <p:nvSpPr>
          <p:cNvPr id="23" name="Rating band legend"/>
          <p:cNvSpPr/>
          <p:nvPr/>
        </p:nvSpPr>
        <p:spPr>
          <a:xfrm>
            <a:off x="8820000" y="4536000"/>
            <a:ext cx="2664000" cy="504000"/>
          </a:xfrm>
          <a:prstGeom prst="rect">
            <a:avLst/>
          </a:prstGeom>
          <a:solidFill>
            <a:srgbClr val="F5F6F9"/>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92000" y="4644000"/>
            <a:ext cx="2520000" cy="252000"/>
          </a:xfrm>
          <a:prstGeom prst="rect">
            <a:avLst/>
          </a:prstGeom>
          <a:noFill/>
          <a:ln>
            <a:noFill/>
          </a:ln>
        </p:spPr>
        <p:txBody>
          <a:bodyPr wrap="square" anchor="t" lIns="43200" rIns="43200" tIns="25200" bIns="25200">
            <a:spAutoFit/>
          </a:bodyPr>
          <a:lstStyle/>
          <a:p>
            <a:pPr algn="ctr">
              <a:defRPr sz="1000" b="1">
                <a:solidFill>
                  <a:srgbClr val="0B0E26"/>
                </a:solidFill>
                <a:latin typeface="Calibri"/>
              </a:defRPr>
            </a:pPr>
            <a:r>
              <a:t>Compliant</a:t>
            </a:r>
          </a:p>
        </p:txBody>
      </p:sp>
      <p:sp>
        <p:nvSpPr>
          <p:cNvPr id="25" name="TextBox 24"/>
          <p:cNvSpPr txBox="1"/>
          <p:nvPr/>
        </p:nvSpPr>
        <p:spPr>
          <a:xfrm>
            <a:off x="504000" y="5400000"/>
            <a:ext cx="11160000" cy="612000"/>
          </a:xfrm>
          <a:prstGeom prst="rect">
            <a:avLst/>
          </a:prstGeom>
          <a:solidFill>
            <a:srgbClr val="F1F3F8"/>
          </a:solidFill>
          <a:ln>
            <a:noFill/>
          </a:ln>
        </p:spPr>
        <p:txBody>
          <a:bodyPr wrap="square" anchor="t" lIns="43200" rIns="43200" tIns="25200" bIns="25200">
            <a:spAutoFit/>
          </a:bodyPr>
          <a:lstStyle/>
          <a:p>
            <a:pPr>
              <a:defRPr sz="1200" b="0">
                <a:solidFill>
                  <a:srgbClr val="3A4060"/>
                </a:solidFill>
                <a:latin typeface="Calibri"/>
              </a:defRPr>
            </a:pPr>
            <a:r>
              <a:t>Scores are deterministic and never combined across frameworks. Priority, effort and benefit describe remediation choices, not likelihood.</a:t>
            </a:r>
          </a:p>
        </p:txBody>
      </p:sp>
      <p:sp>
        <p:nvSpPr>
          <p:cNvPr id="2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2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3 of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We assessed 120 requirements</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Scope, the evidence we used and how every outcome was approved. 120 requirements across 1 framework(s).</a:t>
            </a:r>
          </a:p>
        </p:txBody>
      </p:sp>
      <p:graphicFrame>
        <p:nvGraphicFramePr>
          <p:cNvPr id="6" name="Native evidence table"/>
          <p:cNvGraphicFramePr>
            <a:graphicFrameLocks noGrp="1"/>
          </p:cNvGraphicFramePr>
          <p:nvPr/>
        </p:nvGraphicFramePr>
        <p:xfrm>
          <a:off x="504000" y="1728000"/>
          <a:ext cx="5580000" cy="1512000"/>
        </p:xfrm>
        <a:graphic>
          <a:graphicData uri="http://schemas.openxmlformats.org/drawingml/2006/table">
            <a:tbl>
              <a:tblPr firstRow="1" bandRow="1">
                <a:tableStyleId>{5C22544A-7EE6-4342-B048-85BDC9FD1C3A}</a:tableStyleId>
              </a:tblPr>
              <a:tblGrid>
                <a:gridCol w="1800000"/>
                <a:gridCol w="900000"/>
                <a:gridCol w="1980000"/>
                <a:gridCol w="900000"/>
              </a:tblGrid>
              <a:tr h="756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Version</a:t>
                      </a:r>
                    </a:p>
                  </a:txBody>
                  <a:tcPr marL="43200" marR="43200" marT="21600" marB="21600" anchor="ctr">
                    <a:solidFill>
                      <a:srgbClr val="161A5C"/>
                    </a:solidFill>
                  </a:tcPr>
                </a:tc>
                <a:tc>
                  <a:txBody>
                    <a:bodyPr/>
                    <a:lstStyle/>
                    <a:p>
                      <a:pPr>
                        <a:defRPr sz="900" b="1">
                          <a:solidFill>
                            <a:srgbClr val="FFFFFF"/>
                          </a:solidFill>
                          <a:latin typeface="Calibri"/>
                        </a:defRPr>
                      </a:pPr>
                      <a:r>
                        <a:t>Scope</a:t>
                      </a:r>
                    </a:p>
                  </a:txBody>
                  <a:tcPr marL="43200" marR="43200" marT="21600" marB="21600" anchor="ctr">
                    <a:solidFill>
                      <a:srgbClr val="161A5C"/>
                    </a:solidFill>
                  </a:tcPr>
                </a:tc>
                <a:tc>
                  <a:txBody>
                    <a:bodyPr/>
                    <a:lstStyle/>
                    <a:p>
                      <a:pPr>
                        <a:defRPr sz="900" b="1">
                          <a:solidFill>
                            <a:srgbClr val="FFFFFF"/>
                          </a:solidFill>
                          <a:latin typeface="Calibri"/>
                        </a:defRPr>
                      </a:pPr>
                      <a:r>
                        <a:t>Requirements</a:t>
                      </a:r>
                    </a:p>
                  </a:txBody>
                  <a:tcPr marL="43200" marR="43200" marT="21600" marB="21600" anchor="ctr">
                    <a:solidFill>
                      <a:srgbClr val="161A5C"/>
                    </a:solidFill>
                  </a:tcPr>
                </a:tc>
              </a:tr>
              <a:tr h="756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2022</a:t>
                      </a:r>
                    </a:p>
                  </a:txBody>
                  <a:tcPr marL="43200" marR="43200" marT="21600" marB="21600" anchor="ctr">
                    <a:solidFill>
                      <a:srgbClr val="FFFFFF"/>
                    </a:solidFill>
                  </a:tcPr>
                </a:tc>
                <a:tc>
                  <a:txBody>
                    <a:bodyPr/>
                    <a:lstStyle/>
                    <a:p>
                      <a:pPr>
                        <a:defRPr sz="900" b="0">
                          <a:solidFill>
                            <a:srgbClr val="0B0E26"/>
                          </a:solidFill>
                          <a:latin typeface="Calibri"/>
                        </a:defRPr>
                      </a:pPr>
                      <a:r>
                        <a:t>ISO 27001: 79 requirements in scope (Physical Controls excluded: single cloud-hosted office)</a:t>
                      </a:r>
                    </a:p>
                  </a:txBody>
                  <a:tcPr marL="43200" marR="43200" marT="21600" marB="21600" anchor="ctr">
                    <a:solidFill>
                      <a:srgbClr val="FFFFFF"/>
                    </a:solidFill>
                  </a:tcPr>
                </a:tc>
                <a:tc>
                  <a:txBody>
                    <a:bodyPr/>
                    <a:lstStyle/>
                    <a:p>
                      <a:pPr>
                        <a:defRPr sz="900" b="0">
                          <a:solidFill>
                            <a:srgbClr val="0B0E26"/>
                          </a:solidFill>
                          <a:latin typeface="Calibri"/>
                        </a:defRPr>
                      </a:pPr>
                      <a:r>
                        <a:t>79</a:t>
                      </a:r>
                    </a:p>
                  </a:txBody>
                  <a:tcPr marL="43200" marR="43200" marT="21600" marB="21600" anchor="ctr">
                    <a:solidFill>
                      <a:srgbClr val="FFFFFF"/>
                    </a:solidFill>
                  </a:tcPr>
                </a:tc>
              </a:tr>
            </a:tbl>
          </a:graphicData>
        </a:graphic>
      </p:graphicFrame>
      <p:sp>
        <p:nvSpPr>
          <p:cNvPr id="7" name="TextBox 6"/>
          <p:cNvSpPr txBox="1"/>
          <p:nvPr/>
        </p:nvSpPr>
        <p:spPr>
          <a:xfrm>
            <a:off x="6624000" y="1728000"/>
            <a:ext cx="4680000" cy="324000"/>
          </a:xfrm>
          <a:prstGeom prst="rect">
            <a:avLst/>
          </a:prstGeom>
          <a:noFill/>
          <a:ln>
            <a:noFill/>
          </a:ln>
        </p:spPr>
        <p:txBody>
          <a:bodyPr wrap="square" anchor="t" lIns="43200" rIns="43200" tIns="25200" bIns="25200">
            <a:spAutoFit/>
          </a:bodyPr>
          <a:lstStyle/>
          <a:p>
            <a:pPr>
              <a:defRPr sz="1400" b="1">
                <a:solidFill>
                  <a:srgbClr val="2D3FD3"/>
                </a:solidFill>
                <a:latin typeface="Calibri"/>
              </a:defRPr>
            </a:pPr>
            <a:r>
              <a:t>Approach</a:t>
            </a:r>
          </a:p>
        </p:txBody>
      </p:sp>
      <p:sp>
        <p:nvSpPr>
          <p:cNvPr id="8" name="Approach step"/>
          <p:cNvSpPr/>
          <p:nvPr/>
        </p:nvSpPr>
        <p:spPr>
          <a:xfrm>
            <a:off x="6624000" y="2232000"/>
            <a:ext cx="432000" cy="432000"/>
          </a:xfrm>
          <a:prstGeom prst="roundRect">
            <a:avLst/>
          </a:prstGeom>
          <a:solidFill>
            <a:srgbClr val="2D3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60000" y="2304000"/>
            <a:ext cx="360000" cy="252000"/>
          </a:xfrm>
          <a:prstGeom prst="rect">
            <a:avLst/>
          </a:prstGeom>
          <a:noFill/>
          <a:ln>
            <a:noFill/>
          </a:ln>
        </p:spPr>
        <p:txBody>
          <a:bodyPr wrap="square" anchor="t" lIns="43200" rIns="43200" tIns="25200" bIns="25200">
            <a:spAutoFit/>
          </a:bodyPr>
          <a:lstStyle/>
          <a:p>
            <a:pPr algn="ctr">
              <a:defRPr sz="1100" b="1">
                <a:solidFill>
                  <a:srgbClr val="FFFFFF"/>
                </a:solidFill>
                <a:latin typeface="Calibri"/>
              </a:defRPr>
            </a:pPr>
            <a:r>
              <a:t>1</a:t>
            </a:r>
          </a:p>
        </p:txBody>
      </p:sp>
      <p:sp>
        <p:nvSpPr>
          <p:cNvPr id="10" name="TextBox 9"/>
          <p:cNvSpPr txBox="1"/>
          <p:nvPr/>
        </p:nvSpPr>
        <p:spPr>
          <a:xfrm>
            <a:off x="7236000" y="2232000"/>
            <a:ext cx="3960000" cy="864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Collect evidence</a:t>
            </a:r>
          </a:p>
          <a:p>
            <a:pPr>
              <a:defRPr sz="1100" b="0">
                <a:solidFill>
                  <a:srgbClr val="3A4060"/>
                </a:solidFill>
                <a:latin typeface="Calibri"/>
              </a:defRPr>
            </a:pPr>
            <a:r>
              <a:t>Documents and notes up to the cut-off.</a:t>
            </a:r>
          </a:p>
        </p:txBody>
      </p:sp>
      <p:sp>
        <p:nvSpPr>
          <p:cNvPr id="11" name="Approach step"/>
          <p:cNvSpPr/>
          <p:nvPr/>
        </p:nvSpPr>
        <p:spPr>
          <a:xfrm>
            <a:off x="6624000" y="3384000"/>
            <a:ext cx="432000" cy="432000"/>
          </a:xfrm>
          <a:prstGeom prst="roundRect">
            <a:avLst/>
          </a:prstGeom>
          <a:solidFill>
            <a:srgbClr val="2D3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60000" y="3456000"/>
            <a:ext cx="360000" cy="252000"/>
          </a:xfrm>
          <a:prstGeom prst="rect">
            <a:avLst/>
          </a:prstGeom>
          <a:noFill/>
          <a:ln>
            <a:noFill/>
          </a:ln>
        </p:spPr>
        <p:txBody>
          <a:bodyPr wrap="square" anchor="t" lIns="43200" rIns="43200" tIns="25200" bIns="25200">
            <a:spAutoFit/>
          </a:bodyPr>
          <a:lstStyle/>
          <a:p>
            <a:pPr algn="ctr">
              <a:defRPr sz="1100" b="1">
                <a:solidFill>
                  <a:srgbClr val="FFFFFF"/>
                </a:solidFill>
                <a:latin typeface="Calibri"/>
              </a:defRPr>
            </a:pPr>
            <a:r>
              <a:t>2</a:t>
            </a:r>
          </a:p>
        </p:txBody>
      </p:sp>
      <p:sp>
        <p:nvSpPr>
          <p:cNvPr id="13" name="TextBox 12"/>
          <p:cNvSpPr txBox="1"/>
          <p:nvPr/>
        </p:nvSpPr>
        <p:spPr>
          <a:xfrm>
            <a:off x="7236000" y="3384000"/>
            <a:ext cx="3960000" cy="864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Assess and approve</a:t>
            </a:r>
          </a:p>
          <a:p>
            <a:pPr>
              <a:defRPr sz="1100" b="0">
                <a:solidFill>
                  <a:srgbClr val="3A4060"/>
                </a:solidFill>
                <a:latin typeface="Calibri"/>
              </a:defRPr>
            </a:pPr>
            <a:r>
              <a:t>Each outcome is reviewed against its evidence.</a:t>
            </a:r>
          </a:p>
        </p:txBody>
      </p:sp>
      <p:sp>
        <p:nvSpPr>
          <p:cNvPr id="14" name="Approach step"/>
          <p:cNvSpPr/>
          <p:nvPr/>
        </p:nvSpPr>
        <p:spPr>
          <a:xfrm>
            <a:off x="6624000" y="4536000"/>
            <a:ext cx="432000" cy="432000"/>
          </a:xfrm>
          <a:prstGeom prst="roundRect">
            <a:avLst/>
          </a:prstGeom>
          <a:solidFill>
            <a:srgbClr val="2D3F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60000" y="4608000"/>
            <a:ext cx="360000" cy="252000"/>
          </a:xfrm>
          <a:prstGeom prst="rect">
            <a:avLst/>
          </a:prstGeom>
          <a:noFill/>
          <a:ln>
            <a:noFill/>
          </a:ln>
        </p:spPr>
        <p:txBody>
          <a:bodyPr wrap="square" anchor="t" lIns="43200" rIns="43200" tIns="25200" bIns="25200">
            <a:spAutoFit/>
          </a:bodyPr>
          <a:lstStyle/>
          <a:p>
            <a:pPr algn="ctr">
              <a:defRPr sz="1100" b="1">
                <a:solidFill>
                  <a:srgbClr val="FFFFFF"/>
                </a:solidFill>
                <a:latin typeface="Calibri"/>
              </a:defRPr>
            </a:pPr>
            <a:r>
              <a:t>3</a:t>
            </a:r>
          </a:p>
        </p:txBody>
      </p:sp>
      <p:sp>
        <p:nvSpPr>
          <p:cNvPr id="16" name="TextBox 15"/>
          <p:cNvSpPr txBox="1"/>
          <p:nvPr/>
        </p:nvSpPr>
        <p:spPr>
          <a:xfrm>
            <a:off x="7236000" y="4536000"/>
            <a:ext cx="3960000" cy="864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Score and report</a:t>
            </a:r>
          </a:p>
          <a:p>
            <a:pPr>
              <a:defRPr sz="1100" b="0">
                <a:solidFill>
                  <a:srgbClr val="3A4060"/>
                </a:solidFill>
                <a:latin typeface="Calibri"/>
              </a:defRPr>
            </a:pPr>
            <a:r>
              <a:t>Scores come from approved outcomes.</a:t>
            </a:r>
          </a:p>
        </p:txBody>
      </p:sp>
      <p:sp>
        <p:nvSpPr>
          <p:cNvPr id="1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4 of 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22 of 59 gaps are critical or high, and no framework is yet rated Compliant</a:t>
            </a:r>
          </a:p>
        </p:txBody>
      </p:sp>
      <p:sp>
        <p:nvSpPr>
          <p:cNvPr id="5" name="TextBox 4"/>
          <p:cNvSpPr txBox="1"/>
          <p:nvPr/>
        </p:nvSpPr>
        <p:spPr>
          <a:xfrm>
            <a:off x="504000" y="1224000"/>
            <a:ext cx="11160000" cy="432000"/>
          </a:xfrm>
          <a:prstGeom prst="rect">
            <a:avLst/>
          </a:prstGeom>
          <a:noFill/>
          <a:ln>
            <a:noFill/>
          </a:ln>
        </p:spPr>
        <p:txBody>
          <a:bodyPr wrap="square" anchor="t" lIns="43200" rIns="43200" tIns="25200" bIns="25200">
            <a:spAutoFit/>
          </a:bodyPr>
          <a:lstStyle/>
          <a:p>
            <a:pPr>
              <a:defRPr sz="1200" b="1">
                <a:solidFill>
                  <a:srgbClr val="3A4060"/>
                </a:solidFill>
                <a:latin typeface="Calibri"/>
              </a:defRPr>
            </a:pPr>
            <a:r>
              <a:t>120 requirements · 59 approved gaps · Scores are per framework and are never combined; the totals above are counts.</a:t>
            </a:r>
          </a:p>
        </p:txBody>
      </p:sp>
      <p:graphicFrame>
        <p:nvGraphicFramePr>
          <p:cNvPr id="6" name="Native evidence table"/>
          <p:cNvGraphicFramePr>
            <a:graphicFrameLocks noGrp="1"/>
          </p:cNvGraphicFramePr>
          <p:nvPr/>
        </p:nvGraphicFramePr>
        <p:xfrm>
          <a:off x="504000" y="1800000"/>
          <a:ext cx="5760000" cy="1872000"/>
        </p:xfrm>
        <a:graphic>
          <a:graphicData uri="http://schemas.openxmlformats.org/drawingml/2006/table">
            <a:tbl>
              <a:tblPr firstRow="1" bandRow="1">
                <a:tableStyleId>{5C22544A-7EE6-4342-B048-85BDC9FD1C3A}</a:tableStyleId>
              </a:tblPr>
              <a:tblGrid>
                <a:gridCol w="2160000"/>
                <a:gridCol w="900000"/>
                <a:gridCol w="1620000"/>
                <a:gridCol w="1080000"/>
              </a:tblGrid>
              <a:tr h="936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Score</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c>
                  <a:txBody>
                    <a:bodyPr/>
                    <a:lstStyle/>
                    <a:p>
                      <a:pPr>
                        <a:defRPr sz="900" b="1">
                          <a:solidFill>
                            <a:srgbClr val="FFFFFF"/>
                          </a:solidFill>
                          <a:latin typeface="Calibri"/>
                        </a:defRPr>
                      </a:pPr>
                      <a:r>
                        <a:t>Change</a:t>
                      </a:r>
                    </a:p>
                  </a:txBody>
                  <a:tcPr marL="43200" marR="43200" marT="21600" marB="21600" anchor="ctr">
                    <a:solidFill>
                      <a:srgbClr val="161A5C"/>
                    </a:solidFill>
                  </a:tcPr>
                </a:tc>
              </a:tr>
              <a:tr h="936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68.6%</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First report</a:t>
                      </a:r>
                    </a:p>
                  </a:txBody>
                  <a:tcPr marL="43200" marR="43200" marT="21600" marB="21600" anchor="ctr">
                    <a:solidFill>
                      <a:srgbClr val="FFFFFF"/>
                    </a:solidFill>
                  </a:tcPr>
                </a:tc>
              </a:tr>
            </a:tbl>
          </a:graphicData>
        </a:graphic>
      </p:graphicFrame>
      <p:sp>
        <p:nvSpPr>
          <p:cNvPr id="7" name="TextBox 6"/>
          <p:cNvSpPr txBox="1"/>
          <p:nvPr/>
        </p:nvSpPr>
        <p:spPr>
          <a:xfrm>
            <a:off x="6624000" y="1800000"/>
            <a:ext cx="5040000" cy="1728000"/>
          </a:xfrm>
          <a:prstGeom prst="rect">
            <a:avLst/>
          </a:prstGeom>
          <a:solidFill>
            <a:srgbClr val="F1F3F8"/>
          </a:solidFill>
          <a:ln w="7620">
            <a:solidFill>
              <a:srgbClr val="12B3A6"/>
            </a:solidFill>
          </a:ln>
        </p:spPr>
        <p:txBody>
          <a:bodyPr wrap="square" anchor="t" lIns="43200" rIns="43200" tIns="25200" bIns="25200">
            <a:spAutoFit/>
          </a:bodyPr>
          <a:lstStyle/>
          <a:p>
            <a:pPr>
              <a:defRPr sz="1100" b="0">
                <a:solidFill>
                  <a:srgbClr val="3A4060"/>
                </a:solidFill>
                <a:latin typeface="Calibri"/>
              </a:defRPr>
            </a:pPr>
            <a:r>
              <a:t>In brief</a:t>
            </a:r>
          </a:p>
          <a:p>
            <a:pPr>
              <a:defRPr sz="1100" b="0">
                <a:solidFill>
                  <a:srgbClr val="3A4060"/>
                </a:solidFill>
                <a:latin typeface="Calibri"/>
              </a:defRPr>
            </a:pPr>
            <a:r>
              <a:t>The organisation has a sound policy base, but several controls that protect customer data exist on paper only and are not operated.</a:t>
            </a:r>
          </a:p>
          <a:p>
            <a:pPr>
              <a:defRPr sz="1100" b="0">
                <a:solidFill>
                  <a:srgbClr val="3A4060"/>
                </a:solidFill>
                <a:latin typeface="Calibri"/>
              </a:defRPr>
            </a:pPr>
            <a:r>
              <a:t>The most serious exposures are consent that is unlikely to be valid, no procedure for notifying the regulator of a breach, and access rights that are never reviewed.</a:t>
            </a:r>
          </a:p>
          <a:p>
            <a:pPr>
              <a:defRPr sz="1100" b="0">
                <a:solidFill>
                  <a:srgbClr val="3A4060"/>
                </a:solidFill>
                <a:latin typeface="Calibri"/>
              </a:defRPr>
            </a:pPr>
            <a:r>
              <a:t>Most gaps are process gaps with clear owners, and closing access control and supplier security once addresses findings under both frameworks.</a:t>
            </a:r>
          </a:p>
        </p:txBody>
      </p:sp>
      <p:graphicFrame>
        <p:nvGraphicFramePr>
          <p:cNvPr id="8" name="Native evidence table"/>
          <p:cNvGraphicFramePr>
            <a:graphicFrameLocks noGrp="1"/>
          </p:cNvGraphicFramePr>
          <p:nvPr/>
        </p:nvGraphicFramePr>
        <p:xfrm>
          <a:off x="504000" y="3852000"/>
          <a:ext cx="6840000" cy="1080000"/>
        </p:xfrm>
        <a:graphic>
          <a:graphicData uri="http://schemas.openxmlformats.org/drawingml/2006/table">
            <a:tbl>
              <a:tblPr firstRow="1" bandRow="1">
                <a:tableStyleId>{5C22544A-7EE6-4342-B048-85BDC9FD1C3A}</a:tableStyleId>
              </a:tblPr>
              <a:tblGrid>
                <a:gridCol w="720000"/>
                <a:gridCol w="3420000"/>
                <a:gridCol w="1620000"/>
                <a:gridCol w="1080000"/>
              </a:tblGrid>
              <a:tr h="270000">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Observation</a:t>
                      </a:r>
                    </a:p>
                  </a:txBody>
                  <a:tcPr marL="43200" marR="43200" marT="21600" marB="21600" anchor="ctr">
                    <a:solidFill>
                      <a:srgbClr val="161A5C"/>
                    </a:solidFill>
                  </a:tcPr>
                </a:tc>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r>
              <a:tr h="270000">
                <a:tc>
                  <a:txBody>
                    <a:bodyPr/>
                    <a:lstStyle/>
                    <a:p>
                      <a:pPr>
                        <a:defRPr sz="900" b="0">
                          <a:solidFill>
                            <a:srgbClr val="0B0E26"/>
                          </a:solidFill>
                          <a:latin typeface="Calibri"/>
                        </a:defRPr>
                      </a:pPr>
                      <a:r>
                        <a:t>R-03</a:t>
                      </a:r>
                    </a:p>
                  </a:txBody>
                  <a:tcPr marL="43200" marR="43200" marT="21600" marB="21600" anchor="ctr">
                    <a:solidFill>
                      <a:srgbClr val="FFFFFF"/>
                    </a:solidFill>
                  </a:tcPr>
                </a:tc>
                <a:tc>
                  <a:txBody>
                    <a:bodyPr/>
                    <a:lstStyle/>
                    <a:p>
                      <a:pPr>
                        <a:defRPr sz="900" b="0">
                          <a:solidFill>
                            <a:srgbClr val="0B0E26"/>
                          </a:solidFill>
                          <a:latin typeface="Calibri"/>
                        </a:defRPr>
                      </a:pPr>
                      <a:r>
                        <a:t>Access rights are never reviewed</a:t>
                      </a:r>
                    </a:p>
                  </a:txBody>
                  <a:tcPr marL="43200" marR="43200" marT="21600" marB="21600" anchor="ctr">
                    <a:solidFill>
                      <a:srgbClr val="FFFFFF"/>
                    </a:solidFill>
                  </a:tcPr>
                </a:tc>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r>
              <a:tr h="270000">
                <a:tc>
                  <a:txBody>
                    <a:bodyPr/>
                    <a:lstStyle/>
                    <a:p>
                      <a:pPr>
                        <a:defRPr sz="900" b="0">
                          <a:solidFill>
                            <a:srgbClr val="0B0E26"/>
                          </a:solidFill>
                          <a:latin typeface="Calibri"/>
                        </a:defRPr>
                      </a:pPr>
                      <a:r>
                        <a:t>R-04</a:t>
                      </a:r>
                    </a:p>
                  </a:txBody>
                  <a:tcPr marL="43200" marR="43200" marT="21600" marB="21600" anchor="ctr">
                    <a:solidFill>
                      <a:srgbClr val="F1F3F8"/>
                    </a:solidFill>
                  </a:tcPr>
                </a:tc>
                <a:tc>
                  <a:txBody>
                    <a:bodyPr/>
                    <a:lstStyle/>
                    <a:p>
                      <a:pPr>
                        <a:defRPr sz="900" b="0">
                          <a:solidFill>
                            <a:srgbClr val="0B0E26"/>
                          </a:solidFill>
                          <a:latin typeface="Calibri"/>
                        </a:defRPr>
                      </a:pPr>
                      <a:r>
                        <a:t>No defined cadence for patching technical vulnerabilities</a:t>
                      </a:r>
                    </a:p>
                  </a:txBody>
                  <a:tcPr marL="43200" marR="43200" marT="21600" marB="21600" anchor="ctr">
                    <a:solidFill>
                      <a:srgbClr val="F1F3F8"/>
                    </a:solidFill>
                  </a:tcPr>
                </a:tc>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r>
              <a:tr h="270000">
                <a:tc>
                  <a:txBody>
                    <a:bodyPr/>
                    <a:lstStyle/>
                    <a:p>
                      <a:pPr>
                        <a:defRPr sz="900" b="0">
                          <a:solidFill>
                            <a:srgbClr val="0B0E26"/>
                          </a:solidFill>
                          <a:latin typeface="Calibri"/>
                        </a:defRPr>
                      </a:pPr>
                      <a:r>
                        <a:t>R-07</a:t>
                      </a:r>
                    </a:p>
                  </a:txBody>
                  <a:tcPr marL="43200" marR="43200" marT="21600" marB="21600" anchor="ctr">
                    <a:solidFill>
                      <a:srgbClr val="FFFFFF"/>
                    </a:solidFill>
                  </a:tcPr>
                </a:tc>
                <a:tc>
                  <a:txBody>
                    <a:bodyPr/>
                    <a:lstStyle/>
                    <a:p>
                      <a:pPr>
                        <a:defRPr sz="900" b="0">
                          <a:solidFill>
                            <a:srgbClr val="0B0E26"/>
                          </a:solidFill>
                          <a:latin typeface="Calibri"/>
                        </a:defRPr>
                      </a:pPr>
                      <a:r>
                        <a:t>Supplier security is not assessed before onboarding</a:t>
                      </a:r>
                    </a:p>
                  </a:txBody>
                  <a:tcPr marL="43200" marR="43200" marT="21600" marB="21600" anchor="ctr">
                    <a:solidFill>
                      <a:srgbClr val="FFFFFF"/>
                    </a:solidFill>
                  </a:tcPr>
                </a:tc>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r>
            </a:tbl>
          </a:graphicData>
        </a:graphic>
      </p:graphicFrame>
      <p:sp>
        <p:nvSpPr>
          <p:cNvPr id="9" name="TextBox 8"/>
          <p:cNvSpPr txBox="1"/>
          <p:nvPr/>
        </p:nvSpPr>
        <p:spPr>
          <a:xfrm>
            <a:off x="7560000" y="3852000"/>
            <a:ext cx="4104000" cy="1368000"/>
          </a:xfrm>
          <a:prstGeom prst="rect">
            <a:avLst/>
          </a:prstGeom>
          <a:solidFill>
            <a:srgbClr val="161A5C"/>
          </a:solidFill>
          <a:ln>
            <a:noFill/>
          </a:ln>
        </p:spPr>
        <p:txBody>
          <a:bodyPr wrap="square" anchor="t" lIns="43200" rIns="43200" tIns="25200" bIns="25200">
            <a:spAutoFit/>
          </a:bodyPr>
          <a:lstStyle/>
          <a:p>
            <a:pPr>
              <a:defRPr sz="1100" b="0">
                <a:solidFill>
                  <a:srgbClr val="FFFFFF"/>
                </a:solidFill>
                <a:latin typeface="Calibri"/>
              </a:defRPr>
            </a:pPr>
            <a:r>
              <a:t>Board asks</a:t>
            </a:r>
          </a:p>
          <a:p>
            <a:pPr>
              <a:defRPr sz="1100" b="0">
                <a:solidFill>
                  <a:srgbClr val="FFFFFF"/>
                </a:solidFill>
                <a:latin typeface="Calibri"/>
              </a:defRPr>
            </a:pPr>
            <a:r>
              <a:t>1. Approve funding for a consent-management platform before the May 2027 DPDPA commencement.</a:t>
            </a:r>
          </a:p>
        </p:txBody>
      </p:sp>
      <p:sp>
        <p:nvSpPr>
          <p:cNvPr id="10"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2"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5 of 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33 of 66 concluded requirements are met; 59 have gaps to close</a:t>
            </a:r>
          </a:p>
        </p:txBody>
      </p:sp>
      <p:sp>
        <p:nvSpPr>
          <p:cNvPr id="5" name="Waffle ISO 27001"/>
          <p:cNvSpPr/>
          <p:nvPr/>
        </p:nvSpPr>
        <p:spPr>
          <a:xfrm>
            <a:off x="576000"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Waffle ISO 27001"/>
          <p:cNvSpPr/>
          <p:nvPr/>
        </p:nvSpPr>
        <p:spPr>
          <a:xfrm>
            <a:off x="576000"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affle ISO 27001"/>
          <p:cNvSpPr/>
          <p:nvPr/>
        </p:nvSpPr>
        <p:spPr>
          <a:xfrm>
            <a:off x="576000"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Waffle ISO 27001"/>
          <p:cNvSpPr/>
          <p:nvPr/>
        </p:nvSpPr>
        <p:spPr>
          <a:xfrm>
            <a:off x="576000" y="2757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affle ISO 27001"/>
          <p:cNvSpPr/>
          <p:nvPr/>
        </p:nvSpPr>
        <p:spPr>
          <a:xfrm>
            <a:off x="576000" y="2980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Waffle ISO 27001"/>
          <p:cNvSpPr/>
          <p:nvPr/>
        </p:nvSpPr>
        <p:spPr>
          <a:xfrm>
            <a:off x="576000" y="3204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affle ISO 27001"/>
          <p:cNvSpPr/>
          <p:nvPr/>
        </p:nvSpPr>
        <p:spPr>
          <a:xfrm>
            <a:off x="576000" y="3427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Waffle ISO 27001"/>
          <p:cNvSpPr/>
          <p:nvPr/>
        </p:nvSpPr>
        <p:spPr>
          <a:xfrm>
            <a:off x="576000" y="3650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affle ISO 27001"/>
          <p:cNvSpPr/>
          <p:nvPr/>
        </p:nvSpPr>
        <p:spPr>
          <a:xfrm>
            <a:off x="576000" y="3873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Waffle ISO 27001"/>
          <p:cNvSpPr/>
          <p:nvPr/>
        </p:nvSpPr>
        <p:spPr>
          <a:xfrm>
            <a:off x="576000" y="4096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affle ISO 27001"/>
          <p:cNvSpPr/>
          <p:nvPr/>
        </p:nvSpPr>
        <p:spPr>
          <a:xfrm>
            <a:off x="825984"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Waffle ISO 27001"/>
          <p:cNvSpPr/>
          <p:nvPr/>
        </p:nvSpPr>
        <p:spPr>
          <a:xfrm>
            <a:off x="825984"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Waffle ISO 27001"/>
          <p:cNvSpPr/>
          <p:nvPr/>
        </p:nvSpPr>
        <p:spPr>
          <a:xfrm>
            <a:off x="825984"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Waffle ISO 27001"/>
          <p:cNvSpPr/>
          <p:nvPr/>
        </p:nvSpPr>
        <p:spPr>
          <a:xfrm>
            <a:off x="825984" y="2757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Waffle ISO 27001"/>
          <p:cNvSpPr/>
          <p:nvPr/>
        </p:nvSpPr>
        <p:spPr>
          <a:xfrm>
            <a:off x="825984" y="2980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Waffle ISO 27001"/>
          <p:cNvSpPr/>
          <p:nvPr/>
        </p:nvSpPr>
        <p:spPr>
          <a:xfrm>
            <a:off x="825984" y="3204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Waffle ISO 27001"/>
          <p:cNvSpPr/>
          <p:nvPr/>
        </p:nvSpPr>
        <p:spPr>
          <a:xfrm>
            <a:off x="825984" y="3427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Waffle ISO 27001"/>
          <p:cNvSpPr/>
          <p:nvPr/>
        </p:nvSpPr>
        <p:spPr>
          <a:xfrm>
            <a:off x="825984" y="3650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Waffle ISO 27001"/>
          <p:cNvSpPr/>
          <p:nvPr/>
        </p:nvSpPr>
        <p:spPr>
          <a:xfrm>
            <a:off x="825984" y="3873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Waffle ISO 27001"/>
          <p:cNvSpPr/>
          <p:nvPr/>
        </p:nvSpPr>
        <p:spPr>
          <a:xfrm>
            <a:off x="825984" y="4096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Waffle ISO 27001"/>
          <p:cNvSpPr/>
          <p:nvPr/>
        </p:nvSpPr>
        <p:spPr>
          <a:xfrm>
            <a:off x="1075968"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Waffle ISO 27001"/>
          <p:cNvSpPr/>
          <p:nvPr/>
        </p:nvSpPr>
        <p:spPr>
          <a:xfrm>
            <a:off x="1075968"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Waffle ISO 27001"/>
          <p:cNvSpPr/>
          <p:nvPr/>
        </p:nvSpPr>
        <p:spPr>
          <a:xfrm>
            <a:off x="1075968"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Waffle ISO 27001"/>
          <p:cNvSpPr/>
          <p:nvPr/>
        </p:nvSpPr>
        <p:spPr>
          <a:xfrm>
            <a:off x="1075968" y="2757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Waffle ISO 27001"/>
          <p:cNvSpPr/>
          <p:nvPr/>
        </p:nvSpPr>
        <p:spPr>
          <a:xfrm>
            <a:off x="1075968" y="2980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Waffle ISO 27001"/>
          <p:cNvSpPr/>
          <p:nvPr/>
        </p:nvSpPr>
        <p:spPr>
          <a:xfrm>
            <a:off x="1075968" y="3204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Waffle ISO 27001"/>
          <p:cNvSpPr/>
          <p:nvPr/>
        </p:nvSpPr>
        <p:spPr>
          <a:xfrm>
            <a:off x="1075968" y="3427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Waffle ISO 27001"/>
          <p:cNvSpPr/>
          <p:nvPr/>
        </p:nvSpPr>
        <p:spPr>
          <a:xfrm>
            <a:off x="1075968" y="3650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Waffle ISO 27001"/>
          <p:cNvSpPr/>
          <p:nvPr/>
        </p:nvSpPr>
        <p:spPr>
          <a:xfrm>
            <a:off x="1075968" y="38736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Waffle ISO 27001"/>
          <p:cNvSpPr/>
          <p:nvPr/>
        </p:nvSpPr>
        <p:spPr>
          <a:xfrm>
            <a:off x="1075968" y="40968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Waffle ISO 27001"/>
          <p:cNvSpPr/>
          <p:nvPr/>
        </p:nvSpPr>
        <p:spPr>
          <a:xfrm>
            <a:off x="1325952" y="20880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Waffle ISO 27001"/>
          <p:cNvSpPr/>
          <p:nvPr/>
        </p:nvSpPr>
        <p:spPr>
          <a:xfrm>
            <a:off x="1325952" y="23112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Waffle ISO 27001"/>
          <p:cNvSpPr/>
          <p:nvPr/>
        </p:nvSpPr>
        <p:spPr>
          <a:xfrm>
            <a:off x="1325952" y="2534400"/>
            <a:ext cx="223200" cy="201600"/>
          </a:xfrm>
          <a:prstGeom prst="roundRect">
            <a:avLst/>
          </a:prstGeom>
          <a:solidFill>
            <a:srgbClr val="0E8F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Waffle ISO 27001"/>
          <p:cNvSpPr/>
          <p:nvPr/>
        </p:nvSpPr>
        <p:spPr>
          <a:xfrm>
            <a:off x="1325952" y="2757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Waffle ISO 27001"/>
          <p:cNvSpPr/>
          <p:nvPr/>
        </p:nvSpPr>
        <p:spPr>
          <a:xfrm>
            <a:off x="1325952" y="2980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Waffle ISO 27001"/>
          <p:cNvSpPr/>
          <p:nvPr/>
        </p:nvSpPr>
        <p:spPr>
          <a:xfrm>
            <a:off x="1325952" y="3204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Waffle ISO 27001"/>
          <p:cNvSpPr/>
          <p:nvPr/>
        </p:nvSpPr>
        <p:spPr>
          <a:xfrm>
            <a:off x="1325952" y="3427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Waffle ISO 27001"/>
          <p:cNvSpPr/>
          <p:nvPr/>
        </p:nvSpPr>
        <p:spPr>
          <a:xfrm>
            <a:off x="1325952" y="3650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Waffle ISO 27001"/>
          <p:cNvSpPr/>
          <p:nvPr/>
        </p:nvSpPr>
        <p:spPr>
          <a:xfrm>
            <a:off x="1325952" y="3873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Waffle ISO 27001"/>
          <p:cNvSpPr/>
          <p:nvPr/>
        </p:nvSpPr>
        <p:spPr>
          <a:xfrm>
            <a:off x="1325952" y="4096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Waffle ISO 27001"/>
          <p:cNvSpPr/>
          <p:nvPr/>
        </p:nvSpPr>
        <p:spPr>
          <a:xfrm>
            <a:off x="1575936" y="2088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Waffle ISO 27001"/>
          <p:cNvSpPr/>
          <p:nvPr/>
        </p:nvSpPr>
        <p:spPr>
          <a:xfrm>
            <a:off x="1575936" y="2311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Waffle ISO 27001"/>
          <p:cNvSpPr/>
          <p:nvPr/>
        </p:nvSpPr>
        <p:spPr>
          <a:xfrm>
            <a:off x="1575936" y="2534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Waffle ISO 27001"/>
          <p:cNvSpPr/>
          <p:nvPr/>
        </p:nvSpPr>
        <p:spPr>
          <a:xfrm>
            <a:off x="1575936" y="2757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Waffle ISO 27001"/>
          <p:cNvSpPr/>
          <p:nvPr/>
        </p:nvSpPr>
        <p:spPr>
          <a:xfrm>
            <a:off x="1575936" y="2980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Waffle ISO 27001"/>
          <p:cNvSpPr/>
          <p:nvPr/>
        </p:nvSpPr>
        <p:spPr>
          <a:xfrm>
            <a:off x="1575936" y="3204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Waffle ISO 27001"/>
          <p:cNvSpPr/>
          <p:nvPr/>
        </p:nvSpPr>
        <p:spPr>
          <a:xfrm>
            <a:off x="1575936" y="3427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Waffle ISO 27001"/>
          <p:cNvSpPr/>
          <p:nvPr/>
        </p:nvSpPr>
        <p:spPr>
          <a:xfrm>
            <a:off x="1575936" y="3650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Waffle ISO 27001"/>
          <p:cNvSpPr/>
          <p:nvPr/>
        </p:nvSpPr>
        <p:spPr>
          <a:xfrm>
            <a:off x="1575936" y="3873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Waffle ISO 27001"/>
          <p:cNvSpPr/>
          <p:nvPr/>
        </p:nvSpPr>
        <p:spPr>
          <a:xfrm>
            <a:off x="1575936" y="4096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Waffle ISO 27001"/>
          <p:cNvSpPr/>
          <p:nvPr/>
        </p:nvSpPr>
        <p:spPr>
          <a:xfrm>
            <a:off x="1825920" y="2088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Waffle ISO 27001"/>
          <p:cNvSpPr/>
          <p:nvPr/>
        </p:nvSpPr>
        <p:spPr>
          <a:xfrm>
            <a:off x="1825920" y="2311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Waffle ISO 27001"/>
          <p:cNvSpPr/>
          <p:nvPr/>
        </p:nvSpPr>
        <p:spPr>
          <a:xfrm>
            <a:off x="1825920" y="2534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Waffle ISO 27001"/>
          <p:cNvSpPr/>
          <p:nvPr/>
        </p:nvSpPr>
        <p:spPr>
          <a:xfrm>
            <a:off x="1825920" y="2757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Waffle ISO 27001"/>
          <p:cNvSpPr/>
          <p:nvPr/>
        </p:nvSpPr>
        <p:spPr>
          <a:xfrm>
            <a:off x="1825920" y="2980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Waffle ISO 27001"/>
          <p:cNvSpPr/>
          <p:nvPr/>
        </p:nvSpPr>
        <p:spPr>
          <a:xfrm>
            <a:off x="1825920" y="32040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Waffle ISO 27001"/>
          <p:cNvSpPr/>
          <p:nvPr/>
        </p:nvSpPr>
        <p:spPr>
          <a:xfrm>
            <a:off x="1825920" y="34272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Waffle ISO 27001"/>
          <p:cNvSpPr/>
          <p:nvPr/>
        </p:nvSpPr>
        <p:spPr>
          <a:xfrm>
            <a:off x="1825920" y="36504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Waffle ISO 27001"/>
          <p:cNvSpPr/>
          <p:nvPr/>
        </p:nvSpPr>
        <p:spPr>
          <a:xfrm>
            <a:off x="1825920" y="38736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Waffle ISO 27001"/>
          <p:cNvSpPr/>
          <p:nvPr/>
        </p:nvSpPr>
        <p:spPr>
          <a:xfrm>
            <a:off x="1825920" y="4096800"/>
            <a:ext cx="223200" cy="201600"/>
          </a:xfrm>
          <a:prstGeom prst="roundRect">
            <a:avLst/>
          </a:prstGeom>
          <a:solidFill>
            <a:srgbClr val="E39A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Waffle ISO 27001"/>
          <p:cNvSpPr/>
          <p:nvPr/>
        </p:nvSpPr>
        <p:spPr>
          <a:xfrm>
            <a:off x="2075904" y="20880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Waffle ISO 27001"/>
          <p:cNvSpPr/>
          <p:nvPr/>
        </p:nvSpPr>
        <p:spPr>
          <a:xfrm>
            <a:off x="2075904" y="23112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Waffle ISO 27001"/>
          <p:cNvSpPr/>
          <p:nvPr/>
        </p:nvSpPr>
        <p:spPr>
          <a:xfrm>
            <a:off x="2075904" y="25344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Waffle ISO 27001"/>
          <p:cNvSpPr/>
          <p:nvPr/>
        </p:nvSpPr>
        <p:spPr>
          <a:xfrm>
            <a:off x="2075904" y="27576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Waffle ISO 27001"/>
          <p:cNvSpPr/>
          <p:nvPr/>
        </p:nvSpPr>
        <p:spPr>
          <a:xfrm>
            <a:off x="2075904" y="29808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Waffle ISO 27001"/>
          <p:cNvSpPr/>
          <p:nvPr/>
        </p:nvSpPr>
        <p:spPr>
          <a:xfrm>
            <a:off x="2075904" y="3204000"/>
            <a:ext cx="223200" cy="20160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Waffle ISO 27001"/>
          <p:cNvSpPr/>
          <p:nvPr/>
        </p:nvSpPr>
        <p:spPr>
          <a:xfrm>
            <a:off x="2075904" y="34272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Waffle ISO 27001"/>
          <p:cNvSpPr/>
          <p:nvPr/>
        </p:nvSpPr>
        <p:spPr>
          <a:xfrm>
            <a:off x="2075904" y="36504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Waffle ISO 27001"/>
          <p:cNvSpPr/>
          <p:nvPr/>
        </p:nvSpPr>
        <p:spPr>
          <a:xfrm>
            <a:off x="2075904" y="38736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Waffle ISO 27001"/>
          <p:cNvSpPr/>
          <p:nvPr/>
        </p:nvSpPr>
        <p:spPr>
          <a:xfrm>
            <a:off x="2075904" y="40968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Waffle ISO 27001"/>
          <p:cNvSpPr/>
          <p:nvPr/>
        </p:nvSpPr>
        <p:spPr>
          <a:xfrm>
            <a:off x="2325888" y="20880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Waffle ISO 27001"/>
          <p:cNvSpPr/>
          <p:nvPr/>
        </p:nvSpPr>
        <p:spPr>
          <a:xfrm>
            <a:off x="2325888" y="23112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Waffle ISO 27001"/>
          <p:cNvSpPr/>
          <p:nvPr/>
        </p:nvSpPr>
        <p:spPr>
          <a:xfrm>
            <a:off x="2325888" y="25344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Waffle ISO 27001"/>
          <p:cNvSpPr/>
          <p:nvPr/>
        </p:nvSpPr>
        <p:spPr>
          <a:xfrm>
            <a:off x="2325888" y="27576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Waffle ISO 27001"/>
          <p:cNvSpPr/>
          <p:nvPr/>
        </p:nvSpPr>
        <p:spPr>
          <a:xfrm>
            <a:off x="2325888" y="29808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Waffle ISO 27001"/>
          <p:cNvSpPr/>
          <p:nvPr/>
        </p:nvSpPr>
        <p:spPr>
          <a:xfrm>
            <a:off x="2325888" y="3204000"/>
            <a:ext cx="223200" cy="201600"/>
          </a:xfrm>
          <a:prstGeom prst="roundRect">
            <a:avLst/>
          </a:prstGeom>
          <a:solidFill>
            <a:srgbClr val="9AA3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Waffle ISO 27001"/>
          <p:cNvSpPr/>
          <p:nvPr/>
        </p:nvSpPr>
        <p:spPr>
          <a:xfrm>
            <a:off x="2325888" y="3427200"/>
            <a:ext cx="223200" cy="201600"/>
          </a:xfrm>
          <a:prstGeom prst="roundRect">
            <a:avLst/>
          </a:prstGeom>
          <a:solidFill>
            <a:srgbClr val="D5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Waffle ISO 27001"/>
          <p:cNvSpPr/>
          <p:nvPr/>
        </p:nvSpPr>
        <p:spPr>
          <a:xfrm>
            <a:off x="2325888" y="3650400"/>
            <a:ext cx="223200" cy="201600"/>
          </a:xfrm>
          <a:prstGeom prst="roundRect">
            <a:avLst/>
          </a:prstGeom>
          <a:solidFill>
            <a:srgbClr val="D5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Waffle ISO 27001"/>
          <p:cNvSpPr/>
          <p:nvPr/>
        </p:nvSpPr>
        <p:spPr>
          <a:xfrm>
            <a:off x="2325888" y="3873600"/>
            <a:ext cx="223200" cy="201600"/>
          </a:xfrm>
          <a:prstGeom prst="roundRect">
            <a:avLst/>
          </a:prstGeom>
          <a:solidFill>
            <a:srgbClr val="D5D9E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76000" y="1800000"/>
            <a:ext cx="2952000" cy="252000"/>
          </a:xfrm>
          <a:prstGeom prst="rect">
            <a:avLst/>
          </a:prstGeom>
          <a:noFill/>
          <a:ln>
            <a:noFill/>
          </a:ln>
        </p:spPr>
        <p:txBody>
          <a:bodyPr wrap="square" anchor="t" lIns="43200" rIns="43200" tIns="25200" bIns="25200">
            <a:spAutoFit/>
          </a:bodyPr>
          <a:lstStyle/>
          <a:p>
            <a:pPr>
              <a:defRPr sz="1200" b="1">
                <a:solidFill>
                  <a:srgbClr val="0B0E26"/>
                </a:solidFill>
                <a:latin typeface="Calibri"/>
              </a:defRPr>
            </a:pPr>
            <a:r>
              <a:t>ISO 27001 · 79 requirements</a:t>
            </a:r>
          </a:p>
        </p:txBody>
      </p:sp>
      <p:graphicFrame>
        <p:nvGraphicFramePr>
          <p:cNvPr id="85" name="Native evidence table"/>
          <p:cNvGraphicFramePr>
            <a:graphicFrameLocks noGrp="1"/>
          </p:cNvGraphicFramePr>
          <p:nvPr/>
        </p:nvGraphicFramePr>
        <p:xfrm>
          <a:off x="3636000" y="2088000"/>
          <a:ext cx="2088000" cy="2808000"/>
        </p:xfrm>
        <a:graphic>
          <a:graphicData uri="http://schemas.openxmlformats.org/drawingml/2006/table">
            <a:tbl>
              <a:tblPr firstRow="1" bandRow="1">
                <a:tableStyleId>{5C22544A-7EE6-4342-B048-85BDC9FD1C3A}</a:tableStyleId>
              </a:tblPr>
              <a:tblGrid>
                <a:gridCol w="1152000"/>
                <a:gridCol w="468000"/>
                <a:gridCol w="468000"/>
              </a:tblGrid>
              <a:tr h="468000">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Count</a:t>
                      </a:r>
                    </a:p>
                  </a:txBody>
                  <a:tcPr marL="43200" marR="43200" marT="21600" marB="21600" anchor="ctr">
                    <a:solidFill>
                      <a:srgbClr val="161A5C"/>
                    </a:solidFill>
                  </a:tcPr>
                </a:tc>
                <a:tc>
                  <a:txBody>
                    <a:bodyPr/>
                    <a:lstStyle/>
                    <a:p>
                      <a:pPr>
                        <a:defRPr sz="900" b="1">
                          <a:solidFill>
                            <a:srgbClr val="FFFFFF"/>
                          </a:solidFill>
                          <a:latin typeface="Calibri"/>
                        </a:defRPr>
                      </a:pPr>
                      <a:r>
                        <a:t>%</a:t>
                      </a:r>
                    </a:p>
                  </a:txBody>
                  <a:tcPr marL="43200" marR="43200" marT="21600" marB="21600" anchor="ctr">
                    <a:solidFill>
                      <a:srgbClr val="161A5C"/>
                    </a:solidFill>
                  </a:tcPr>
                </a:tc>
              </a:tr>
              <a:tr h="468000">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33</a:t>
                      </a:r>
                    </a:p>
                  </a:txBody>
                  <a:tcPr marL="43200" marR="43200" marT="21600" marB="21600" anchor="ctr">
                    <a:solidFill>
                      <a:srgbClr val="FFFFFF"/>
                    </a:solidFill>
                  </a:tcPr>
                </a:tc>
                <a:tc>
                  <a:txBody>
                    <a:bodyPr/>
                    <a:lstStyle/>
                    <a:p>
                      <a:pPr>
                        <a:defRPr sz="900" b="0">
                          <a:solidFill>
                            <a:srgbClr val="0B0E26"/>
                          </a:solidFill>
                          <a:latin typeface="Calibri"/>
                        </a:defRPr>
                      </a:pPr>
                      <a:r>
                        <a:t>42%</a:t>
                      </a:r>
                    </a:p>
                  </a:txBody>
                  <a:tcPr marL="43200" marR="43200" marT="21600" marB="21600" anchor="ctr">
                    <a:solidFill>
                      <a:srgbClr val="FFFFFF"/>
                    </a:solidFill>
                  </a:tcPr>
                </a:tc>
              </a:tr>
              <a:tr h="468000">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27</a:t>
                      </a:r>
                    </a:p>
                  </a:txBody>
                  <a:tcPr marL="43200" marR="43200" marT="21600" marB="21600" anchor="ctr">
                    <a:solidFill>
                      <a:srgbClr val="F1F3F8"/>
                    </a:solidFill>
                  </a:tcPr>
                </a:tc>
                <a:tc>
                  <a:txBody>
                    <a:bodyPr/>
                    <a:lstStyle/>
                    <a:p>
                      <a:pPr>
                        <a:defRPr sz="900" b="0">
                          <a:solidFill>
                            <a:srgbClr val="0B0E26"/>
                          </a:solidFill>
                          <a:latin typeface="Calibri"/>
                        </a:defRPr>
                      </a:pPr>
                      <a:r>
                        <a:t>34%</a:t>
                      </a:r>
                    </a:p>
                  </a:txBody>
                  <a:tcPr marL="43200" marR="43200" marT="21600" marB="21600" anchor="ctr">
                    <a:solidFill>
                      <a:srgbClr val="F1F3F8"/>
                    </a:solidFill>
                  </a:tcPr>
                </a:tc>
              </a:tr>
              <a:tr h="468000">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6</a:t>
                      </a:r>
                    </a:p>
                  </a:txBody>
                  <a:tcPr marL="43200" marR="43200" marT="21600" marB="21600" anchor="ctr">
                    <a:solidFill>
                      <a:srgbClr val="FFFFFF"/>
                    </a:solidFill>
                  </a:tcPr>
                </a:tc>
                <a:tc>
                  <a:txBody>
                    <a:bodyPr/>
                    <a:lstStyle/>
                    <a:p>
                      <a:pPr>
                        <a:defRPr sz="900" b="0">
                          <a:solidFill>
                            <a:srgbClr val="0B0E26"/>
                          </a:solidFill>
                          <a:latin typeface="Calibri"/>
                        </a:defRPr>
                      </a:pPr>
                      <a:r>
                        <a:t>8%</a:t>
                      </a:r>
                    </a:p>
                  </a:txBody>
                  <a:tcPr marL="43200" marR="43200" marT="21600" marB="21600" anchor="ctr">
                    <a:solidFill>
                      <a:srgbClr val="FFFFFF"/>
                    </a:solidFill>
                  </a:tcPr>
                </a:tc>
              </a:tr>
              <a:tr h="468000">
                <a:tc>
                  <a:txBody>
                    <a:bodyPr/>
                    <a:lstStyle/>
                    <a:p>
                      <a:pPr>
                        <a:defRPr sz="900" b="0">
                          <a:solidFill>
                            <a:srgbClr val="0B0E26"/>
                          </a:solidFill>
                          <a:latin typeface="Calibri"/>
                        </a:defRPr>
                      </a:pPr>
                      <a:r>
                        <a:t>Not concluded</a:t>
                      </a:r>
                    </a:p>
                  </a:txBody>
                  <a:tcPr marL="43200" marR="43200" marT="21600" marB="21600" anchor="ctr">
                    <a:solidFill>
                      <a:srgbClr val="F1F3F8"/>
                    </a:solidFill>
                  </a:tcPr>
                </a:tc>
                <a:tc>
                  <a:txBody>
                    <a:bodyPr/>
                    <a:lstStyle/>
                    <a:p>
                      <a:pPr>
                        <a:defRPr sz="900" b="0">
                          <a:solidFill>
                            <a:srgbClr val="0B0E26"/>
                          </a:solidFill>
                          <a:latin typeface="Calibri"/>
                        </a:defRPr>
                      </a:pPr>
                      <a:r>
                        <a:t>10</a:t>
                      </a:r>
                    </a:p>
                  </a:txBody>
                  <a:tcPr marL="43200" marR="43200" marT="21600" marB="21600" anchor="ctr">
                    <a:solidFill>
                      <a:srgbClr val="F1F3F8"/>
                    </a:solidFill>
                  </a:tcPr>
                </a:tc>
                <a:tc>
                  <a:txBody>
                    <a:bodyPr/>
                    <a:lstStyle/>
                    <a:p>
                      <a:pPr>
                        <a:defRPr sz="900" b="0">
                          <a:solidFill>
                            <a:srgbClr val="0B0E26"/>
                          </a:solidFill>
                          <a:latin typeface="Calibri"/>
                        </a:defRPr>
                      </a:pPr>
                      <a:r>
                        <a:t>13%</a:t>
                      </a:r>
                    </a:p>
                  </a:txBody>
                  <a:tcPr marL="43200" marR="43200" marT="21600" marB="21600" anchor="ctr">
                    <a:solidFill>
                      <a:srgbClr val="F1F3F8"/>
                    </a:solidFill>
                  </a:tcPr>
                </a:tc>
              </a:tr>
              <a:tr h="468000">
                <a:tc>
                  <a:txBody>
                    <a:bodyPr/>
                    <a:lstStyle/>
                    <a:p>
                      <a:pPr>
                        <a:defRPr sz="900" b="0">
                          <a:solidFill>
                            <a:srgbClr val="0B0E26"/>
                          </a:solidFill>
                          <a:latin typeface="Calibri"/>
                        </a:defRPr>
                      </a:pPr>
                      <a:r>
                        <a:t>Not applicable</a:t>
                      </a:r>
                    </a:p>
                  </a:txBody>
                  <a:tcPr marL="43200" marR="43200" marT="21600" marB="21600" anchor="ctr">
                    <a:solidFill>
                      <a:srgbClr val="FFFFFF"/>
                    </a:solidFill>
                  </a:tcPr>
                </a:tc>
                <a:tc>
                  <a:txBody>
                    <a:bodyPr/>
                    <a:lstStyle/>
                    <a:p>
                      <a:pPr>
                        <a:defRPr sz="900" b="0">
                          <a:solidFill>
                            <a:srgbClr val="0B0E26"/>
                          </a:solidFill>
                          <a:latin typeface="Calibri"/>
                        </a:defRPr>
                      </a:pPr>
                      <a:r>
                        <a:t>3</a:t>
                      </a:r>
                    </a:p>
                  </a:txBody>
                  <a:tcPr marL="43200" marR="43200" marT="21600" marB="21600" anchor="ctr">
                    <a:solidFill>
                      <a:srgbClr val="FFFFFF"/>
                    </a:solidFill>
                  </a:tcPr>
                </a:tc>
                <a:tc>
                  <a:txBody>
                    <a:bodyPr/>
                    <a:lstStyle/>
                    <a:p>
                      <a:pPr>
                        <a:defRPr sz="900" b="0">
                          <a:solidFill>
                            <a:srgbClr val="0B0E26"/>
                          </a:solidFill>
                          <a:latin typeface="Calibri"/>
                        </a:defRPr>
                      </a:pPr>
                      <a:r>
                        <a:t>4%</a:t>
                      </a:r>
                    </a:p>
                  </a:txBody>
                  <a:tcPr marL="43200" marR="43200" marT="21600" marB="21600" anchor="ctr">
                    <a:solidFill>
                      <a:srgbClr val="FFFFFF"/>
                    </a:solidFill>
                  </a:tcPr>
                </a:tc>
              </a:tr>
            </a:tbl>
          </a:graphicData>
        </a:graphic>
      </p:graphicFrame>
      <p:sp>
        <p:nvSpPr>
          <p:cNvPr id="86" name="TextBox 85"/>
          <p:cNvSpPr txBox="1"/>
          <p:nvPr/>
        </p:nvSpPr>
        <p:spPr>
          <a:xfrm>
            <a:off x="504000" y="5976000"/>
            <a:ext cx="11160000" cy="360000"/>
          </a:xfrm>
          <a:prstGeom prst="rect">
            <a:avLst/>
          </a:prstGeom>
          <a:noFill/>
          <a:ln>
            <a:noFill/>
          </a:ln>
        </p:spPr>
        <p:txBody>
          <a:bodyPr wrap="square" anchor="t" lIns="43200" rIns="43200" tIns="25200" bIns="25200">
            <a:spAutoFit/>
          </a:bodyPr>
          <a:lstStyle/>
          <a:p>
            <a:pPr>
              <a:defRPr sz="1100" b="0">
                <a:solidFill>
                  <a:srgbClr val="626984"/>
                </a:solidFill>
                <a:latin typeface="Calibri"/>
              </a:defRPr>
            </a:pPr>
            <a:r>
              <a:t>Scores are per framework and are never combined; the totals above are counts.</a:t>
            </a:r>
          </a:p>
        </p:txBody>
      </p:sp>
      <p:sp>
        <p:nvSpPr>
          <p:cNvPr id="8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6 of 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People Controls (60%) and Organizational Controls (65%) are the weakest areas</a:t>
            </a:r>
          </a:p>
        </p:txBody>
      </p:sp>
      <p:graphicFrame>
        <p:nvGraphicFramePr>
          <p:cNvPr id="5" name="Native domain status bar"/>
          <p:cNvGraphicFramePr>
            <a:graphicFrameLocks noGrp="1"/>
          </p:cNvGraphicFramePr>
          <p:nvPr/>
        </p:nvGraphicFramePr>
        <p:xfrm>
          <a:off x="504000" y="1728000"/>
          <a:ext cx="11160000" cy="3312000"/>
        </p:xfrm>
        <a:graphic>
          <a:graphicData uri="http://schemas.openxmlformats.org/drawingml/2006/chart">
            <c:chart xmlns:c="http://schemas.openxmlformats.org/drawingml/2006/chart" r:id="rId2"/>
          </a:graphicData>
        </a:graphic>
      </p:graphicFrame>
      <p:sp>
        <p:nvSpPr>
          <p:cNvPr id="6" name="TextBox 5"/>
          <p:cNvSpPr txBox="1"/>
          <p:nvPr/>
        </p:nvSpPr>
        <p:spPr>
          <a:xfrm>
            <a:off x="504000" y="5148000"/>
            <a:ext cx="11160000" cy="360000"/>
          </a:xfrm>
          <a:prstGeom prst="rect">
            <a:avLst/>
          </a:prstGeom>
          <a:noFill/>
          <a:ln>
            <a:noFill/>
          </a:ln>
        </p:spPr>
        <p:txBody>
          <a:bodyPr wrap="square" anchor="t" lIns="43200" rIns="43200" tIns="25200" bIns="25200">
            <a:spAutoFit/>
          </a:bodyPr>
          <a:lstStyle/>
          <a:p>
            <a:pPr>
              <a:defRPr sz="1100" b="0">
                <a:solidFill>
                  <a:srgbClr val="626984"/>
                </a:solidFill>
                <a:latin typeface="Calibri"/>
              </a:defRPr>
            </a:pPr>
            <a:r>
              <a:t>Rating bands: 0–40 Non-compliant · 40–60 Needs significant improvement · 60–80 Partially compliant · 80–100 Compliant</a:t>
            </a:r>
          </a:p>
        </p:txBody>
      </p:sp>
      <p:graphicFrame>
        <p:nvGraphicFramePr>
          <p:cNvPr id="7" name="Native evidence table"/>
          <p:cNvGraphicFramePr>
            <a:graphicFrameLocks noGrp="1"/>
          </p:cNvGraphicFramePr>
          <p:nvPr/>
        </p:nvGraphicFramePr>
        <p:xfrm>
          <a:off x="504000" y="1728000"/>
          <a:ext cx="6120000" cy="3240000"/>
        </p:xfrm>
        <a:graphic>
          <a:graphicData uri="http://schemas.openxmlformats.org/drawingml/2006/table">
            <a:tbl>
              <a:tblPr firstRow="1" bandRow="1">
                <a:tableStyleId>{5C22544A-7EE6-4342-B048-85BDC9FD1C3A}</a:tableStyleId>
              </a:tblPr>
              <a:tblGrid>
                <a:gridCol w="1260000"/>
                <a:gridCol w="2016000"/>
                <a:gridCol w="792000"/>
                <a:gridCol w="792000"/>
                <a:gridCol w="1260000"/>
              </a:tblGrid>
              <a:tr h="810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Score</a:t>
                      </a:r>
                    </a:p>
                  </a:txBody>
                  <a:tcPr marL="43200" marR="43200" marT="21600" marB="21600" anchor="ctr">
                    <a:solidFill>
                      <a:srgbClr val="161A5C"/>
                    </a:solidFill>
                  </a:tcPr>
                </a:tc>
                <a:tc>
                  <a:txBody>
                    <a:bodyPr/>
                    <a:lstStyle/>
                    <a:p>
                      <a:pPr>
                        <a:defRPr sz="900" b="1">
                          <a:solidFill>
                            <a:srgbClr val="FFFFFF"/>
                          </a:solidFill>
                          <a:latin typeface="Calibri"/>
                        </a:defRPr>
                      </a:pPr>
                      <a:r>
                        <a:t>Gaps</a:t>
                      </a:r>
                    </a:p>
                  </a:txBody>
                  <a:tcPr marL="43200" marR="43200" marT="21600" marB="21600" anchor="ctr">
                    <a:solidFill>
                      <a:srgbClr val="161A5C"/>
                    </a:solidFill>
                  </a:tcPr>
                </a:tc>
                <a:tc>
                  <a:txBody>
                    <a:bodyPr/>
                    <a:lstStyle/>
                    <a:p>
                      <a:pPr>
                        <a:defRPr sz="900" b="1">
                          <a:solidFill>
                            <a:srgbClr val="FFFFFF"/>
                          </a:solidFill>
                          <a:latin typeface="Calibri"/>
                        </a:defRPr>
                      </a:pPr>
                      <a:r>
                        <a:t>Critical/high</a:t>
                      </a:r>
                    </a:p>
                  </a:txBody>
                  <a:tcPr marL="43200" marR="43200" marT="21600" marB="21600" anchor="ctr">
                    <a:solidFill>
                      <a:srgbClr val="161A5C"/>
                    </a:solidFill>
                  </a:tcPr>
                </a:tc>
              </a:tr>
              <a:tr h="810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60.0%</a:t>
                      </a:r>
                    </a:p>
                  </a:txBody>
                  <a:tcPr marL="43200" marR="43200" marT="21600" marB="21600" anchor="ctr">
                    <a:solidFill>
                      <a:srgbClr val="FFFFFF"/>
                    </a:solidFill>
                  </a:tcPr>
                </a:tc>
                <a:tc>
                  <a:txBody>
                    <a:bodyPr/>
                    <a:lstStyle/>
                    <a:p>
                      <a:pPr>
                        <a:defRPr sz="900" b="0">
                          <a:solidFill>
                            <a:srgbClr val="0B0E26"/>
                          </a:solidFill>
                          <a:latin typeface="Calibri"/>
                        </a:defRPr>
                      </a:pPr>
                      <a:r>
                        <a:t>4</a:t>
                      </a:r>
                    </a:p>
                  </a:txBody>
                  <a:tcPr marL="43200" marR="43200" marT="21600" marB="21600" anchor="ctr">
                    <a:solidFill>
                      <a:srgbClr val="FFFFFF"/>
                    </a:solidFill>
                  </a:tcPr>
                </a:tc>
                <a:tc>
                  <a:txBody>
                    <a:bodyPr/>
                    <a:lstStyle/>
                    <a:p>
                      <a:pPr>
                        <a:defRPr sz="900" b="0">
                          <a:solidFill>
                            <a:srgbClr val="0B0E26"/>
                          </a:solidFill>
                          <a:latin typeface="Calibri"/>
                        </a:defRPr>
                      </a:pPr>
                      <a:r>
                        <a:t>0</a:t>
                      </a:r>
                    </a:p>
                  </a:txBody>
                  <a:tcPr marL="43200" marR="43200" marT="21600" marB="21600" anchor="ctr">
                    <a:solidFill>
                      <a:srgbClr val="FFFFFF"/>
                    </a:solidFill>
                  </a:tcPr>
                </a:tc>
              </a:tr>
              <a:tr h="810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65.3%</a:t>
                      </a:r>
                    </a:p>
                  </a:txBody>
                  <a:tcPr marL="43200" marR="43200" marT="21600" marB="21600" anchor="ctr">
                    <a:solidFill>
                      <a:srgbClr val="F1F3F8"/>
                    </a:solidFill>
                  </a:tcPr>
                </a:tc>
                <a:tc>
                  <a:txBody>
                    <a:bodyPr/>
                    <a:lstStyle/>
                    <a:p>
                      <a:pPr>
                        <a:defRPr sz="900" b="0">
                          <a:solidFill>
                            <a:srgbClr val="0B0E26"/>
                          </a:solidFill>
                          <a:latin typeface="Calibri"/>
                        </a:defRPr>
                      </a:pPr>
                      <a:r>
                        <a:t>18</a:t>
                      </a:r>
                    </a:p>
                  </a:txBody>
                  <a:tcPr marL="43200" marR="43200" marT="21600" marB="21600" anchor="ctr">
                    <a:solidFill>
                      <a:srgbClr val="F1F3F8"/>
                    </a:solidFill>
                  </a:tcPr>
                </a:tc>
                <a:tc>
                  <a:txBody>
                    <a:bodyPr/>
                    <a:lstStyle/>
                    <a:p>
                      <a:pPr>
                        <a:defRPr sz="900" b="0">
                          <a:solidFill>
                            <a:srgbClr val="0B0E26"/>
                          </a:solidFill>
                          <a:latin typeface="Calibri"/>
                        </a:defRPr>
                      </a:pPr>
                      <a:r>
                        <a:t>7</a:t>
                      </a:r>
                    </a:p>
                  </a:txBody>
                  <a:tcPr marL="43200" marR="43200" marT="21600" marB="21600" anchor="ctr">
                    <a:solidFill>
                      <a:srgbClr val="F1F3F8"/>
                    </a:solidFill>
                  </a:tcPr>
                </a:tc>
              </a:tr>
              <a:tr h="810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75.5%</a:t>
                      </a:r>
                    </a:p>
                  </a:txBody>
                  <a:tcPr marL="43200" marR="43200" marT="21600" marB="21600" anchor="ctr">
                    <a:solidFill>
                      <a:srgbClr val="FFFFFF"/>
                    </a:solidFill>
                  </a:tcPr>
                </a:tc>
                <a:tc>
                  <a:txBody>
                    <a:bodyPr/>
                    <a:lstStyle/>
                    <a:p>
                      <a:pPr>
                        <a:defRPr sz="900" b="0">
                          <a:solidFill>
                            <a:srgbClr val="0B0E26"/>
                          </a:solidFill>
                          <a:latin typeface="Calibri"/>
                        </a:defRPr>
                      </a:pPr>
                      <a:r>
                        <a:t>11</a:t>
                      </a:r>
                    </a:p>
                  </a:txBody>
                  <a:tcPr marL="43200" marR="43200" marT="21600" marB="21600" anchor="ctr">
                    <a:solidFill>
                      <a:srgbClr val="FFFFFF"/>
                    </a:solidFill>
                  </a:tcPr>
                </a:tc>
                <a:tc>
                  <a:txBody>
                    <a:bodyPr/>
                    <a:lstStyle/>
                    <a:p>
                      <a:pPr>
                        <a:defRPr sz="900" b="0">
                          <a:solidFill>
                            <a:srgbClr val="0B0E26"/>
                          </a:solidFill>
                          <a:latin typeface="Calibri"/>
                        </a:defRPr>
                      </a:pPr>
                      <a:r>
                        <a:t>2</a:t>
                      </a:r>
                    </a:p>
                  </a:txBody>
                  <a:tcPr marL="43200" marR="43200" marT="21600" marB="21600" anchor="ctr">
                    <a:solidFill>
                      <a:srgbClr val="FFFFFF"/>
                    </a:solidFill>
                  </a:tcPr>
                </a:tc>
              </a:tr>
            </a:tbl>
          </a:graphicData>
        </a:graphic>
      </p:graphicFrame>
      <p:sp>
        <p:nvSpPr>
          <p:cNvPr id="8"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0"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7 of 25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Organizational Controls holds 7 of the 22 critical or high gaps</a:t>
            </a:r>
          </a:p>
        </p:txBody>
      </p:sp>
      <p:sp>
        <p:nvSpPr>
          <p:cNvPr id="5" name="Severity tile"/>
          <p:cNvSpPr/>
          <p:nvPr/>
        </p:nvSpPr>
        <p:spPr>
          <a:xfrm>
            <a:off x="504000" y="1440000"/>
            <a:ext cx="2664000" cy="864000"/>
          </a:xfrm>
          <a:prstGeom prst="rect">
            <a:avLst/>
          </a:prstGeom>
          <a:solidFill>
            <a:srgbClr val="9B1C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76000" y="1584000"/>
            <a:ext cx="2520000" cy="504000"/>
          </a:xfrm>
          <a:prstGeom prst="rect">
            <a:avLst/>
          </a:prstGeom>
          <a:noFill/>
          <a:ln>
            <a:noFill/>
          </a:ln>
        </p:spPr>
        <p:txBody>
          <a:bodyPr wrap="square" anchor="t" lIns="43200" rIns="43200" tIns="25200" bIns="25200">
            <a:spAutoFit/>
          </a:bodyPr>
          <a:lstStyle/>
          <a:p>
            <a:pPr algn="ctr">
              <a:defRPr sz="1300" b="1">
                <a:solidFill>
                  <a:srgbClr val="FFFFFF"/>
                </a:solidFill>
                <a:latin typeface="Calibri"/>
              </a:defRPr>
            </a:pPr>
            <a:r>
              <a:t>Critical</a:t>
            </a:r>
          </a:p>
          <a:p>
            <a:pPr algn="ctr">
              <a:defRPr sz="1300" b="1">
                <a:solidFill>
                  <a:srgbClr val="FFFFFF"/>
                </a:solidFill>
                <a:latin typeface="Calibri"/>
              </a:defRPr>
            </a:pPr>
            <a:r>
              <a:t>2 gaps</a:t>
            </a:r>
          </a:p>
        </p:txBody>
      </p:sp>
      <p:sp>
        <p:nvSpPr>
          <p:cNvPr id="7" name="Severity tile"/>
          <p:cNvSpPr/>
          <p:nvPr/>
        </p:nvSpPr>
        <p:spPr>
          <a:xfrm>
            <a:off x="3312000" y="1440000"/>
            <a:ext cx="2664000" cy="864000"/>
          </a:xfrm>
          <a:prstGeom prst="rect">
            <a:avLst/>
          </a:prstGeom>
          <a:solidFill>
            <a:srgbClr val="D948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4000" y="1584000"/>
            <a:ext cx="2520000" cy="504000"/>
          </a:xfrm>
          <a:prstGeom prst="rect">
            <a:avLst/>
          </a:prstGeom>
          <a:noFill/>
          <a:ln>
            <a:noFill/>
          </a:ln>
        </p:spPr>
        <p:txBody>
          <a:bodyPr wrap="square" anchor="t" lIns="43200" rIns="43200" tIns="25200" bIns="25200">
            <a:spAutoFit/>
          </a:bodyPr>
          <a:lstStyle/>
          <a:p>
            <a:pPr algn="ctr">
              <a:defRPr sz="1300" b="1">
                <a:solidFill>
                  <a:srgbClr val="FFFFFF"/>
                </a:solidFill>
                <a:latin typeface="Calibri"/>
              </a:defRPr>
            </a:pPr>
            <a:r>
              <a:t>High</a:t>
            </a:r>
          </a:p>
          <a:p>
            <a:pPr algn="ctr">
              <a:defRPr sz="1300" b="1">
                <a:solidFill>
                  <a:srgbClr val="FFFFFF"/>
                </a:solidFill>
                <a:latin typeface="Calibri"/>
              </a:defRPr>
            </a:pPr>
            <a:r>
              <a:t>7 gaps</a:t>
            </a:r>
          </a:p>
        </p:txBody>
      </p:sp>
      <p:sp>
        <p:nvSpPr>
          <p:cNvPr id="9" name="Severity tile"/>
          <p:cNvSpPr/>
          <p:nvPr/>
        </p:nvSpPr>
        <p:spPr>
          <a:xfrm>
            <a:off x="6120000" y="1440000"/>
            <a:ext cx="2664000" cy="864000"/>
          </a:xfrm>
          <a:prstGeom prst="rect">
            <a:avLst/>
          </a:prstGeom>
          <a:solidFill>
            <a:srgbClr val="F0A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92000" y="1584000"/>
            <a:ext cx="2520000" cy="504000"/>
          </a:xfrm>
          <a:prstGeom prst="rect">
            <a:avLst/>
          </a:prstGeom>
          <a:noFill/>
          <a:ln>
            <a:noFill/>
          </a:ln>
        </p:spPr>
        <p:txBody>
          <a:bodyPr wrap="square" anchor="t" lIns="43200" rIns="43200" tIns="25200" bIns="25200">
            <a:spAutoFit/>
          </a:bodyPr>
          <a:lstStyle/>
          <a:p>
            <a:pPr algn="ctr">
              <a:defRPr sz="1300" b="1">
                <a:solidFill>
                  <a:srgbClr val="0B0E26"/>
                </a:solidFill>
                <a:latin typeface="Calibri"/>
              </a:defRPr>
            </a:pPr>
            <a:r>
              <a:t>Medium</a:t>
            </a:r>
          </a:p>
          <a:p>
            <a:pPr algn="ctr">
              <a:defRPr sz="1300" b="1">
                <a:solidFill>
                  <a:srgbClr val="0B0E26"/>
                </a:solidFill>
                <a:latin typeface="Calibri"/>
              </a:defRPr>
            </a:pPr>
            <a:r>
              <a:t>17 gaps</a:t>
            </a:r>
          </a:p>
        </p:txBody>
      </p:sp>
      <p:sp>
        <p:nvSpPr>
          <p:cNvPr id="11" name="Severity tile"/>
          <p:cNvSpPr/>
          <p:nvPr/>
        </p:nvSpPr>
        <p:spPr>
          <a:xfrm>
            <a:off x="8928000" y="1440000"/>
            <a:ext cx="2664000" cy="864000"/>
          </a:xfrm>
          <a:prstGeom prst="rect">
            <a:avLst/>
          </a:prstGeom>
          <a:solidFill>
            <a:srgbClr val="3C9D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00000" y="1584000"/>
            <a:ext cx="2520000" cy="504000"/>
          </a:xfrm>
          <a:prstGeom prst="rect">
            <a:avLst/>
          </a:prstGeom>
          <a:noFill/>
          <a:ln>
            <a:noFill/>
          </a:ln>
        </p:spPr>
        <p:txBody>
          <a:bodyPr wrap="square" anchor="t" lIns="43200" rIns="43200" tIns="25200" bIns="25200">
            <a:spAutoFit/>
          </a:bodyPr>
          <a:lstStyle/>
          <a:p>
            <a:pPr algn="ctr">
              <a:defRPr sz="1300" b="1">
                <a:solidFill>
                  <a:srgbClr val="FFFFFF"/>
                </a:solidFill>
                <a:latin typeface="Calibri"/>
              </a:defRPr>
            </a:pPr>
            <a:r>
              <a:t>Low</a:t>
            </a:r>
          </a:p>
          <a:p>
            <a:pPr algn="ctr">
              <a:defRPr sz="1300" b="1">
                <a:solidFill>
                  <a:srgbClr val="FFFFFF"/>
                </a:solidFill>
                <a:latin typeface="Calibri"/>
              </a:defRPr>
            </a:pPr>
            <a:r>
              <a:t>7 gaps</a:t>
            </a:r>
          </a:p>
        </p:txBody>
      </p:sp>
      <p:graphicFrame>
        <p:nvGraphicFramePr>
          <p:cNvPr id="13" name="Native framework outcomes stacked bar"/>
          <p:cNvGraphicFramePr>
            <a:graphicFrameLocks noGrp="1"/>
          </p:cNvGraphicFramePr>
          <p:nvPr/>
        </p:nvGraphicFramePr>
        <p:xfrm>
          <a:off x="504000" y="3780000"/>
          <a:ext cx="11160000" cy="1872000"/>
        </p:xfrm>
        <a:graphic>
          <a:graphicData uri="http://schemas.openxmlformats.org/drawingml/2006/chart">
            <c:chart xmlns:c="http://schemas.openxmlformats.org/drawingml/2006/chart" r:id="rId2"/>
          </a:graphicData>
        </a:graphic>
      </p:graphicFrame>
      <p:sp>
        <p:nvSpPr>
          <p:cNvPr id="14" name="TextBox 13"/>
          <p:cNvSpPr txBox="1"/>
          <p:nvPr/>
        </p:nvSpPr>
        <p:spPr>
          <a:xfrm>
            <a:off x="504000" y="3492000"/>
            <a:ext cx="11160000" cy="288000"/>
          </a:xfrm>
          <a:prstGeom prst="rect">
            <a:avLst/>
          </a:prstGeom>
          <a:noFill/>
          <a:ln>
            <a:noFill/>
          </a:ln>
        </p:spPr>
        <p:txBody>
          <a:bodyPr wrap="square" anchor="t" lIns="43200" rIns="43200" tIns="25200" bIns="25200">
            <a:spAutoFit/>
          </a:bodyPr>
          <a:lstStyle/>
          <a:p>
            <a:pPr>
              <a:defRPr sz="1200" b="1">
                <a:solidFill>
                  <a:srgbClr val="3A4060"/>
                </a:solidFill>
                <a:latin typeface="Calibri"/>
              </a:defRPr>
            </a:pPr>
            <a:r>
              <a:t>Approved requirement outcomes by framework</a:t>
            </a:r>
          </a:p>
        </p:txBody>
      </p:sp>
      <p:graphicFrame>
        <p:nvGraphicFramePr>
          <p:cNvPr id="15" name="Native evidence table"/>
          <p:cNvGraphicFramePr>
            <a:graphicFrameLocks noGrp="1"/>
          </p:cNvGraphicFramePr>
          <p:nvPr/>
        </p:nvGraphicFramePr>
        <p:xfrm>
          <a:off x="504000" y="1728000"/>
          <a:ext cx="5220000" cy="1584000"/>
        </p:xfrm>
        <a:graphic>
          <a:graphicData uri="http://schemas.openxmlformats.org/drawingml/2006/table">
            <a:tbl>
              <a:tblPr firstRow="1" bandRow="1">
                <a:tableStyleId>{5C22544A-7EE6-4342-B048-85BDC9FD1C3A}</a:tableStyleId>
              </a:tblPr>
              <a:tblGrid>
                <a:gridCol w="2340000"/>
                <a:gridCol w="720000"/>
                <a:gridCol w="720000"/>
                <a:gridCol w="720000"/>
                <a:gridCol w="720000"/>
              </a:tblGrid>
              <a:tr h="792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Critical</a:t>
                      </a:r>
                    </a:p>
                  </a:txBody>
                  <a:tcPr marL="43200" marR="43200" marT="21600" marB="21600" anchor="ctr">
                    <a:solidFill>
                      <a:srgbClr val="161A5C"/>
                    </a:solidFill>
                  </a:tcPr>
                </a:tc>
                <a:tc>
                  <a:txBody>
                    <a:bodyPr/>
                    <a:lstStyle/>
                    <a:p>
                      <a:pPr>
                        <a:defRPr sz="900" b="1">
                          <a:solidFill>
                            <a:srgbClr val="FFFFFF"/>
                          </a:solidFill>
                          <a:latin typeface="Calibri"/>
                        </a:defRPr>
                      </a:pPr>
                      <a:r>
                        <a:t>High</a:t>
                      </a:r>
                    </a:p>
                  </a:txBody>
                  <a:tcPr marL="43200" marR="43200" marT="21600" marB="21600" anchor="ctr">
                    <a:solidFill>
                      <a:srgbClr val="161A5C"/>
                    </a:solidFill>
                  </a:tcPr>
                </a:tc>
                <a:tc>
                  <a:txBody>
                    <a:bodyPr/>
                    <a:lstStyle/>
                    <a:p>
                      <a:pPr>
                        <a:defRPr sz="900" b="1">
                          <a:solidFill>
                            <a:srgbClr val="FFFFFF"/>
                          </a:solidFill>
                          <a:latin typeface="Calibri"/>
                        </a:defRPr>
                      </a:pPr>
                      <a:r>
                        <a:t>Medium</a:t>
                      </a:r>
                    </a:p>
                  </a:txBody>
                  <a:tcPr marL="43200" marR="43200" marT="21600" marB="21600" anchor="ctr">
                    <a:solidFill>
                      <a:srgbClr val="161A5C"/>
                    </a:solidFill>
                  </a:tcPr>
                </a:tc>
                <a:tc>
                  <a:txBody>
                    <a:bodyPr/>
                    <a:lstStyle/>
                    <a:p>
                      <a:pPr>
                        <a:defRPr sz="900" b="1">
                          <a:solidFill>
                            <a:srgbClr val="FFFFFF"/>
                          </a:solidFill>
                          <a:latin typeface="Calibri"/>
                        </a:defRPr>
                      </a:pPr>
                      <a:r>
                        <a:t>Low</a:t>
                      </a:r>
                    </a:p>
                  </a:txBody>
                  <a:tcPr marL="43200" marR="43200" marT="21600" marB="21600" anchor="ctr">
                    <a:solidFill>
                      <a:srgbClr val="161A5C"/>
                    </a:solidFill>
                  </a:tcPr>
                </a:tc>
              </a:tr>
              <a:tr h="792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2</a:t>
                      </a:r>
                    </a:p>
                  </a:txBody>
                  <a:tcPr marL="43200" marR="43200" marT="21600" marB="21600" anchor="ctr">
                    <a:solidFill>
                      <a:srgbClr val="FFFFFF"/>
                    </a:solidFill>
                  </a:tcPr>
                </a:tc>
                <a:tc>
                  <a:txBody>
                    <a:bodyPr/>
                    <a:lstStyle/>
                    <a:p>
                      <a:pPr>
                        <a:defRPr sz="900" b="0">
                          <a:solidFill>
                            <a:srgbClr val="0B0E26"/>
                          </a:solidFill>
                          <a:latin typeface="Calibri"/>
                        </a:defRPr>
                      </a:pPr>
                      <a:r>
                        <a:t>7</a:t>
                      </a:r>
                    </a:p>
                  </a:txBody>
                  <a:tcPr marL="43200" marR="43200" marT="21600" marB="21600" anchor="ctr">
                    <a:solidFill>
                      <a:srgbClr val="FFFFFF"/>
                    </a:solidFill>
                  </a:tcPr>
                </a:tc>
                <a:tc>
                  <a:txBody>
                    <a:bodyPr/>
                    <a:lstStyle/>
                    <a:p>
                      <a:pPr>
                        <a:defRPr sz="900" b="0">
                          <a:solidFill>
                            <a:srgbClr val="0B0E26"/>
                          </a:solidFill>
                          <a:latin typeface="Calibri"/>
                        </a:defRPr>
                      </a:pPr>
                      <a:r>
                        <a:t>17</a:t>
                      </a:r>
                    </a:p>
                  </a:txBody>
                  <a:tcPr marL="43200" marR="43200" marT="21600" marB="21600" anchor="ctr">
                    <a:solidFill>
                      <a:srgbClr val="FFFFFF"/>
                    </a:solidFill>
                  </a:tcPr>
                </a:tc>
                <a:tc>
                  <a:txBody>
                    <a:bodyPr/>
                    <a:lstStyle/>
                    <a:p>
                      <a:pPr>
                        <a:defRPr sz="900" b="0">
                          <a:solidFill>
                            <a:srgbClr val="0B0E26"/>
                          </a:solidFill>
                          <a:latin typeface="Calibri"/>
                        </a:defRPr>
                      </a:pPr>
                      <a:r>
                        <a:t>7</a:t>
                      </a:r>
                    </a:p>
                  </a:txBody>
                  <a:tcPr marL="43200" marR="43200" marT="21600" marB="21600" anchor="ctr">
                    <a:solidFill>
                      <a:srgbClr val="FFFFFF"/>
                    </a:solidFill>
                  </a:tcPr>
                </a:tc>
              </a:tr>
            </a:tbl>
          </a:graphicData>
        </a:graphic>
      </p:graphicFrame>
      <p:graphicFrame>
        <p:nvGraphicFramePr>
          <p:cNvPr id="16" name="Native evidence table"/>
          <p:cNvGraphicFramePr>
            <a:graphicFrameLocks noGrp="1"/>
          </p:cNvGraphicFramePr>
          <p:nvPr/>
        </p:nvGraphicFramePr>
        <p:xfrm>
          <a:off x="504000" y="5688000"/>
          <a:ext cx="11160000" cy="720000"/>
        </p:xfrm>
        <a:graphic>
          <a:graphicData uri="http://schemas.openxmlformats.org/drawingml/2006/table">
            <a:tbl>
              <a:tblPr firstRow="1" bandRow="1">
                <a:tableStyleId>{5C22544A-7EE6-4342-B048-85BDC9FD1C3A}</a:tableStyleId>
              </a:tblPr>
              <a:tblGrid>
                <a:gridCol w="2160000"/>
                <a:gridCol w="6840000"/>
                <a:gridCol w="2160000"/>
              </a:tblGrid>
              <a:tr h="240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Critical/high</a:t>
                      </a:r>
                    </a:p>
                  </a:txBody>
                  <a:tcPr marL="43200" marR="43200" marT="21600" marB="21600" anchor="ctr">
                    <a:solidFill>
                      <a:srgbClr val="161A5C"/>
                    </a:solidFill>
                  </a:tcPr>
                </a:tc>
              </a:tr>
              <a:tr h="240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7</a:t>
                      </a:r>
                    </a:p>
                  </a:txBody>
                  <a:tcPr marL="43200" marR="43200" marT="21600" marB="21600" anchor="ctr">
                    <a:solidFill>
                      <a:srgbClr val="FFFFFF"/>
                    </a:solidFill>
                  </a:tcPr>
                </a:tc>
              </a:tr>
              <a:tr h="240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2</a:t>
                      </a:r>
                    </a:p>
                  </a:txBody>
                  <a:tcPr marL="43200" marR="43200" marT="21600" marB="21600" anchor="ctr">
                    <a:solidFill>
                      <a:srgbClr val="F1F3F8"/>
                    </a:solidFill>
                  </a:tcPr>
                </a:tc>
              </a:tr>
            </a:tbl>
          </a:graphicData>
        </a:graphic>
      </p:graphicFrame>
      <p:sp>
        <p:nvSpPr>
          <p:cNvPr id="1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8 of 25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The board is asked to make 1 decision; 4 items need management attention</a:t>
            </a:r>
          </a:p>
        </p:txBody>
      </p:sp>
      <p:sp>
        <p:nvSpPr>
          <p:cNvPr id="5" name="TextBox 4"/>
          <p:cNvSpPr txBox="1"/>
          <p:nvPr/>
        </p:nvSpPr>
        <p:spPr>
          <a:xfrm>
            <a:off x="648000" y="1620000"/>
            <a:ext cx="6120000" cy="3420000"/>
          </a:xfrm>
          <a:prstGeom prst="rect">
            <a:avLst/>
          </a:prstGeom>
          <a:solidFill>
            <a:srgbClr val="161A5C"/>
          </a:solidFill>
          <a:ln>
            <a:noFill/>
          </a:ln>
        </p:spPr>
        <p:txBody>
          <a:bodyPr wrap="square" anchor="t" lIns="43200" rIns="43200" tIns="25200" bIns="25200">
            <a:spAutoFit/>
          </a:bodyPr>
          <a:lstStyle/>
          <a:p>
            <a:pPr>
              <a:defRPr sz="1400" b="0">
                <a:solidFill>
                  <a:srgbClr val="FFFFFF"/>
                </a:solidFill>
                <a:latin typeface="Calibri"/>
              </a:defRPr>
            </a:pPr>
            <a:r>
              <a:t>Board decisions</a:t>
            </a:r>
          </a:p>
          <a:p>
            <a:pPr>
              <a:defRPr sz="1400" b="0">
                <a:solidFill>
                  <a:srgbClr val="FFFFFF"/>
                </a:solidFill>
                <a:latin typeface="Calibri"/>
              </a:defRPr>
            </a:pPr>
            <a:r>
              <a:t>1. Approve funding for a consent-management platform before the May 2027 DPDPA commencement.</a:t>
            </a:r>
          </a:p>
        </p:txBody>
      </p:sp>
      <p:graphicFrame>
        <p:nvGraphicFramePr>
          <p:cNvPr id="6" name="Native evidence table"/>
          <p:cNvGraphicFramePr>
            <a:graphicFrameLocks noGrp="1"/>
          </p:cNvGraphicFramePr>
          <p:nvPr/>
        </p:nvGraphicFramePr>
        <p:xfrm>
          <a:off x="7128000" y="1620000"/>
          <a:ext cx="4536000" cy="3420000"/>
        </p:xfrm>
        <a:graphic>
          <a:graphicData uri="http://schemas.openxmlformats.org/drawingml/2006/table">
            <a:tbl>
              <a:tblPr firstRow="1" bandRow="1">
                <a:tableStyleId>{5C22544A-7EE6-4342-B048-85BDC9FD1C3A}</a:tableStyleId>
              </a:tblPr>
              <a:tblGrid>
                <a:gridCol w="2808000"/>
                <a:gridCol w="1728000"/>
              </a:tblGrid>
              <a:tr h="488571">
                <a:tc>
                  <a:txBody>
                    <a:bodyPr/>
                    <a:lstStyle/>
                    <a:p>
                      <a:pPr>
                        <a:defRPr sz="900" b="1">
                          <a:solidFill>
                            <a:srgbClr val="FFFFFF"/>
                          </a:solidFill>
                          <a:latin typeface="Calibri"/>
                        </a:defRPr>
                      </a:pPr>
                      <a:r>
                        <a:t>Management attention</a:t>
                      </a:r>
                    </a:p>
                  </a:txBody>
                  <a:tcPr marL="43200" marR="43200" marT="21600" marB="21600" anchor="ctr">
                    <a:solidFill>
                      <a:srgbClr val="161A5C"/>
                    </a:solidFill>
                  </a:tcPr>
                </a:tc>
                <a:tc>
                  <a:txBody>
                    <a:bodyPr/>
                    <a:lstStyle/>
                    <a:p>
                      <a:pPr>
                        <a:defRPr sz="900" b="1">
                          <a:solidFill>
                            <a:srgbClr val="FFFFFF"/>
                          </a:solidFill>
                          <a:latin typeface="Calibri"/>
                        </a:defRPr>
                      </a:pPr>
                      <a:r>
                        <a:t>Count</a:t>
                      </a:r>
                    </a:p>
                  </a:txBody>
                  <a:tcPr marL="43200" marR="43200" marT="21600" marB="21600" anchor="ctr">
                    <a:solidFill>
                      <a:srgbClr val="161A5C"/>
                    </a:solidFill>
                  </a:tcPr>
                </a:tc>
              </a:tr>
              <a:tr h="488571">
                <a:tc>
                  <a:txBody>
                    <a:bodyPr/>
                    <a:lstStyle/>
                    <a:p>
                      <a:pPr>
                        <a:defRPr sz="900" b="0">
                          <a:solidFill>
                            <a:srgbClr val="0B0E26"/>
                          </a:solidFill>
                          <a:latin typeface="Calibri"/>
                        </a:defRPr>
                      </a:pPr>
                      <a:r>
                        <a:t>Overdue actions</a:t>
                      </a:r>
                    </a:p>
                  </a:txBody>
                  <a:tcPr marL="43200" marR="43200" marT="21600" marB="21600" anchor="ctr">
                    <a:solidFill>
                      <a:srgbClr val="FFFFFF"/>
                    </a:solidFill>
                  </a:tcPr>
                </a:tc>
                <a:tc>
                  <a:txBody>
                    <a:bodyPr/>
                    <a:lstStyle/>
                    <a:p>
                      <a:pPr>
                        <a:defRPr sz="900" b="0">
                          <a:solidFill>
                            <a:srgbClr val="0B0E26"/>
                          </a:solidFill>
                          <a:latin typeface="Calibri"/>
                        </a:defRPr>
                      </a:pPr>
                      <a:r>
                        <a:t>1</a:t>
                      </a:r>
                    </a:p>
                  </a:txBody>
                  <a:tcPr marL="43200" marR="43200" marT="21600" marB="21600" anchor="ctr">
                    <a:solidFill>
                      <a:srgbClr val="FFFFFF"/>
                    </a:solidFill>
                  </a:tcPr>
                </a:tc>
              </a:tr>
              <a:tr h="488571">
                <a:tc>
                  <a:txBody>
                    <a:bodyPr/>
                    <a:lstStyle/>
                    <a:p>
                      <a:pPr>
                        <a:defRPr sz="900" b="0">
                          <a:solidFill>
                            <a:srgbClr val="0B0E26"/>
                          </a:solidFill>
                          <a:latin typeface="Calibri"/>
                        </a:defRPr>
                      </a:pPr>
                      <a:r>
                        <a:t>Actions without owner</a:t>
                      </a:r>
                    </a:p>
                  </a:txBody>
                  <a:tcPr marL="43200" marR="43200" marT="21600" marB="21600" anchor="ctr">
                    <a:solidFill>
                      <a:srgbClr val="F1F3F8"/>
                    </a:solidFill>
                  </a:tcPr>
                </a:tc>
                <a:tc>
                  <a:txBody>
                    <a:bodyPr/>
                    <a:lstStyle/>
                    <a:p>
                      <a:pPr>
                        <a:defRPr sz="900" b="0">
                          <a:solidFill>
                            <a:srgbClr val="0B0E26"/>
                          </a:solidFill>
                          <a:latin typeface="Calibri"/>
                        </a:defRPr>
                      </a:pPr>
                      <a:r>
                        <a:t>1</a:t>
                      </a:r>
                    </a:p>
                  </a:txBody>
                  <a:tcPr marL="43200" marR="43200" marT="21600" marB="21600" anchor="ctr">
                    <a:solidFill>
                      <a:srgbClr val="F1F3F8"/>
                    </a:solidFill>
                  </a:tcPr>
                </a:tc>
              </a:tr>
              <a:tr h="488571">
                <a:tc>
                  <a:txBody>
                    <a:bodyPr/>
                    <a:lstStyle/>
                    <a:p>
                      <a:pPr>
                        <a:defRPr sz="900" b="0">
                          <a:solidFill>
                            <a:srgbClr val="0B0E26"/>
                          </a:solidFill>
                          <a:latin typeface="Calibri"/>
                        </a:defRPr>
                      </a:pPr>
                      <a:r>
                        <a:t>Requirements not concluded</a:t>
                      </a:r>
                    </a:p>
                  </a:txBody>
                  <a:tcPr marL="43200" marR="43200" marT="21600" marB="21600" anchor="ctr">
                    <a:solidFill>
                      <a:srgbClr val="FFFFFF"/>
                    </a:solidFill>
                  </a:tcPr>
                </a:tc>
                <a:tc>
                  <a:txBody>
                    <a:bodyPr/>
                    <a:lstStyle/>
                    <a:p>
                      <a:pPr>
                        <a:defRPr sz="900" b="0">
                          <a:solidFill>
                            <a:srgbClr val="0B0E26"/>
                          </a:solidFill>
                          <a:latin typeface="Calibri"/>
                        </a:defRPr>
                      </a:pPr>
                      <a:r>
                        <a:t>15</a:t>
                      </a:r>
                    </a:p>
                  </a:txBody>
                  <a:tcPr marL="43200" marR="43200" marT="21600" marB="21600" anchor="ctr">
                    <a:solidFill>
                      <a:srgbClr val="FFFFFF"/>
                    </a:solidFill>
                  </a:tcPr>
                </a:tc>
              </a:tr>
              <a:tr h="488571">
                <a:tc>
                  <a:txBody>
                    <a:bodyPr/>
                    <a:lstStyle/>
                    <a:p>
                      <a:pPr>
                        <a:defRPr sz="900" b="0">
                          <a:solidFill>
                            <a:srgbClr val="0B0E26"/>
                          </a:solidFill>
                          <a:latin typeface="Calibri"/>
                        </a:defRPr>
                      </a:pPr>
                      <a:r>
                        <a:t>Derived ask</a:t>
                      </a:r>
                    </a:p>
                  </a:txBody>
                  <a:tcPr marL="43200" marR="43200" marT="21600" marB="21600" anchor="ctr">
                    <a:solidFill>
                      <a:srgbClr val="F1F3F8"/>
                    </a:solidFill>
                  </a:tcPr>
                </a:tc>
                <a:tc>
                  <a:txBody>
                    <a:bodyPr/>
                    <a:lstStyle/>
                    <a:p>
                      <a:pPr>
                        <a:defRPr sz="900" b="0">
                          <a:solidFill>
                            <a:srgbClr val="0B0E26"/>
                          </a:solidFill>
                          <a:latin typeface="Calibri"/>
                        </a:defRPr>
                      </a:pPr>
                      <a:r>
                        <a:t>1 remediation action(s) past their target date.</a:t>
                      </a:r>
                    </a:p>
                  </a:txBody>
                  <a:tcPr marL="43200" marR="43200" marT="21600" marB="21600" anchor="ctr">
                    <a:solidFill>
                      <a:srgbClr val="F1F3F8"/>
                    </a:solidFill>
                  </a:tcPr>
                </a:tc>
              </a:tr>
              <a:tr h="488571">
                <a:tc>
                  <a:txBody>
                    <a:bodyPr/>
                    <a:lstStyle/>
                    <a:p>
                      <a:pPr>
                        <a:defRPr sz="900" b="0">
                          <a:solidFill>
                            <a:srgbClr val="0B0E26"/>
                          </a:solidFill>
                          <a:latin typeface="Calibri"/>
                        </a:defRPr>
                      </a:pPr>
                      <a:r>
                        <a:t>Derived ask</a:t>
                      </a:r>
                    </a:p>
                  </a:txBody>
                  <a:tcPr marL="43200" marR="43200" marT="21600" marB="21600" anchor="ctr">
                    <a:solidFill>
                      <a:srgbClr val="FFFFFF"/>
                    </a:solidFill>
                  </a:tcPr>
                </a:tc>
                <a:tc>
                  <a:txBody>
                    <a:bodyPr/>
                    <a:lstStyle/>
                    <a:p>
                      <a:pPr>
                        <a:defRPr sz="900" b="0">
                          <a:solidFill>
                            <a:srgbClr val="0B0E26"/>
                          </a:solidFill>
                          <a:latin typeface="Calibri"/>
                        </a:defRPr>
                      </a:pPr>
                      <a:r>
                        <a:t>1 action(s) on critical or high findings have no owner.</a:t>
                      </a:r>
                    </a:p>
                  </a:txBody>
                  <a:tcPr marL="43200" marR="43200" marT="21600" marB="21600" anchor="ctr">
                    <a:solidFill>
                      <a:srgbClr val="FFFFFF"/>
                    </a:solidFill>
                  </a:tcPr>
                </a:tc>
              </a:tr>
              <a:tr h="488574">
                <a:tc>
                  <a:txBody>
                    <a:bodyPr/>
                    <a:lstStyle/>
                    <a:p>
                      <a:pPr>
                        <a:defRPr sz="900" b="0">
                          <a:solidFill>
                            <a:srgbClr val="0B0E26"/>
                          </a:solidFill>
                          <a:latin typeface="Calibri"/>
                        </a:defRPr>
                      </a:pPr>
                      <a:r>
                        <a:t>Derived ask</a:t>
                      </a:r>
                    </a:p>
                  </a:txBody>
                  <a:tcPr marL="43200" marR="43200" marT="21600" marB="21600" anchor="ctr">
                    <a:solidFill>
                      <a:srgbClr val="F1F3F8"/>
                    </a:solidFill>
                  </a:tcPr>
                </a:tc>
                <a:tc>
                  <a:txBody>
                    <a:bodyPr/>
                    <a:lstStyle/>
                    <a:p>
                      <a:pPr>
                        <a:defRPr sz="900" b="0">
                          <a:solidFill>
                            <a:srgbClr val="0B0E26"/>
                          </a:solidFill>
                          <a:latin typeface="Calibri"/>
                        </a:defRPr>
                      </a:pPr>
                      <a:r>
                        <a:t>1 action(s) have no target date.</a:t>
                      </a:r>
                    </a:p>
                  </a:txBody>
                  <a:tcPr marL="43200" marR="43200" marT="21600" marB="21600" anchor="ctr">
                    <a:solidFill>
                      <a:srgbClr val="F1F3F8"/>
                    </a:solidFill>
                  </a:tcPr>
                </a:tc>
              </a:tr>
            </a:tbl>
          </a:graphicData>
        </a:graphic>
      </p:graphicFrame>
      <p:sp>
        <p:nvSpPr>
          <p:cNvPr id="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9 of 25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Key observations (1 of 1)</a:t>
            </a:r>
          </a:p>
        </p:txBody>
      </p:sp>
      <p:graphicFrame>
        <p:nvGraphicFramePr>
          <p:cNvPr id="5" name="Native evidence table"/>
          <p:cNvGraphicFramePr>
            <a:graphicFrameLocks noGrp="1"/>
          </p:cNvGraphicFramePr>
          <p:nvPr/>
        </p:nvGraphicFramePr>
        <p:xfrm>
          <a:off x="504000" y="1728000"/>
          <a:ext cx="11160000" cy="4392000"/>
        </p:xfrm>
        <a:graphic>
          <a:graphicData uri="http://schemas.openxmlformats.org/drawingml/2006/table">
            <a:tbl>
              <a:tblPr firstRow="1" bandRow="1">
                <a:tableStyleId>{5C22544A-7EE6-4342-B048-85BDC9FD1C3A}</a:tableStyleId>
              </a:tblPr>
              <a:tblGrid>
                <a:gridCol w="648000"/>
                <a:gridCol w="1728000"/>
                <a:gridCol w="2340000"/>
                <a:gridCol w="1980000"/>
                <a:gridCol w="864000"/>
                <a:gridCol w="3600000"/>
              </a:tblGrid>
              <a:tr h="1098000">
                <a:tc>
                  <a:txBody>
                    <a:bodyPr/>
                    <a:lstStyle/>
                    <a:p>
                      <a:pPr>
                        <a:defRPr sz="900" b="1">
                          <a:solidFill>
                            <a:srgbClr val="FFFFFF"/>
                          </a:solidFill>
                          <a:latin typeface="Calibri"/>
                        </a:defRPr>
                      </a:pPr>
                      <a:r>
                        <a:t>Ref</a:t>
                      </a:r>
                    </a:p>
                  </a:txBody>
                  <a:tcPr marL="43200" marR="43200" marT="21600" marB="21600" anchor="ctr">
                    <a:solidFill>
                      <a:srgbClr val="161A5C"/>
                    </a:solidFill>
                  </a:tcPr>
                </a:tc>
                <a:tc>
                  <a:txBody>
                    <a:bodyPr/>
                    <a:lstStyle/>
                    <a:p>
                      <a:pPr>
                        <a:defRPr sz="900" b="1">
                          <a:solidFill>
                            <a:srgbClr val="FFFFFF"/>
                          </a:solidFill>
                          <a:latin typeface="Calibri"/>
                        </a:defRPr>
                      </a:pPr>
                      <a:r>
                        <a:t>Domain / framework</a:t>
                      </a:r>
                    </a:p>
                  </a:txBody>
                  <a:tcPr marL="43200" marR="43200" marT="21600" marB="21600" anchor="ctr">
                    <a:solidFill>
                      <a:srgbClr val="161A5C"/>
                    </a:solidFill>
                  </a:tcPr>
                </a:tc>
                <a:tc>
                  <a:txBody>
                    <a:bodyPr/>
                    <a:lstStyle/>
                    <a:p>
                      <a:pPr>
                        <a:defRPr sz="900" b="1">
                          <a:solidFill>
                            <a:srgbClr val="FFFFFF"/>
                          </a:solidFill>
                          <a:latin typeface="Calibri"/>
                        </a:defRPr>
                      </a:pPr>
                      <a:r>
                        <a:t>Observation</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Rating</a:t>
                      </a:r>
                    </a:p>
                  </a:txBody>
                  <a:tcPr marL="43200" marR="43200" marT="21600" marB="21600" anchor="ctr">
                    <a:solidFill>
                      <a:srgbClr val="161A5C"/>
                    </a:solidFill>
                  </a:tcPr>
                </a:tc>
                <a:tc>
                  <a:txBody>
                    <a:bodyPr/>
                    <a:lstStyle/>
                    <a:p>
                      <a:pPr>
                        <a:defRPr sz="900" b="1">
                          <a:solidFill>
                            <a:srgbClr val="FFFFFF"/>
                          </a:solidFill>
                          <a:latin typeface="Calibri"/>
                        </a:defRPr>
                      </a:pPr>
                      <a:r>
                        <a:t>Recommendation</a:t>
                      </a:r>
                    </a:p>
                  </a:txBody>
                  <a:tcPr marL="43200" marR="43200" marT="21600" marB="21600" anchor="ctr">
                    <a:solidFill>
                      <a:srgbClr val="161A5C"/>
                    </a:solidFill>
                  </a:tcPr>
                </a:tc>
              </a:tr>
              <a:tr h="1098000">
                <a:tc>
                  <a:txBody>
                    <a:bodyPr/>
                    <a:lstStyle/>
                    <a:p>
                      <a:pPr>
                        <a:defRPr sz="900" b="0">
                          <a:solidFill>
                            <a:srgbClr val="0B0E26"/>
                          </a:solidFill>
                          <a:latin typeface="Calibri"/>
                        </a:defRPr>
                      </a:pPr>
                      <a:r>
                        <a:t>R-03</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Access rights are never reviewed</a:t>
                      </a:r>
                    </a:p>
                  </a:txBody>
                  <a:tcPr marL="43200" marR="43200" marT="21600" marB="21600" anchor="ctr">
                    <a:solidFill>
                      <a:srgbClr val="FFFFFF"/>
                    </a:solidFill>
                  </a:tcPr>
                </a:tc>
                <a:tc>
                  <a:txBody>
                    <a:bodyPr/>
                    <a:lstStyle/>
                    <a:p>
                      <a:pPr>
                        <a:defRPr sz="900" b="0">
                          <a:solidFill>
                            <a:srgbClr val="0B0E26"/>
                          </a:solidFill>
                          <a:latin typeface="Calibri"/>
                        </a:defRPr>
                      </a:pPr>
                      <a:r>
                        <a:t>Former staff and over-privileged users can reach customer data, the most common root cause of insider and credential-based breaches.</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Run quarterly access recertification for production and customer-data systems with manager sign-off. Disable leaver accounts within 24 hours through an HR-triggered workflow and keep review evidence.</a:t>
                      </a:r>
                    </a:p>
                  </a:txBody>
                  <a:tcPr marL="43200" marR="43200" marT="21600" marB="21600" anchor="ctr">
                    <a:solidFill>
                      <a:srgbClr val="FFFFFF"/>
                    </a:solidFill>
                  </a:tcPr>
                </a:tc>
              </a:tr>
              <a:tr h="1098000">
                <a:tc>
                  <a:txBody>
                    <a:bodyPr/>
                    <a:lstStyle/>
                    <a:p>
                      <a:pPr>
                        <a:defRPr sz="900" b="0">
                          <a:solidFill>
                            <a:srgbClr val="0B0E26"/>
                          </a:solidFill>
                          <a:latin typeface="Calibri"/>
                        </a:defRPr>
                      </a:pPr>
                      <a:r>
                        <a:t>R-04</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No defined cadence for patching technical vulnerabilities</a:t>
                      </a:r>
                    </a:p>
                  </a:txBody>
                  <a:tcPr marL="43200" marR="43200" marT="21600" marB="21600" anchor="ctr">
                    <a:solidFill>
                      <a:srgbClr val="F1F3F8"/>
                    </a:solidFill>
                  </a:tcPr>
                </a:tc>
                <a:tc>
                  <a:txBody>
                    <a:bodyPr/>
                    <a:lstStyle/>
                    <a:p>
                      <a:pPr>
                        <a:defRPr sz="900" b="0">
                          <a:solidFill>
                            <a:srgbClr val="0B0E26"/>
                          </a:solidFill>
                          <a:latin typeface="Calibri"/>
                        </a:defRPr>
                      </a:pPr>
                      <a:r>
                        <a:t>Known, exploitable weaknesses on public systems are the leading entry point for ransomware.</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Adopt patch SLAs by severity (critical 15 days, high 30 days), scan internet-facing assets weekly, and report open critical vulnerabilities to the risk committee monthly.</a:t>
                      </a:r>
                    </a:p>
                  </a:txBody>
                  <a:tcPr marL="43200" marR="43200" marT="21600" marB="21600" anchor="ctr">
                    <a:solidFill>
                      <a:srgbClr val="F1F3F8"/>
                    </a:solidFill>
                  </a:tcPr>
                </a:tc>
              </a:tr>
              <a:tr h="1098000">
                <a:tc>
                  <a:txBody>
                    <a:bodyPr/>
                    <a:lstStyle/>
                    <a:p>
                      <a:pPr>
                        <a:defRPr sz="900" b="0">
                          <a:solidFill>
                            <a:srgbClr val="0B0E26"/>
                          </a:solidFill>
                          <a:latin typeface="Calibri"/>
                        </a:defRPr>
                      </a:pPr>
                      <a:r>
                        <a:t>R-07</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Supplier security is not assessed before onboarding</a:t>
                      </a:r>
                    </a:p>
                  </a:txBody>
                  <a:tcPr marL="43200" marR="43200" marT="21600" marB="21600" anchor="ctr">
                    <a:solidFill>
                      <a:srgbClr val="FFFFFF"/>
                    </a:solidFill>
                  </a:tcPr>
                </a:tc>
                <a:tc>
                  <a:txBody>
                    <a:bodyPr/>
                    <a:lstStyle/>
                    <a:p>
                      <a:pPr>
                        <a:defRPr sz="900" b="0">
                          <a:solidFill>
                            <a:srgbClr val="0B0E26"/>
                          </a:solidFill>
                          <a:latin typeface="Calibri"/>
                        </a:defRPr>
                      </a:pPr>
                      <a:r>
                        <a:t>Third-party compromise cannot be anticipated or contracted against.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Tier suppliers by data access, assess tier-1 suppliers before onboarding and annually, and record the risk decision in the supplier register.</a:t>
                      </a:r>
                    </a:p>
                  </a:txBody>
                  <a:tcPr marL="43200" marR="43200" marT="21600" marB="21600" anchor="ctr">
                    <a:solidFill>
                      <a:srgbClr val="FFFFFF"/>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10 of 25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2 of 3 initiatives fall in the next 90 days; 1 is already overdue</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8 initiative(s) cover 10 of 10 key observations; 2 close a weakness once across more than one framework.</a:t>
            </a:r>
          </a:p>
        </p:txBody>
      </p:sp>
      <p:sp>
        <p:nvSpPr>
          <p:cNvPr id="6" name="Roadmap horizon header"/>
          <p:cNvSpPr/>
          <p:nvPr/>
        </p:nvSpPr>
        <p:spPr>
          <a:xfrm>
            <a:off x="1512000" y="1728000"/>
            <a:ext cx="3348000" cy="360000"/>
          </a:xfrm>
          <a:prstGeom prst="rect">
            <a:avLst/>
          </a:prstGeom>
          <a:solidFill>
            <a:srgbClr val="CFD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48000" y="1756800"/>
            <a:ext cx="3276000" cy="288000"/>
          </a:xfrm>
          <a:prstGeom prst="rect">
            <a:avLst/>
          </a:prstGeom>
          <a:noFill/>
          <a:ln>
            <a:noFill/>
          </a:ln>
        </p:spPr>
        <p:txBody>
          <a:bodyPr wrap="square" anchor="t" lIns="43200" rIns="43200" tIns="25200" bIns="25200">
            <a:spAutoFit/>
          </a:bodyPr>
          <a:lstStyle/>
          <a:p>
            <a:pPr>
              <a:defRPr sz="900" b="1">
                <a:solidFill>
                  <a:srgbClr val="161A5C"/>
                </a:solidFill>
                <a:latin typeface="Calibri"/>
              </a:defRPr>
            </a:pPr>
            <a:r>
              <a:t>Short term</a:t>
            </a:r>
          </a:p>
          <a:p>
            <a:pPr>
              <a:defRPr sz="900" b="1">
                <a:solidFill>
                  <a:srgbClr val="161A5C"/>
                </a:solidFill>
                <a:latin typeface="Calibri"/>
              </a:defRPr>
            </a:pPr>
            <a:r>
              <a:t>within 90 days</a:t>
            </a:r>
          </a:p>
        </p:txBody>
      </p:sp>
      <p:sp>
        <p:nvSpPr>
          <p:cNvPr id="8" name="Roadmap horizon header"/>
          <p:cNvSpPr/>
          <p:nvPr/>
        </p:nvSpPr>
        <p:spPr>
          <a:xfrm>
            <a:off x="4896000" y="1728000"/>
            <a:ext cx="3348000" cy="360000"/>
          </a:xfrm>
          <a:prstGeom prst="rect">
            <a:avLst/>
          </a:prstGeom>
          <a:solidFill>
            <a:srgbClr val="CFD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932000" y="1756800"/>
            <a:ext cx="3276000" cy="288000"/>
          </a:xfrm>
          <a:prstGeom prst="rect">
            <a:avLst/>
          </a:prstGeom>
          <a:noFill/>
          <a:ln>
            <a:noFill/>
          </a:ln>
        </p:spPr>
        <p:txBody>
          <a:bodyPr wrap="square" anchor="t" lIns="43200" rIns="43200" tIns="25200" bIns="25200">
            <a:spAutoFit/>
          </a:bodyPr>
          <a:lstStyle/>
          <a:p>
            <a:pPr>
              <a:defRPr sz="900" b="1">
                <a:solidFill>
                  <a:srgbClr val="161A5C"/>
                </a:solidFill>
                <a:latin typeface="Calibri"/>
              </a:defRPr>
            </a:pPr>
            <a:r>
              <a:t>Medium term</a:t>
            </a:r>
          </a:p>
          <a:p>
            <a:pPr>
              <a:defRPr sz="900" b="1">
                <a:solidFill>
                  <a:srgbClr val="161A5C"/>
                </a:solidFill>
                <a:latin typeface="Calibri"/>
              </a:defRPr>
            </a:pPr>
            <a:r>
              <a:t>91 to 180 days</a:t>
            </a:r>
          </a:p>
        </p:txBody>
      </p:sp>
      <p:sp>
        <p:nvSpPr>
          <p:cNvPr id="10" name="Roadmap horizon header"/>
          <p:cNvSpPr/>
          <p:nvPr/>
        </p:nvSpPr>
        <p:spPr>
          <a:xfrm>
            <a:off x="8280000" y="1728000"/>
            <a:ext cx="3348000" cy="360000"/>
          </a:xfrm>
          <a:prstGeom prst="rect">
            <a:avLst/>
          </a:prstGeom>
          <a:solidFill>
            <a:srgbClr val="CFD6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16000" y="1756800"/>
            <a:ext cx="3276000" cy="288000"/>
          </a:xfrm>
          <a:prstGeom prst="rect">
            <a:avLst/>
          </a:prstGeom>
          <a:noFill/>
          <a:ln>
            <a:noFill/>
          </a:ln>
        </p:spPr>
        <p:txBody>
          <a:bodyPr wrap="square" anchor="t" lIns="43200" rIns="43200" tIns="25200" bIns="25200">
            <a:spAutoFit/>
          </a:bodyPr>
          <a:lstStyle/>
          <a:p>
            <a:pPr>
              <a:defRPr sz="900" b="1">
                <a:solidFill>
                  <a:srgbClr val="161A5C"/>
                </a:solidFill>
                <a:latin typeface="Calibri"/>
              </a:defRPr>
            </a:pPr>
            <a:r>
              <a:t>Long term</a:t>
            </a:r>
          </a:p>
          <a:p>
            <a:pPr>
              <a:defRPr sz="900" b="1">
                <a:solidFill>
                  <a:srgbClr val="161A5C"/>
                </a:solidFill>
                <a:latin typeface="Calibri"/>
              </a:defRPr>
            </a:pPr>
            <a:r>
              <a:t>after 180 days</a:t>
            </a:r>
          </a:p>
        </p:txBody>
      </p:sp>
      <p:sp>
        <p:nvSpPr>
          <p:cNvPr id="12" name="Roadmap responsibility lane"/>
          <p:cNvSpPr/>
          <p:nvPr/>
        </p:nvSpPr>
        <p:spPr>
          <a:xfrm>
            <a:off x="504000" y="2160000"/>
            <a:ext cx="972000" cy="1152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0000" y="2376000"/>
            <a:ext cx="864000" cy="360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Client</a:t>
            </a:r>
          </a:p>
        </p:txBody>
      </p:sp>
      <p:sp>
        <p:nvSpPr>
          <p:cNvPr id="14" name="Roadmap lane cell"/>
          <p:cNvSpPr/>
          <p:nvPr/>
        </p:nvSpPr>
        <p:spPr>
          <a:xfrm>
            <a:off x="1512000" y="2160000"/>
            <a:ext cx="3348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admap initiative"/>
          <p:cNvSpPr/>
          <p:nvPr/>
        </p:nvSpPr>
        <p:spPr>
          <a:xfrm>
            <a:off x="1584000" y="2232000"/>
            <a:ext cx="3204000" cy="270000"/>
          </a:xfrm>
          <a:prstGeom prst="rect">
            <a:avLst/>
          </a:prstGeom>
          <a:solidFill>
            <a:srgbClr val="FFFFFF"/>
          </a:solidFill>
          <a:ln w="7620">
            <a:solidFill>
              <a:srgbClr val="9B1C1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20000" y="2250000"/>
            <a:ext cx="3132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I-1  Establish role-based access and quarterly recertification</a:t>
            </a:r>
          </a:p>
        </p:txBody>
      </p:sp>
      <p:sp>
        <p:nvSpPr>
          <p:cNvPr id="17" name="Roadmap initiative"/>
          <p:cNvSpPr/>
          <p:nvPr/>
        </p:nvSpPr>
        <p:spPr>
          <a:xfrm>
            <a:off x="1584000" y="2556000"/>
            <a:ext cx="3204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0000" y="2574000"/>
            <a:ext cx="3132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I-3  Introduce risk-based patch SLAs with board reporting</a:t>
            </a:r>
          </a:p>
        </p:txBody>
      </p:sp>
      <p:sp>
        <p:nvSpPr>
          <p:cNvPr id="19" name="Roadmap lane cell"/>
          <p:cNvSpPr/>
          <p:nvPr/>
        </p:nvSpPr>
        <p:spPr>
          <a:xfrm>
            <a:off x="4896000" y="2160000"/>
            <a:ext cx="3348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admap lane cell"/>
          <p:cNvSpPr/>
          <p:nvPr/>
        </p:nvSpPr>
        <p:spPr>
          <a:xfrm>
            <a:off x="8280000" y="2160000"/>
            <a:ext cx="3348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admap responsibility lane"/>
          <p:cNvSpPr/>
          <p:nvPr/>
        </p:nvSpPr>
        <p:spPr>
          <a:xfrm>
            <a:off x="504000" y="3384000"/>
            <a:ext cx="972000" cy="1152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0000" y="3600000"/>
            <a:ext cx="864000" cy="360000"/>
          </a:xfrm>
          <a:prstGeom prst="rect">
            <a:avLst/>
          </a:prstGeom>
          <a:noFill/>
          <a:ln>
            <a:noFill/>
          </a:ln>
        </p:spPr>
        <p:txBody>
          <a:bodyPr wrap="square" anchor="t" lIns="43200" rIns="43200" tIns="25200" bIns="25200">
            <a:spAutoFit/>
          </a:bodyPr>
          <a:lstStyle/>
          <a:p>
            <a:pPr>
              <a:defRPr sz="1100" b="1">
                <a:solidFill>
                  <a:srgbClr val="FFFFFF"/>
                </a:solidFill>
                <a:latin typeface="Calibri"/>
              </a:defRPr>
            </a:pPr>
            <a:r>
              <a:t>Shared</a:t>
            </a:r>
          </a:p>
        </p:txBody>
      </p:sp>
      <p:sp>
        <p:nvSpPr>
          <p:cNvPr id="23" name="Roadmap lane cell"/>
          <p:cNvSpPr/>
          <p:nvPr/>
        </p:nvSpPr>
        <p:spPr>
          <a:xfrm>
            <a:off x="1512000" y="3384000"/>
            <a:ext cx="3348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admap lane cell"/>
          <p:cNvSpPr/>
          <p:nvPr/>
        </p:nvSpPr>
        <p:spPr>
          <a:xfrm>
            <a:off x="4896000" y="3384000"/>
            <a:ext cx="3348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admap initiative"/>
          <p:cNvSpPr/>
          <p:nvPr/>
        </p:nvSpPr>
        <p:spPr>
          <a:xfrm>
            <a:off x="4968000" y="3456000"/>
            <a:ext cx="3204000" cy="270000"/>
          </a:xfrm>
          <a:prstGeom prst="rect">
            <a:avLst/>
          </a:prstGeom>
          <a:solidFill>
            <a:srgbClr val="FFFFFF"/>
          </a:solidFill>
          <a:ln w="7620">
            <a:solidFill>
              <a:srgbClr val="2D3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04000" y="3474000"/>
            <a:ext cx="3132000" cy="234000"/>
          </a:xfrm>
          <a:prstGeom prst="rect">
            <a:avLst/>
          </a:prstGeom>
          <a:noFill/>
          <a:ln>
            <a:noFill/>
          </a:ln>
        </p:spPr>
        <p:txBody>
          <a:bodyPr wrap="square" anchor="t" lIns="43200" rIns="43200" tIns="25200" bIns="25200">
            <a:spAutoFit/>
          </a:bodyPr>
          <a:lstStyle/>
          <a:p>
            <a:pPr>
              <a:defRPr sz="900" b="1">
                <a:solidFill>
                  <a:srgbClr val="0B0E26"/>
                </a:solidFill>
                <a:latin typeface="Calibri"/>
              </a:defRPr>
            </a:pPr>
            <a:r>
              <a:t>I-5  Contract and assess processors and suppliers</a:t>
            </a:r>
          </a:p>
        </p:txBody>
      </p:sp>
      <p:sp>
        <p:nvSpPr>
          <p:cNvPr id="27" name="Roadmap lane cell"/>
          <p:cNvSpPr/>
          <p:nvPr/>
        </p:nvSpPr>
        <p:spPr>
          <a:xfrm>
            <a:off x="8280000" y="3384000"/>
            <a:ext cx="3348000" cy="1152000"/>
          </a:xfrm>
          <a:prstGeom prst="rect">
            <a:avLst/>
          </a:prstGeom>
          <a:solidFill>
            <a:srgbClr val="F1F3F8"/>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30"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11 of 25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No quick wins: all 2 high-benefit initiatives need medium or high effort</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Each initiative is placed by the effort it needs and the exposure it removes. Top left is where to start.</a:t>
            </a:r>
          </a:p>
        </p:txBody>
      </p:sp>
      <p:sp>
        <p:nvSpPr>
          <p:cNvPr id="6" name="TextBox 5"/>
          <p:cNvSpPr txBox="1"/>
          <p:nvPr/>
        </p:nvSpPr>
        <p:spPr>
          <a:xfrm>
            <a:off x="504000" y="3096000"/>
            <a:ext cx="360000" cy="432000"/>
          </a:xfrm>
          <a:prstGeom prst="rect">
            <a:avLst/>
          </a:prstGeom>
          <a:noFill/>
          <a:ln>
            <a:noFill/>
          </a:ln>
        </p:spPr>
        <p:txBody>
          <a:bodyPr wrap="square" anchor="t" lIns="43200" rIns="43200" tIns="25200" bIns="25200">
            <a:spAutoFit/>
          </a:bodyPr>
          <a:lstStyle/>
          <a:p>
            <a:pPr algn="ctr">
              <a:defRPr sz="1100" b="1">
                <a:solidFill>
                  <a:srgbClr val="626984"/>
                </a:solidFill>
                <a:latin typeface="Calibri"/>
              </a:defRPr>
            </a:pPr>
            <a:r>
              <a:t>Benefit</a:t>
            </a:r>
          </a:p>
        </p:txBody>
      </p:sp>
      <p:sp>
        <p:nvSpPr>
          <p:cNvPr id="7" name="TextBox 6"/>
          <p:cNvSpPr txBox="1"/>
          <p:nvPr/>
        </p:nvSpPr>
        <p:spPr>
          <a:xfrm>
            <a:off x="504000" y="2160000"/>
            <a:ext cx="360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High</a:t>
            </a:r>
          </a:p>
        </p:txBody>
      </p:sp>
      <p:sp>
        <p:nvSpPr>
          <p:cNvPr id="8" name="Effort benefit matrix cell"/>
          <p:cNvSpPr/>
          <p:nvPr/>
        </p:nvSpPr>
        <p:spPr>
          <a:xfrm>
            <a:off x="900000" y="1872000"/>
            <a:ext cx="1296000" cy="900000"/>
          </a:xfrm>
          <a:prstGeom prst="rect">
            <a:avLst/>
          </a:prstGeom>
          <a:solidFill>
            <a:srgbClr val="E3F4F2"/>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2000" y="1944000"/>
            <a:ext cx="1152000" cy="216000"/>
          </a:xfrm>
          <a:prstGeom prst="rect">
            <a:avLst/>
          </a:prstGeom>
          <a:noFill/>
          <a:ln>
            <a:noFill/>
          </a:ln>
        </p:spPr>
        <p:txBody>
          <a:bodyPr wrap="square" anchor="t" lIns="43200" rIns="43200" tIns="25200" bIns="25200">
            <a:spAutoFit/>
          </a:bodyPr>
          <a:lstStyle/>
          <a:p>
            <a:pPr>
              <a:defRPr sz="900" b="1">
                <a:solidFill>
                  <a:srgbClr val="626984"/>
                </a:solidFill>
                <a:latin typeface="Calibri"/>
              </a:defRPr>
            </a:pPr>
            <a:r>
              <a:t>Quick wins</a:t>
            </a:r>
          </a:p>
        </p:txBody>
      </p:sp>
      <p:sp>
        <p:nvSpPr>
          <p:cNvPr id="10" name="Effort benefit matrix cell"/>
          <p:cNvSpPr/>
          <p:nvPr/>
        </p:nvSpPr>
        <p:spPr>
          <a:xfrm>
            <a:off x="2268000" y="1872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40000" y="2232000"/>
            <a:ext cx="1152000" cy="43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I-3</a:t>
            </a:r>
          </a:p>
        </p:txBody>
      </p:sp>
      <p:sp>
        <p:nvSpPr>
          <p:cNvPr id="12" name="Effort benefit matrix cell"/>
          <p:cNvSpPr/>
          <p:nvPr/>
        </p:nvSpPr>
        <p:spPr>
          <a:xfrm>
            <a:off x="3636000" y="1872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08000" y="1944000"/>
            <a:ext cx="1152000" cy="216000"/>
          </a:xfrm>
          <a:prstGeom prst="rect">
            <a:avLst/>
          </a:prstGeom>
          <a:noFill/>
          <a:ln>
            <a:noFill/>
          </a:ln>
        </p:spPr>
        <p:txBody>
          <a:bodyPr wrap="square" anchor="t" lIns="43200" rIns="43200" tIns="25200" bIns="25200">
            <a:spAutoFit/>
          </a:bodyPr>
          <a:lstStyle/>
          <a:p>
            <a:pPr>
              <a:defRPr sz="900" b="1">
                <a:solidFill>
                  <a:srgbClr val="626984"/>
                </a:solidFill>
                <a:latin typeface="Calibri"/>
              </a:defRPr>
            </a:pPr>
            <a:r>
              <a:t>Big bets</a:t>
            </a:r>
          </a:p>
        </p:txBody>
      </p:sp>
      <p:sp>
        <p:nvSpPr>
          <p:cNvPr id="14" name="TextBox 13"/>
          <p:cNvSpPr txBox="1"/>
          <p:nvPr/>
        </p:nvSpPr>
        <p:spPr>
          <a:xfrm>
            <a:off x="3708000" y="2232000"/>
            <a:ext cx="1152000" cy="43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I-1</a:t>
            </a:r>
          </a:p>
        </p:txBody>
      </p:sp>
      <p:sp>
        <p:nvSpPr>
          <p:cNvPr id="15" name="TextBox 14"/>
          <p:cNvSpPr txBox="1"/>
          <p:nvPr/>
        </p:nvSpPr>
        <p:spPr>
          <a:xfrm>
            <a:off x="504000" y="3132000"/>
            <a:ext cx="360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Medium</a:t>
            </a:r>
          </a:p>
        </p:txBody>
      </p:sp>
      <p:sp>
        <p:nvSpPr>
          <p:cNvPr id="16" name="Effort benefit matrix cell"/>
          <p:cNvSpPr/>
          <p:nvPr/>
        </p:nvSpPr>
        <p:spPr>
          <a:xfrm>
            <a:off x="900000" y="2844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Effort benefit matrix cell"/>
          <p:cNvSpPr/>
          <p:nvPr/>
        </p:nvSpPr>
        <p:spPr>
          <a:xfrm>
            <a:off x="2268000" y="2844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40000" y="3204000"/>
            <a:ext cx="1152000" cy="43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I-5</a:t>
            </a:r>
          </a:p>
        </p:txBody>
      </p:sp>
      <p:sp>
        <p:nvSpPr>
          <p:cNvPr id="19" name="Effort benefit matrix cell"/>
          <p:cNvSpPr/>
          <p:nvPr/>
        </p:nvSpPr>
        <p:spPr>
          <a:xfrm>
            <a:off x="3636000" y="2844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4000" y="4104000"/>
            <a:ext cx="360000" cy="288000"/>
          </a:xfrm>
          <a:prstGeom prst="rect">
            <a:avLst/>
          </a:prstGeom>
          <a:noFill/>
          <a:ln>
            <a:noFill/>
          </a:ln>
        </p:spPr>
        <p:txBody>
          <a:bodyPr wrap="square" anchor="t" lIns="43200" rIns="43200" tIns="25200" bIns="25200">
            <a:spAutoFit/>
          </a:bodyPr>
          <a:lstStyle/>
          <a:p>
            <a:pPr algn="r">
              <a:defRPr sz="1000" b="1">
                <a:solidFill>
                  <a:srgbClr val="626984"/>
                </a:solidFill>
                <a:latin typeface="Calibri"/>
              </a:defRPr>
            </a:pPr>
            <a:r>
              <a:t>Low</a:t>
            </a:r>
          </a:p>
        </p:txBody>
      </p:sp>
      <p:sp>
        <p:nvSpPr>
          <p:cNvPr id="21" name="Effort benefit matrix cell"/>
          <p:cNvSpPr/>
          <p:nvPr/>
        </p:nvSpPr>
        <p:spPr>
          <a:xfrm>
            <a:off x="900000" y="3816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2000" y="3888000"/>
            <a:ext cx="1152000" cy="216000"/>
          </a:xfrm>
          <a:prstGeom prst="rect">
            <a:avLst/>
          </a:prstGeom>
          <a:noFill/>
          <a:ln>
            <a:noFill/>
          </a:ln>
        </p:spPr>
        <p:txBody>
          <a:bodyPr wrap="square" anchor="t" lIns="43200" rIns="43200" tIns="25200" bIns="25200">
            <a:spAutoFit/>
          </a:bodyPr>
          <a:lstStyle/>
          <a:p>
            <a:pPr>
              <a:defRPr sz="900" b="1">
                <a:solidFill>
                  <a:srgbClr val="626984"/>
                </a:solidFill>
                <a:latin typeface="Calibri"/>
              </a:defRPr>
            </a:pPr>
            <a:r>
              <a:t>Fill-ins</a:t>
            </a:r>
          </a:p>
        </p:txBody>
      </p:sp>
      <p:sp>
        <p:nvSpPr>
          <p:cNvPr id="23" name="Effort benefit matrix cell"/>
          <p:cNvSpPr/>
          <p:nvPr/>
        </p:nvSpPr>
        <p:spPr>
          <a:xfrm>
            <a:off x="2268000" y="3816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Effort benefit matrix cell"/>
          <p:cNvSpPr/>
          <p:nvPr/>
        </p:nvSpPr>
        <p:spPr>
          <a:xfrm>
            <a:off x="3636000" y="3816000"/>
            <a:ext cx="1296000" cy="900000"/>
          </a:xfrm>
          <a:prstGeom prst="rect">
            <a:avLst/>
          </a:prstGeom>
          <a:solidFill>
            <a:srgbClr val="F1F3F8"/>
          </a:solidFill>
          <a:ln w="7620">
            <a:solidFill>
              <a:srgbClr val="DD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08000" y="3888000"/>
            <a:ext cx="1152000" cy="216000"/>
          </a:xfrm>
          <a:prstGeom prst="rect">
            <a:avLst/>
          </a:prstGeom>
          <a:noFill/>
          <a:ln>
            <a:noFill/>
          </a:ln>
        </p:spPr>
        <p:txBody>
          <a:bodyPr wrap="square" anchor="t" lIns="43200" rIns="43200" tIns="25200" bIns="25200">
            <a:spAutoFit/>
          </a:bodyPr>
          <a:lstStyle/>
          <a:p>
            <a:pPr>
              <a:defRPr sz="900" b="1">
                <a:solidFill>
                  <a:srgbClr val="626984"/>
                </a:solidFill>
                <a:latin typeface="Calibri"/>
              </a:defRPr>
            </a:pPr>
            <a:r>
              <a:t>Reconsider</a:t>
            </a:r>
          </a:p>
        </p:txBody>
      </p:sp>
      <p:sp>
        <p:nvSpPr>
          <p:cNvPr id="26" name="TextBox 25"/>
          <p:cNvSpPr txBox="1"/>
          <p:nvPr/>
        </p:nvSpPr>
        <p:spPr>
          <a:xfrm>
            <a:off x="900000" y="4824000"/>
            <a:ext cx="1296000" cy="288000"/>
          </a:xfrm>
          <a:prstGeom prst="rect">
            <a:avLst/>
          </a:prstGeom>
          <a:noFill/>
          <a:ln>
            <a:noFill/>
          </a:ln>
        </p:spPr>
        <p:txBody>
          <a:bodyPr wrap="square" anchor="t" lIns="43200" rIns="43200" tIns="25200" bIns="25200">
            <a:spAutoFit/>
          </a:bodyPr>
          <a:lstStyle/>
          <a:p>
            <a:pPr algn="ctr">
              <a:defRPr sz="1000" b="1">
                <a:solidFill>
                  <a:srgbClr val="626984"/>
                </a:solidFill>
                <a:latin typeface="Calibri"/>
              </a:defRPr>
            </a:pPr>
            <a:r>
              <a:t>Low effort</a:t>
            </a:r>
          </a:p>
        </p:txBody>
      </p:sp>
      <p:sp>
        <p:nvSpPr>
          <p:cNvPr id="27" name="TextBox 26"/>
          <p:cNvSpPr txBox="1"/>
          <p:nvPr/>
        </p:nvSpPr>
        <p:spPr>
          <a:xfrm>
            <a:off x="2268000" y="4824000"/>
            <a:ext cx="1296000" cy="288000"/>
          </a:xfrm>
          <a:prstGeom prst="rect">
            <a:avLst/>
          </a:prstGeom>
          <a:noFill/>
          <a:ln>
            <a:noFill/>
          </a:ln>
        </p:spPr>
        <p:txBody>
          <a:bodyPr wrap="square" anchor="t" lIns="43200" rIns="43200" tIns="25200" bIns="25200">
            <a:spAutoFit/>
          </a:bodyPr>
          <a:lstStyle/>
          <a:p>
            <a:pPr algn="ctr">
              <a:defRPr sz="1000" b="1">
                <a:solidFill>
                  <a:srgbClr val="626984"/>
                </a:solidFill>
                <a:latin typeface="Calibri"/>
              </a:defRPr>
            </a:pPr>
            <a:r>
              <a:t>Medium effort</a:t>
            </a:r>
          </a:p>
        </p:txBody>
      </p:sp>
      <p:sp>
        <p:nvSpPr>
          <p:cNvPr id="28" name="TextBox 27"/>
          <p:cNvSpPr txBox="1"/>
          <p:nvPr/>
        </p:nvSpPr>
        <p:spPr>
          <a:xfrm>
            <a:off x="3636000" y="4824000"/>
            <a:ext cx="1296000" cy="288000"/>
          </a:xfrm>
          <a:prstGeom prst="rect">
            <a:avLst/>
          </a:prstGeom>
          <a:noFill/>
          <a:ln>
            <a:noFill/>
          </a:ln>
        </p:spPr>
        <p:txBody>
          <a:bodyPr wrap="square" anchor="t" lIns="43200" rIns="43200" tIns="25200" bIns="25200">
            <a:spAutoFit/>
          </a:bodyPr>
          <a:lstStyle/>
          <a:p>
            <a:pPr algn="ctr">
              <a:defRPr sz="1000" b="1">
                <a:solidFill>
                  <a:srgbClr val="626984"/>
                </a:solidFill>
                <a:latin typeface="Calibri"/>
              </a:defRPr>
            </a:pPr>
            <a:r>
              <a:t>High effort</a:t>
            </a:r>
          </a:p>
        </p:txBody>
      </p:sp>
      <p:graphicFrame>
        <p:nvGraphicFramePr>
          <p:cNvPr id="29" name="Native evidence table"/>
          <p:cNvGraphicFramePr>
            <a:graphicFrameLocks noGrp="1"/>
          </p:cNvGraphicFramePr>
          <p:nvPr/>
        </p:nvGraphicFramePr>
        <p:xfrm>
          <a:off x="7380000" y="1728000"/>
          <a:ext cx="4788000" cy="4068000"/>
        </p:xfrm>
        <a:graphic>
          <a:graphicData uri="http://schemas.openxmlformats.org/drawingml/2006/table">
            <a:tbl>
              <a:tblPr firstRow="1" bandRow="1">
                <a:tableStyleId>{5C22544A-7EE6-4342-B048-85BDC9FD1C3A}</a:tableStyleId>
              </a:tblPr>
              <a:tblGrid>
                <a:gridCol w="504000"/>
                <a:gridCol w="1620000"/>
                <a:gridCol w="792000"/>
                <a:gridCol w="612000"/>
                <a:gridCol w="612000"/>
                <a:gridCol w="648000"/>
              </a:tblGrid>
              <a:tr h="1017000">
                <a:tc>
                  <a:txBody>
                    <a:bodyPr/>
                    <a:lstStyle/>
                    <a:p>
                      <a:pPr>
                        <a:defRPr sz="900" b="1">
                          <a:solidFill>
                            <a:srgbClr val="FFFFFF"/>
                          </a:solidFill>
                          <a:latin typeface="Calibri"/>
                        </a:defRPr>
                      </a:pPr>
                      <a:r>
                        <a:t>Ref</a:t>
                      </a:r>
                    </a:p>
                  </a:txBody>
                  <a:tcPr marL="43200" marR="43200" marT="21600" marB="21600" anchor="ctr">
                    <a:solidFill>
                      <a:srgbClr val="161A5C"/>
                    </a:solidFill>
                  </a:tcPr>
                </a:tc>
                <a:tc>
                  <a:txBody>
                    <a:bodyPr/>
                    <a:lstStyle/>
                    <a:p>
                      <a:pPr>
                        <a:defRPr sz="900" b="1">
                          <a:solidFill>
                            <a:srgbClr val="FFFFFF"/>
                          </a:solidFill>
                          <a:latin typeface="Calibri"/>
                        </a:defRPr>
                      </a:pPr>
                      <a:r>
                        <a:t>Initiative</a:t>
                      </a:r>
                    </a:p>
                  </a:txBody>
                  <a:tcPr marL="43200" marR="43200" marT="21600" marB="21600" anchor="ctr">
                    <a:solidFill>
                      <a:srgbClr val="161A5C"/>
                    </a:solidFill>
                  </a:tcPr>
                </a:tc>
                <a:tc>
                  <a:txBody>
                    <a:bodyPr/>
                    <a:lstStyle/>
                    <a:p>
                      <a:pPr>
                        <a:defRPr sz="900" b="1">
                          <a:solidFill>
                            <a:srgbClr val="FFFFFF"/>
                          </a:solidFill>
                          <a:latin typeface="Calibri"/>
                        </a:defRPr>
                      </a:pPr>
                      <a:r>
                        <a:t>Horizon</a:t>
                      </a:r>
                    </a:p>
                  </a:txBody>
                  <a:tcPr marL="43200" marR="43200" marT="21600" marB="21600" anchor="ctr">
                    <a:solidFill>
                      <a:srgbClr val="161A5C"/>
                    </a:solidFill>
                  </a:tcPr>
                </a:tc>
                <a:tc>
                  <a:txBody>
                    <a:bodyPr/>
                    <a:lstStyle/>
                    <a:p>
                      <a:pPr>
                        <a:defRPr sz="900" b="1">
                          <a:solidFill>
                            <a:srgbClr val="FFFFFF"/>
                          </a:solidFill>
                          <a:latin typeface="Calibri"/>
                        </a:defRPr>
                      </a:pPr>
                      <a:r>
                        <a:t>Priority</a:t>
                      </a:r>
                    </a:p>
                  </a:txBody>
                  <a:tcPr marL="43200" marR="43200" marT="21600" marB="21600" anchor="ctr">
                    <a:solidFill>
                      <a:srgbClr val="161A5C"/>
                    </a:solidFill>
                  </a:tcPr>
                </a:tc>
                <a:tc>
                  <a:txBody>
                    <a:bodyPr/>
                    <a:lstStyle/>
                    <a:p>
                      <a:pPr>
                        <a:defRPr sz="900" b="1">
                          <a:solidFill>
                            <a:srgbClr val="FFFFFF"/>
                          </a:solidFill>
                          <a:latin typeface="Calibri"/>
                        </a:defRPr>
                      </a:pPr>
                      <a:r>
                        <a:t>Effort</a:t>
                      </a:r>
                    </a:p>
                  </a:txBody>
                  <a:tcPr marL="43200" marR="43200" marT="21600" marB="21600" anchor="ctr">
                    <a:solidFill>
                      <a:srgbClr val="161A5C"/>
                    </a:solidFill>
                  </a:tcPr>
                </a:tc>
                <a:tc>
                  <a:txBody>
                    <a:bodyPr/>
                    <a:lstStyle/>
                    <a:p>
                      <a:pPr>
                        <a:defRPr sz="900" b="1">
                          <a:solidFill>
                            <a:srgbClr val="FFFFFF"/>
                          </a:solidFill>
                          <a:latin typeface="Calibri"/>
                        </a:defRPr>
                      </a:pPr>
                      <a:r>
                        <a:t>Benefit</a:t>
                      </a:r>
                    </a:p>
                  </a:txBody>
                  <a:tcPr marL="43200" marR="43200" marT="21600" marB="21600" anchor="ctr">
                    <a:solidFill>
                      <a:srgbClr val="161A5C"/>
                    </a:solidFill>
                  </a:tcPr>
                </a:tc>
              </a:tr>
              <a:tr h="1017000">
                <a:tc>
                  <a:txBody>
                    <a:bodyPr/>
                    <a:lstStyle/>
                    <a:p>
                      <a:pPr>
                        <a:defRPr sz="900" b="0">
                          <a:solidFill>
                            <a:srgbClr val="0B0E26"/>
                          </a:solidFill>
                          <a:latin typeface="Calibri"/>
                        </a:defRPr>
                      </a:pPr>
                      <a:r>
                        <a:t>I-1</a:t>
                      </a:r>
                    </a:p>
                  </a:txBody>
                  <a:tcPr marL="43200" marR="43200" marT="21600" marB="21600" anchor="ctr">
                    <a:solidFill>
                      <a:srgbClr val="FFFFFF"/>
                    </a:solidFill>
                  </a:tcPr>
                </a:tc>
                <a:tc>
                  <a:txBody>
                    <a:bodyPr/>
                    <a:lstStyle/>
                    <a:p>
                      <a:pPr>
                        <a:defRPr sz="900" b="0">
                          <a:solidFill>
                            <a:srgbClr val="0B0E26"/>
                          </a:solidFill>
                          <a:latin typeface="Calibri"/>
                        </a:defRPr>
                      </a:pPr>
                      <a:r>
                        <a:t>Establish role-based access and quarterly recertification</a:t>
                      </a:r>
                    </a:p>
                  </a:txBody>
                  <a:tcPr marL="43200" marR="43200" marT="21600" marB="21600" anchor="ctr">
                    <a:solidFill>
                      <a:srgbClr val="FFFFFF"/>
                    </a:solidFill>
                  </a:tcPr>
                </a:tc>
                <a:tc>
                  <a:txBody>
                    <a:bodyPr/>
                    <a:lstStyle/>
                    <a:p>
                      <a:pPr>
                        <a:defRPr sz="900" b="0">
                          <a:solidFill>
                            <a:srgbClr val="0B0E26"/>
                          </a:solidFill>
                          <a:latin typeface="Calibri"/>
                        </a:defRPr>
                      </a:pPr>
                      <a:r>
                        <a:t>Short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r>
              <a:tr h="1017000">
                <a:tc>
                  <a:txBody>
                    <a:bodyPr/>
                    <a:lstStyle/>
                    <a:p>
                      <a:pPr>
                        <a:defRPr sz="900" b="0">
                          <a:solidFill>
                            <a:srgbClr val="0B0E26"/>
                          </a:solidFill>
                          <a:latin typeface="Calibri"/>
                        </a:defRPr>
                      </a:pPr>
                      <a:r>
                        <a:t>I-3</a:t>
                      </a:r>
                    </a:p>
                  </a:txBody>
                  <a:tcPr marL="43200" marR="43200" marT="21600" marB="21600" anchor="ctr">
                    <a:solidFill>
                      <a:srgbClr val="F1F3F8"/>
                    </a:solidFill>
                  </a:tcPr>
                </a:tc>
                <a:tc>
                  <a:txBody>
                    <a:bodyPr/>
                    <a:lstStyle/>
                    <a:p>
                      <a:pPr>
                        <a:defRPr sz="900" b="0">
                          <a:solidFill>
                            <a:srgbClr val="0B0E26"/>
                          </a:solidFill>
                          <a:latin typeface="Calibri"/>
                        </a:defRPr>
                      </a:pPr>
                      <a:r>
                        <a:t>Introduce risk-based patch SLAs with board reporting</a:t>
                      </a:r>
                    </a:p>
                  </a:txBody>
                  <a:tcPr marL="43200" marR="43200" marT="21600" marB="21600" anchor="ctr">
                    <a:solidFill>
                      <a:srgbClr val="F1F3F8"/>
                    </a:solidFill>
                  </a:tcPr>
                </a:tc>
                <a:tc>
                  <a:txBody>
                    <a:bodyPr/>
                    <a:lstStyle/>
                    <a:p>
                      <a:pPr>
                        <a:defRPr sz="900" b="0">
                          <a:solidFill>
                            <a:srgbClr val="0B0E26"/>
                          </a:solidFill>
                          <a:latin typeface="Calibri"/>
                        </a:defRPr>
                      </a:pPr>
                      <a:r>
                        <a:t>Short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r>
              <a:tr h="1017000">
                <a:tc>
                  <a:txBody>
                    <a:bodyPr/>
                    <a:lstStyle/>
                    <a:p>
                      <a:pPr>
                        <a:defRPr sz="900" b="0">
                          <a:solidFill>
                            <a:srgbClr val="0B0E26"/>
                          </a:solidFill>
                          <a:latin typeface="Calibri"/>
                        </a:defRPr>
                      </a:pPr>
                      <a:r>
                        <a:t>I-5</a:t>
                      </a:r>
                    </a:p>
                  </a:txBody>
                  <a:tcPr marL="43200" marR="43200" marT="21600" marB="21600" anchor="ctr">
                    <a:solidFill>
                      <a:srgbClr val="FFFFFF"/>
                    </a:solidFill>
                  </a:tcPr>
                </a:tc>
                <a:tc>
                  <a:txBody>
                    <a:bodyPr/>
                    <a:lstStyle/>
                    <a:p>
                      <a:pPr>
                        <a:defRPr sz="900" b="0">
                          <a:solidFill>
                            <a:srgbClr val="0B0E26"/>
                          </a:solidFill>
                          <a:latin typeface="Calibri"/>
                        </a:defRPr>
                      </a:pPr>
                      <a:r>
                        <a:t>Contract and assess processors and suppliers</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r>
            </a:tbl>
          </a:graphicData>
        </a:graphic>
      </p:graphicFrame>
      <p:sp>
        <p:nvSpPr>
          <p:cNvPr id="30"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32"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12 of 25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This first report sets the baseline for future comparisons</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100" b="0">
                <a:solidFill>
                  <a:srgbClr val="3A4060"/>
                </a:solidFill>
                <a:latin typeface="Calibri"/>
              </a:defRPr>
            </a:pPr>
            <a:r>
              <a:t>First report baseline; no prior period is available for comparison.</a:t>
            </a:r>
          </a:p>
        </p:txBody>
      </p:sp>
      <p:sp>
        <p:nvSpPr>
          <p:cNvPr id="6" name="TextBox 5"/>
          <p:cNvSpPr txBox="1"/>
          <p:nvPr/>
        </p:nvSpPr>
        <p:spPr>
          <a:xfrm>
            <a:off x="648000" y="1800000"/>
            <a:ext cx="6300000" cy="252000"/>
          </a:xfrm>
          <a:prstGeom prst="rect">
            <a:avLst/>
          </a:prstGeom>
          <a:noFill/>
          <a:ln>
            <a:noFill/>
          </a:ln>
        </p:spPr>
        <p:txBody>
          <a:bodyPr wrap="square" anchor="t" lIns="43200" rIns="43200" tIns="25200" bIns="25200">
            <a:spAutoFit/>
          </a:bodyPr>
          <a:lstStyle/>
          <a:p>
            <a:pPr>
              <a:defRPr sz="1200" b="1">
                <a:solidFill>
                  <a:srgbClr val="161A5C"/>
                </a:solidFill>
                <a:latin typeface="Calibri"/>
              </a:defRPr>
            </a:pPr>
            <a:r>
              <a:t>ISO 27001</a:t>
            </a:r>
          </a:p>
        </p:txBody>
      </p:sp>
      <p:sp>
        <p:nvSpPr>
          <p:cNvPr id="7" name="TextBox 6"/>
          <p:cNvSpPr txBox="1"/>
          <p:nvPr/>
        </p:nvSpPr>
        <p:spPr>
          <a:xfrm>
            <a:off x="648000" y="2088000"/>
            <a:ext cx="2088000" cy="252000"/>
          </a:xfrm>
          <a:prstGeom prst="rect">
            <a:avLst/>
          </a:prstGeom>
          <a:noFill/>
          <a:ln>
            <a:noFill/>
          </a:ln>
        </p:spPr>
        <p:txBody>
          <a:bodyPr wrap="square" anchor="t" lIns="43200" rIns="43200" tIns="25200" bIns="25200">
            <a:spAutoFit/>
          </a:bodyPr>
          <a:lstStyle/>
          <a:p>
            <a:pPr>
              <a:defRPr sz="1000" b="0">
                <a:solidFill>
                  <a:srgbClr val="0B0E26"/>
                </a:solidFill>
                <a:latin typeface="Calibri"/>
              </a:defRPr>
            </a:pPr>
            <a:r>
              <a:t>People Controls</a:t>
            </a:r>
          </a:p>
        </p:txBody>
      </p:sp>
      <p:sp>
        <p:nvSpPr>
          <p:cNvPr id="8" name="Dumbbell rating band"/>
          <p:cNvSpPr/>
          <p:nvPr/>
        </p:nvSpPr>
        <p:spPr>
          <a:xfrm>
            <a:off x="2808000" y="2124000"/>
            <a:ext cx="1324800" cy="216000"/>
          </a:xfrm>
          <a:prstGeom prst="rect">
            <a:avLst/>
          </a:prstGeom>
          <a:solidFill>
            <a:srgbClr val="CDD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Dumbbell rating band"/>
          <p:cNvSpPr/>
          <p:nvPr/>
        </p:nvSpPr>
        <p:spPr>
          <a:xfrm>
            <a:off x="4132800" y="2124000"/>
            <a:ext cx="662400" cy="216000"/>
          </a:xfrm>
          <a:prstGeom prst="rect">
            <a:avLst/>
          </a:prstGeom>
          <a:solidFill>
            <a:srgbClr val="DC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umbbell rating band"/>
          <p:cNvSpPr/>
          <p:nvPr/>
        </p:nvSpPr>
        <p:spPr>
          <a:xfrm>
            <a:off x="4795200" y="2124000"/>
            <a:ext cx="662400" cy="216000"/>
          </a:xfrm>
          <a:prstGeom prst="rect">
            <a:avLst/>
          </a:prstGeom>
          <a:solidFill>
            <a:srgbClr val="E9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Dumbbell rating band"/>
          <p:cNvSpPr/>
          <p:nvPr/>
        </p:nvSpPr>
        <p:spPr>
          <a:xfrm>
            <a:off x="5457600" y="2124000"/>
            <a:ext cx="662400" cy="216000"/>
          </a:xfrm>
          <a:prstGeom prst="rect">
            <a:avLst/>
          </a:prstGeom>
          <a:solidFill>
            <a:srgbClr val="F5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Current score"/>
          <p:cNvSpPr/>
          <p:nvPr/>
        </p:nvSpPr>
        <p:spPr>
          <a:xfrm>
            <a:off x="2808000" y="2178000"/>
            <a:ext cx="1987200" cy="108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Dumbbell current score"/>
          <p:cNvSpPr/>
          <p:nvPr/>
        </p:nvSpPr>
        <p:spPr>
          <a:xfrm>
            <a:off x="4741200" y="2116800"/>
            <a:ext cx="108000" cy="180000"/>
          </a:xfrm>
          <a:prstGeom prst="ellipse">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4000" y="2088000"/>
            <a:ext cx="900000" cy="252000"/>
          </a:xfrm>
          <a:prstGeom prst="rect">
            <a:avLst/>
          </a:prstGeom>
          <a:noFill/>
          <a:ln>
            <a:noFill/>
          </a:ln>
        </p:spPr>
        <p:txBody>
          <a:bodyPr wrap="square" anchor="t" lIns="43200" rIns="43200" tIns="25200" bIns="25200">
            <a:spAutoFit/>
          </a:bodyPr>
          <a:lstStyle/>
          <a:p>
            <a:pPr algn="r">
              <a:defRPr sz="1000" b="1">
                <a:solidFill>
                  <a:srgbClr val="0B0E26"/>
                </a:solidFill>
                <a:latin typeface="Calibri"/>
              </a:defRPr>
            </a:pPr>
            <a:r>
              <a:t>60.0%</a:t>
            </a:r>
          </a:p>
        </p:txBody>
      </p:sp>
      <p:sp>
        <p:nvSpPr>
          <p:cNvPr id="15" name="TextBox 14"/>
          <p:cNvSpPr txBox="1"/>
          <p:nvPr/>
        </p:nvSpPr>
        <p:spPr>
          <a:xfrm>
            <a:off x="648000" y="2412000"/>
            <a:ext cx="2088000" cy="252000"/>
          </a:xfrm>
          <a:prstGeom prst="rect">
            <a:avLst/>
          </a:prstGeom>
          <a:noFill/>
          <a:ln>
            <a:noFill/>
          </a:ln>
        </p:spPr>
        <p:txBody>
          <a:bodyPr wrap="square" anchor="t" lIns="43200" rIns="43200" tIns="25200" bIns="25200">
            <a:spAutoFit/>
          </a:bodyPr>
          <a:lstStyle/>
          <a:p>
            <a:pPr>
              <a:defRPr sz="1000" b="0">
                <a:solidFill>
                  <a:srgbClr val="0B0E26"/>
                </a:solidFill>
                <a:latin typeface="Calibri"/>
              </a:defRPr>
            </a:pPr>
            <a:r>
              <a:t>Organizational Controls</a:t>
            </a:r>
          </a:p>
        </p:txBody>
      </p:sp>
      <p:sp>
        <p:nvSpPr>
          <p:cNvPr id="16" name="Dumbbell rating band"/>
          <p:cNvSpPr/>
          <p:nvPr/>
        </p:nvSpPr>
        <p:spPr>
          <a:xfrm>
            <a:off x="2808000" y="2448000"/>
            <a:ext cx="1324800" cy="216000"/>
          </a:xfrm>
          <a:prstGeom prst="rect">
            <a:avLst/>
          </a:prstGeom>
          <a:solidFill>
            <a:srgbClr val="CDD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Dumbbell rating band"/>
          <p:cNvSpPr/>
          <p:nvPr/>
        </p:nvSpPr>
        <p:spPr>
          <a:xfrm>
            <a:off x="4132800" y="2448000"/>
            <a:ext cx="662400" cy="216000"/>
          </a:xfrm>
          <a:prstGeom prst="rect">
            <a:avLst/>
          </a:prstGeom>
          <a:solidFill>
            <a:srgbClr val="DC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Dumbbell rating band"/>
          <p:cNvSpPr/>
          <p:nvPr/>
        </p:nvSpPr>
        <p:spPr>
          <a:xfrm>
            <a:off x="4795200" y="2448000"/>
            <a:ext cx="662400" cy="216000"/>
          </a:xfrm>
          <a:prstGeom prst="rect">
            <a:avLst/>
          </a:prstGeom>
          <a:solidFill>
            <a:srgbClr val="E9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Dumbbell rating band"/>
          <p:cNvSpPr/>
          <p:nvPr/>
        </p:nvSpPr>
        <p:spPr>
          <a:xfrm>
            <a:off x="5457600" y="2448000"/>
            <a:ext cx="662400" cy="216000"/>
          </a:xfrm>
          <a:prstGeom prst="rect">
            <a:avLst/>
          </a:prstGeom>
          <a:solidFill>
            <a:srgbClr val="F5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urrent score"/>
          <p:cNvSpPr/>
          <p:nvPr/>
        </p:nvSpPr>
        <p:spPr>
          <a:xfrm>
            <a:off x="2808000" y="2502000"/>
            <a:ext cx="2162735" cy="108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Dumbbell current score"/>
          <p:cNvSpPr/>
          <p:nvPr/>
        </p:nvSpPr>
        <p:spPr>
          <a:xfrm>
            <a:off x="4916736" y="2440800"/>
            <a:ext cx="108000" cy="180000"/>
          </a:xfrm>
          <a:prstGeom prst="ellipse">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4000" y="2412000"/>
            <a:ext cx="900000" cy="252000"/>
          </a:xfrm>
          <a:prstGeom prst="rect">
            <a:avLst/>
          </a:prstGeom>
          <a:noFill/>
          <a:ln>
            <a:noFill/>
          </a:ln>
        </p:spPr>
        <p:txBody>
          <a:bodyPr wrap="square" anchor="t" lIns="43200" rIns="43200" tIns="25200" bIns="25200">
            <a:spAutoFit/>
          </a:bodyPr>
          <a:lstStyle/>
          <a:p>
            <a:pPr algn="r">
              <a:defRPr sz="1000" b="1">
                <a:solidFill>
                  <a:srgbClr val="0B0E26"/>
                </a:solidFill>
                <a:latin typeface="Calibri"/>
              </a:defRPr>
            </a:pPr>
            <a:r>
              <a:t>65.3%</a:t>
            </a:r>
          </a:p>
        </p:txBody>
      </p:sp>
      <p:sp>
        <p:nvSpPr>
          <p:cNvPr id="23" name="TextBox 22"/>
          <p:cNvSpPr txBox="1"/>
          <p:nvPr/>
        </p:nvSpPr>
        <p:spPr>
          <a:xfrm>
            <a:off x="648000" y="2736000"/>
            <a:ext cx="2088000" cy="252000"/>
          </a:xfrm>
          <a:prstGeom prst="rect">
            <a:avLst/>
          </a:prstGeom>
          <a:noFill/>
          <a:ln>
            <a:noFill/>
          </a:ln>
        </p:spPr>
        <p:txBody>
          <a:bodyPr wrap="square" anchor="t" lIns="43200" rIns="43200" tIns="25200" bIns="25200">
            <a:spAutoFit/>
          </a:bodyPr>
          <a:lstStyle/>
          <a:p>
            <a:pPr>
              <a:defRPr sz="1000" b="0">
                <a:solidFill>
                  <a:srgbClr val="0B0E26"/>
                </a:solidFill>
                <a:latin typeface="Calibri"/>
              </a:defRPr>
            </a:pPr>
            <a:r>
              <a:t>Technological Controls</a:t>
            </a:r>
          </a:p>
        </p:txBody>
      </p:sp>
      <p:sp>
        <p:nvSpPr>
          <p:cNvPr id="24" name="Dumbbell rating band"/>
          <p:cNvSpPr/>
          <p:nvPr/>
        </p:nvSpPr>
        <p:spPr>
          <a:xfrm>
            <a:off x="2808000" y="2772000"/>
            <a:ext cx="1324800" cy="216000"/>
          </a:xfrm>
          <a:prstGeom prst="rect">
            <a:avLst/>
          </a:prstGeom>
          <a:solidFill>
            <a:srgbClr val="CDD2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umbbell rating band"/>
          <p:cNvSpPr/>
          <p:nvPr/>
        </p:nvSpPr>
        <p:spPr>
          <a:xfrm>
            <a:off x="4132800" y="2772000"/>
            <a:ext cx="662400" cy="216000"/>
          </a:xfrm>
          <a:prstGeom prst="rect">
            <a:avLst/>
          </a:prstGeom>
          <a:solidFill>
            <a:srgbClr val="DCE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Dumbbell rating band"/>
          <p:cNvSpPr/>
          <p:nvPr/>
        </p:nvSpPr>
        <p:spPr>
          <a:xfrm>
            <a:off x="4795200" y="2772000"/>
            <a:ext cx="662400" cy="216000"/>
          </a:xfrm>
          <a:prstGeom prst="rect">
            <a:avLst/>
          </a:prstGeom>
          <a:solidFill>
            <a:srgbClr val="E9EC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Dumbbell rating band"/>
          <p:cNvSpPr/>
          <p:nvPr/>
        </p:nvSpPr>
        <p:spPr>
          <a:xfrm>
            <a:off x="5457600" y="2772000"/>
            <a:ext cx="662400" cy="216000"/>
          </a:xfrm>
          <a:prstGeom prst="rect">
            <a:avLst/>
          </a:prstGeom>
          <a:solidFill>
            <a:srgbClr val="F5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Current score"/>
          <p:cNvSpPr/>
          <p:nvPr/>
        </p:nvSpPr>
        <p:spPr>
          <a:xfrm>
            <a:off x="2808000" y="2826000"/>
            <a:ext cx="2500560" cy="108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Dumbbell current score"/>
          <p:cNvSpPr/>
          <p:nvPr/>
        </p:nvSpPr>
        <p:spPr>
          <a:xfrm>
            <a:off x="5254559" y="2764800"/>
            <a:ext cx="108000" cy="180000"/>
          </a:xfrm>
          <a:prstGeom prst="ellipse">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4000" y="2736000"/>
            <a:ext cx="900000" cy="252000"/>
          </a:xfrm>
          <a:prstGeom prst="rect">
            <a:avLst/>
          </a:prstGeom>
          <a:noFill/>
          <a:ln>
            <a:noFill/>
          </a:ln>
        </p:spPr>
        <p:txBody>
          <a:bodyPr wrap="square" anchor="t" lIns="43200" rIns="43200" tIns="25200" bIns="25200">
            <a:spAutoFit/>
          </a:bodyPr>
          <a:lstStyle/>
          <a:p>
            <a:pPr algn="r">
              <a:defRPr sz="1000" b="1">
                <a:solidFill>
                  <a:srgbClr val="0B0E26"/>
                </a:solidFill>
                <a:latin typeface="Calibri"/>
              </a:defRPr>
            </a:pPr>
            <a:r>
              <a:t>75.5%</a:t>
            </a:r>
          </a:p>
        </p:txBody>
      </p:sp>
      <p:graphicFrame>
        <p:nvGraphicFramePr>
          <p:cNvPr id="31" name="Native evidence table"/>
          <p:cNvGraphicFramePr>
            <a:graphicFrameLocks noGrp="1"/>
          </p:cNvGraphicFramePr>
          <p:nvPr/>
        </p:nvGraphicFramePr>
        <p:xfrm>
          <a:off x="7380000" y="1728000"/>
          <a:ext cx="4284000" cy="1512000"/>
        </p:xfrm>
        <a:graphic>
          <a:graphicData uri="http://schemas.openxmlformats.org/drawingml/2006/table">
            <a:tbl>
              <a:tblPr firstRow="1" bandRow="1">
                <a:tableStyleId>{5C22544A-7EE6-4342-B048-85BDC9FD1C3A}</a:tableStyleId>
              </a:tblPr>
              <a:tblGrid>
                <a:gridCol w="1728000"/>
                <a:gridCol w="792000"/>
                <a:gridCol w="792000"/>
                <a:gridCol w="972000"/>
              </a:tblGrid>
              <a:tr h="1512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Current</a:t>
                      </a:r>
                    </a:p>
                  </a:txBody>
                  <a:tcPr marL="43200" marR="43200" marT="21600" marB="21600" anchor="ctr">
                    <a:solidFill>
                      <a:srgbClr val="161A5C"/>
                    </a:solidFill>
                  </a:tcPr>
                </a:tc>
                <a:tc>
                  <a:txBody>
                    <a:bodyPr/>
                    <a:lstStyle/>
                    <a:p>
                      <a:pPr>
                        <a:defRPr sz="900" b="1">
                          <a:solidFill>
                            <a:srgbClr val="FFFFFF"/>
                          </a:solidFill>
                          <a:latin typeface="Calibri"/>
                        </a:defRPr>
                      </a:pPr>
                      <a:r>
                        <a:t>Prior</a:t>
                      </a:r>
                    </a:p>
                  </a:txBody>
                  <a:tcPr marL="43200" marR="43200" marT="21600" marB="21600" anchor="ctr">
                    <a:solidFill>
                      <a:srgbClr val="161A5C"/>
                    </a:solidFill>
                  </a:tcPr>
                </a:tc>
                <a:tc>
                  <a:txBody>
                    <a:bodyPr/>
                    <a:lstStyle/>
                    <a:p>
                      <a:pPr>
                        <a:defRPr sz="900" b="1">
                          <a:solidFill>
                            <a:srgbClr val="FFFFFF"/>
                          </a:solidFill>
                          <a:latin typeface="Calibri"/>
                        </a:defRPr>
                      </a:pPr>
                      <a:r>
                        <a:t>Change</a:t>
                      </a:r>
                    </a:p>
                  </a:txBody>
                  <a:tcPr marL="43200" marR="43200" marT="21600" marB="21600" anchor="ctr">
                    <a:solidFill>
                      <a:srgbClr val="161A5C"/>
                    </a:solidFill>
                  </a:tcPr>
                </a:tc>
              </a:tr>
            </a:tbl>
          </a:graphicData>
        </a:graphic>
      </p:graphicFrame>
      <p:graphicFrame>
        <p:nvGraphicFramePr>
          <p:cNvPr id="32" name="Native evidence table"/>
          <p:cNvGraphicFramePr>
            <a:graphicFrameLocks noGrp="1"/>
          </p:cNvGraphicFramePr>
          <p:nvPr/>
        </p:nvGraphicFramePr>
        <p:xfrm>
          <a:off x="7380000" y="3672000"/>
          <a:ext cx="4284000" cy="2088000"/>
        </p:xfrm>
        <a:graphic>
          <a:graphicData uri="http://schemas.openxmlformats.org/drawingml/2006/table">
            <a:tbl>
              <a:tblPr firstRow="1" bandRow="1">
                <a:tableStyleId>{5C22544A-7EE6-4342-B048-85BDC9FD1C3A}</a:tableStyleId>
              </a:tblPr>
              <a:tblGrid>
                <a:gridCol w="1224000"/>
                <a:gridCol w="1080000"/>
                <a:gridCol w="1080000"/>
                <a:gridCol w="900000"/>
              </a:tblGrid>
              <a:tr h="2088000">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Prior outcome</a:t>
                      </a:r>
                    </a:p>
                  </a:txBody>
                  <a:tcPr marL="43200" marR="43200" marT="21600" marB="21600" anchor="ctr">
                    <a:solidFill>
                      <a:srgbClr val="161A5C"/>
                    </a:solidFill>
                  </a:tcPr>
                </a:tc>
                <a:tc>
                  <a:txBody>
                    <a:bodyPr/>
                    <a:lstStyle/>
                    <a:p>
                      <a:pPr>
                        <a:defRPr sz="900" b="1">
                          <a:solidFill>
                            <a:srgbClr val="FFFFFF"/>
                          </a:solidFill>
                          <a:latin typeface="Calibri"/>
                        </a:defRPr>
                      </a:pPr>
                      <a:r>
                        <a:t>Current outcome</a:t>
                      </a:r>
                    </a:p>
                  </a:txBody>
                  <a:tcPr marL="43200" marR="43200" marT="21600" marB="21600" anchor="ctr">
                    <a:solidFill>
                      <a:srgbClr val="161A5C"/>
                    </a:solidFill>
                  </a:tcPr>
                </a:tc>
                <a:tc>
                  <a:txBody>
                    <a:bodyPr/>
                    <a:lstStyle/>
                    <a:p>
                      <a:pPr>
                        <a:defRPr sz="900" b="1">
                          <a:solidFill>
                            <a:srgbClr val="FFFFFF"/>
                          </a:solidFill>
                          <a:latin typeface="Calibri"/>
                        </a:defRPr>
                      </a:pPr>
                      <a:r>
                        <a:t>Change</a:t>
                      </a:r>
                    </a:p>
                  </a:txBody>
                  <a:tcPr marL="43200" marR="43200" marT="21600" marB="21600" anchor="ctr">
                    <a:solidFill>
                      <a:srgbClr val="161A5C"/>
                    </a:solidFill>
                  </a:tcPr>
                </a:tc>
              </a:tr>
            </a:tbl>
          </a:graphicData>
        </a:graphic>
      </p:graphicFrame>
      <p:sp>
        <p:nvSpPr>
          <p:cNvPr id="33"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35"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13 of 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15 requirements could not be concluded</a:t>
            </a:r>
          </a:p>
        </p:txBody>
      </p:sp>
      <p:sp>
        <p:nvSpPr>
          <p:cNvPr id="5" name="TextBox 4"/>
          <p:cNvSpPr txBox="1"/>
          <p:nvPr/>
        </p:nvSpPr>
        <p:spPr>
          <a:xfrm>
            <a:off x="504000" y="1224000"/>
            <a:ext cx="11160000" cy="360000"/>
          </a:xfrm>
          <a:prstGeom prst="rect">
            <a:avLst/>
          </a:prstGeom>
          <a:noFill/>
          <a:ln>
            <a:noFill/>
          </a:ln>
        </p:spPr>
        <p:txBody>
          <a:bodyPr wrap="square" anchor="t" lIns="43200" rIns="43200" tIns="25200" bIns="25200">
            <a:spAutoFit/>
          </a:bodyPr>
          <a:lstStyle/>
          <a:p>
            <a:pPr>
              <a:defRPr sz="1200" b="0">
                <a:solidFill>
                  <a:srgbClr val="3A4060"/>
                </a:solidFill>
                <a:latin typeface="Calibri"/>
              </a:defRPr>
            </a:pPr>
            <a:r>
              <a:t>Not-concluded requirements are left out of scores, not counted as failures.</a:t>
            </a:r>
          </a:p>
        </p:txBody>
      </p:sp>
      <p:graphicFrame>
        <p:nvGraphicFramePr>
          <p:cNvPr id="6" name="Native evidence table"/>
          <p:cNvGraphicFramePr>
            <a:graphicFrameLocks noGrp="1"/>
          </p:cNvGraphicFramePr>
          <p:nvPr/>
        </p:nvGraphicFramePr>
        <p:xfrm>
          <a:off x="504000" y="1728000"/>
          <a:ext cx="4140000" cy="1440000"/>
        </p:xfrm>
        <a:graphic>
          <a:graphicData uri="http://schemas.openxmlformats.org/drawingml/2006/table">
            <a:tbl>
              <a:tblPr firstRow="1" bandRow="1">
                <a:tableStyleId>{5C22544A-7EE6-4342-B048-85BDC9FD1C3A}</a:tableStyleId>
              </a:tblPr>
              <a:tblGrid>
                <a:gridCol w="3060000"/>
                <a:gridCol w="1080000"/>
              </a:tblGrid>
              <a:tr h="720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Not concluded</a:t>
                      </a:r>
                    </a:p>
                  </a:txBody>
                  <a:tcPr marL="43200" marR="43200" marT="21600" marB="21600" anchor="ctr">
                    <a:solidFill>
                      <a:srgbClr val="161A5C"/>
                    </a:solidFill>
                  </a:tcPr>
                </a:tc>
              </a:tr>
              <a:tr h="720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10</a:t>
                      </a:r>
                    </a:p>
                  </a:txBody>
                  <a:tcPr marL="43200" marR="43200" marT="21600" marB="21600" anchor="ctr">
                    <a:solidFill>
                      <a:srgbClr val="FFFFFF"/>
                    </a:solidFill>
                  </a:tcPr>
                </a:tc>
              </a:tr>
            </a:tbl>
          </a:graphicData>
        </a:graphic>
      </p:graphicFrame>
      <p:graphicFrame>
        <p:nvGraphicFramePr>
          <p:cNvPr id="7" name="Native evidence table"/>
          <p:cNvGraphicFramePr>
            <a:graphicFrameLocks noGrp="1"/>
          </p:cNvGraphicFramePr>
          <p:nvPr/>
        </p:nvGraphicFramePr>
        <p:xfrm>
          <a:off x="504000" y="3456000"/>
          <a:ext cx="4140000" cy="2304000"/>
        </p:xfrm>
        <a:graphic>
          <a:graphicData uri="http://schemas.openxmlformats.org/drawingml/2006/table">
            <a:tbl>
              <a:tblPr firstRow="1" bandRow="1">
                <a:tableStyleId>{5C22544A-7EE6-4342-B048-85BDC9FD1C3A}</a:tableStyleId>
              </a:tblPr>
              <a:tblGrid>
                <a:gridCol w="2952000"/>
                <a:gridCol w="1188000"/>
              </a:tblGrid>
              <a:tr h="460800">
                <a:tc>
                  <a:txBody>
                    <a:bodyPr/>
                    <a:lstStyle/>
                    <a:p>
                      <a:pPr>
                        <a:defRPr sz="900" b="1">
                          <a:solidFill>
                            <a:srgbClr val="FFFFFF"/>
                          </a:solidFill>
                          <a:latin typeface="Calibri"/>
                        </a:defRPr>
                      </a:pPr>
                      <a:r>
                        <a:t>Open evidence request</a:t>
                      </a:r>
                    </a:p>
                  </a:txBody>
                  <a:tcPr marL="43200" marR="43200" marT="21600" marB="21600" anchor="ctr">
                    <a:solidFill>
                      <a:srgbClr val="161A5C"/>
                    </a:solidFill>
                  </a:tcPr>
                </a:tc>
                <a:tc>
                  <a:txBody>
                    <a:bodyPr/>
                    <a:lstStyle/>
                    <a:p>
                      <a:pPr>
                        <a:defRPr sz="900" b="1">
                          <a:solidFill>
                            <a:srgbClr val="FFFFFF"/>
                          </a:solidFill>
                          <a:latin typeface="Calibri"/>
                        </a:defRPr>
                      </a:pPr>
                      <a:r>
                        <a:t>Type</a:t>
                      </a:r>
                    </a:p>
                  </a:txBody>
                  <a:tcPr marL="43200" marR="43200" marT="21600" marB="21600" anchor="ctr">
                    <a:solidFill>
                      <a:srgbClr val="161A5C"/>
                    </a:solidFill>
                  </a:tcPr>
                </a:tc>
              </a:tr>
              <a:tr h="460800">
                <a:tc>
                  <a:txBody>
                    <a:bodyPr/>
                    <a:lstStyle/>
                    <a:p>
                      <a:pPr>
                        <a:defRPr sz="900" b="0">
                          <a:solidFill>
                            <a:srgbClr val="0B0E26"/>
                          </a:solidFill>
                          <a:latin typeface="Calibri"/>
                        </a:defRPr>
                      </a:pPr>
                      <a:r>
                        <a:t>RFI-01</a:t>
                      </a:r>
                    </a:p>
                  </a:txBody>
                  <a:tcPr marL="43200" marR="43200" marT="21600" marB="21600" anchor="ctr">
                    <a:solidFill>
                      <a:srgbClr val="FFFFFF"/>
                    </a:solidFill>
                  </a:tcPr>
                </a:tc>
                <a:tc>
                  <a:txBody>
                    <a:bodyPr/>
                    <a:lstStyle/>
                    <a:p>
                      <a:pPr>
                        <a:defRPr sz="900" b="0">
                          <a:solidFill>
                            <a:srgbClr val="0B0E26"/>
                          </a:solidFill>
                          <a:latin typeface="Calibri"/>
                        </a:defRPr>
                      </a:pPr>
                      <a:r>
                        <a:t>Required</a:t>
                      </a:r>
                    </a:p>
                  </a:txBody>
                  <a:tcPr marL="43200" marR="43200" marT="21600" marB="21600" anchor="ctr">
                    <a:solidFill>
                      <a:srgbClr val="FFFFFF"/>
                    </a:solidFill>
                  </a:tcPr>
                </a:tc>
              </a:tr>
              <a:tr h="460800">
                <a:tc>
                  <a:txBody>
                    <a:bodyPr/>
                    <a:lstStyle/>
                    <a:p>
                      <a:pPr>
                        <a:defRPr sz="900" b="0">
                          <a:solidFill>
                            <a:srgbClr val="0B0E26"/>
                          </a:solidFill>
                          <a:latin typeface="Calibri"/>
                        </a:defRPr>
                      </a:pPr>
                      <a:r>
                        <a:t>RFI-02</a:t>
                      </a:r>
                    </a:p>
                  </a:txBody>
                  <a:tcPr marL="43200" marR="43200" marT="21600" marB="21600" anchor="ctr">
                    <a:solidFill>
                      <a:srgbClr val="F1F3F8"/>
                    </a:solidFill>
                  </a:tcPr>
                </a:tc>
                <a:tc>
                  <a:txBody>
                    <a:bodyPr/>
                    <a:lstStyle/>
                    <a:p>
                      <a:pPr>
                        <a:defRPr sz="900" b="0">
                          <a:solidFill>
                            <a:srgbClr val="0B0E26"/>
                          </a:solidFill>
                          <a:latin typeface="Calibri"/>
                        </a:defRPr>
                      </a:pPr>
                      <a:r>
                        <a:t>Required</a:t>
                      </a:r>
                    </a:p>
                  </a:txBody>
                  <a:tcPr marL="43200" marR="43200" marT="21600" marB="21600" anchor="ctr">
                    <a:solidFill>
                      <a:srgbClr val="F1F3F8"/>
                    </a:solidFill>
                  </a:tcPr>
                </a:tc>
              </a:tr>
              <a:tr h="460800">
                <a:tc>
                  <a:txBody>
                    <a:bodyPr/>
                    <a:lstStyle/>
                    <a:p>
                      <a:pPr>
                        <a:defRPr sz="900" b="0">
                          <a:solidFill>
                            <a:srgbClr val="0B0E26"/>
                          </a:solidFill>
                          <a:latin typeface="Calibri"/>
                        </a:defRPr>
                      </a:pPr>
                      <a:r>
                        <a:t>RFI-03</a:t>
                      </a:r>
                    </a:p>
                  </a:txBody>
                  <a:tcPr marL="43200" marR="43200" marT="21600" marB="21600" anchor="ctr">
                    <a:solidFill>
                      <a:srgbClr val="FFFFFF"/>
                    </a:solidFill>
                  </a:tcPr>
                </a:tc>
                <a:tc>
                  <a:txBody>
                    <a:bodyPr/>
                    <a:lstStyle/>
                    <a:p>
                      <a:pPr>
                        <a:defRPr sz="900" b="0">
                          <a:solidFill>
                            <a:srgbClr val="0B0E26"/>
                          </a:solidFill>
                          <a:latin typeface="Calibri"/>
                        </a:defRPr>
                      </a:pPr>
                      <a:r>
                        <a:t>Required</a:t>
                      </a:r>
                    </a:p>
                  </a:txBody>
                  <a:tcPr marL="43200" marR="43200" marT="21600" marB="21600" anchor="ctr">
                    <a:solidFill>
                      <a:srgbClr val="FFFFFF"/>
                    </a:solidFill>
                  </a:tcPr>
                </a:tc>
              </a:tr>
              <a:tr h="460800">
                <a:tc>
                  <a:txBody>
                    <a:bodyPr/>
                    <a:lstStyle/>
                    <a:p>
                      <a:pPr>
                        <a:defRPr sz="900" b="0">
                          <a:solidFill>
                            <a:srgbClr val="0B0E26"/>
                          </a:solidFill>
                          <a:latin typeface="Calibri"/>
                        </a:defRPr>
                      </a:pPr>
                      <a:r>
                        <a:t>RFI-04</a:t>
                      </a:r>
                    </a:p>
                  </a:txBody>
                  <a:tcPr marL="43200" marR="43200" marT="21600" marB="21600" anchor="ctr">
                    <a:solidFill>
                      <a:srgbClr val="F1F3F8"/>
                    </a:solidFill>
                  </a:tcPr>
                </a:tc>
                <a:tc>
                  <a:txBody>
                    <a:bodyPr/>
                    <a:lstStyle/>
                    <a:p>
                      <a:pPr>
                        <a:defRPr sz="900" b="0">
                          <a:solidFill>
                            <a:srgbClr val="0B0E26"/>
                          </a:solidFill>
                          <a:latin typeface="Calibri"/>
                        </a:defRPr>
                      </a:pPr>
                      <a:r>
                        <a:t>Recommended</a:t>
                      </a:r>
                    </a:p>
                  </a:txBody>
                  <a:tcPr marL="43200" marR="43200" marT="21600" marB="21600" anchor="ctr">
                    <a:solidFill>
                      <a:srgbClr val="F1F3F8"/>
                    </a:solidFill>
                  </a:tcPr>
                </a:tc>
              </a:tr>
            </a:tbl>
          </a:graphicData>
        </a:graphic>
      </p:graphicFrame>
      <p:sp>
        <p:nvSpPr>
          <p:cNvPr id="8" name="TextBox 7"/>
          <p:cNvSpPr txBox="1"/>
          <p:nvPr/>
        </p:nvSpPr>
        <p:spPr>
          <a:xfrm>
            <a:off x="5220000" y="1728000"/>
            <a:ext cx="6444000" cy="4032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Limitations</a:t>
            </a:r>
          </a:p>
          <a:p>
            <a:pPr>
              <a:defRPr sz="1100" b="0">
                <a:solidFill>
                  <a:srgbClr val="3A4060"/>
                </a:solidFill>
                <a:latin typeface="Calibri"/>
              </a:defRPr>
            </a:pPr>
            <a:r>
              <a:t>• This assessment does not include technical penetration testing, source code review, network security assessment, or any form of independent technical verification. Where the selected framework(s) include physical or environmental controls, findings on those controls are based on disclosed information and submitted documents, not on physical inspection or testing.</a:t>
            </a:r>
          </a:p>
          <a:p>
            <a:pPr>
              <a:defRPr sz="1100" b="0">
                <a:solidFill>
                  <a:srgbClr val="3A4060"/>
                </a:solidFill>
                <a:latin typeface="Calibri"/>
              </a:defRPr>
            </a:pPr>
            <a:r>
              <a:t>• All findings reflect the information provided to the assessor at the time of the assessment. The assessor has not independently verified the accuracy or completeness of information provided. Material omissions or inaccuracies in disclosed information would affect the reliability of findings.</a:t>
            </a:r>
          </a:p>
          <a:p>
            <a:pPr>
              <a:defRPr sz="1100" b="0">
                <a:solidFill>
                  <a:srgbClr val="3A4060"/>
                </a:solidFill>
                <a:latin typeface="Calibri"/>
              </a:defRPr>
            </a:pPr>
            <a:r>
              <a:t>• For requirements rated as Non-Compliant or Partially Compliant at a Critical or High risk level, independent verification by qualified legal counsel or a certified privacy professional (for INDIA DPDPA requirements), or by a qualified information security auditor (for ISO 27001), is strongly recommended before relying on those findings for regulatory submissions, board reporting, or contractual representations.</a:t>
            </a:r>
          </a:p>
          <a:p>
            <a:pPr>
              <a:defRPr sz="1100" b="0">
                <a:solidFill>
                  <a:srgbClr val="3A4060"/>
                </a:solidFill>
                <a:latin typeface="Calibri"/>
              </a:defRPr>
            </a:pPr>
            <a:r>
              <a:t>• Most DPDPA 2023 obligations on Data Fiduciaries, and its penalty provisions, commence in mid-May 2027 (DPDP Rules 2025, G.S.R. 846(E)); findings against those obligations are a readiness assessment, not a determination of current non-compliance. Until then, obligations under the Information Technology Act, 2000, s.43A and the SPDI Rules, 2011 continue to apply and were not assessed.</a:t>
            </a:r>
          </a:p>
        </p:txBody>
      </p:sp>
      <p:sp>
        <p:nvSpPr>
          <p:cNvPr id="9"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1"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14 of 25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Sign-off</a:t>
            </a:r>
          </a:p>
        </p:txBody>
      </p:sp>
      <p:graphicFrame>
        <p:nvGraphicFramePr>
          <p:cNvPr id="5" name="Native evidence table"/>
          <p:cNvGraphicFramePr>
            <a:graphicFrameLocks noGrp="1"/>
          </p:cNvGraphicFramePr>
          <p:nvPr/>
        </p:nvGraphicFramePr>
        <p:xfrm>
          <a:off x="504000" y="1800000"/>
          <a:ext cx="6480000" cy="2088000"/>
        </p:xfrm>
        <a:graphic>
          <a:graphicData uri="http://schemas.openxmlformats.org/drawingml/2006/table">
            <a:tbl>
              <a:tblPr firstRow="1" bandRow="1">
                <a:tableStyleId>{5C22544A-7EE6-4342-B048-85BDC9FD1C3A}</a:tableStyleId>
              </a:tblPr>
              <a:tblGrid>
                <a:gridCol w="2700000"/>
                <a:gridCol w="3780000"/>
              </a:tblGrid>
              <a:tr h="417600">
                <a:tc>
                  <a:txBody>
                    <a:bodyPr/>
                    <a:lstStyle/>
                    <a:p>
                      <a:pPr>
                        <a:defRPr sz="900" b="1">
                          <a:solidFill>
                            <a:srgbClr val="FFFFFF"/>
                          </a:solidFill>
                          <a:latin typeface="Calibri"/>
                        </a:defRPr>
                      </a:pPr>
                      <a:r>
                        <a:t>Sign-off role</a:t>
                      </a:r>
                    </a:p>
                  </a:txBody>
                  <a:tcPr marL="43200" marR="43200" marT="21600" marB="21600" anchor="ctr">
                    <a:solidFill>
                      <a:srgbClr val="161A5C"/>
                    </a:solidFill>
                  </a:tcPr>
                </a:tc>
                <a:tc>
                  <a:txBody>
                    <a:bodyPr/>
                    <a:lstStyle/>
                    <a:p>
                      <a:pPr>
                        <a:defRPr sz="900" b="1">
                          <a:solidFill>
                            <a:srgbClr val="FFFFFF"/>
                          </a:solidFill>
                          <a:latin typeface="Calibri"/>
                        </a:defRPr>
                      </a:pPr>
                      <a:r>
                        <a:t>Recorded value</a:t>
                      </a:r>
                    </a:p>
                  </a:txBody>
                  <a:tcPr marL="43200" marR="43200" marT="21600" marB="21600" anchor="ctr">
                    <a:solidFill>
                      <a:srgbClr val="161A5C"/>
                    </a:solidFill>
                  </a:tcPr>
                </a:tc>
              </a:tr>
              <a:tr h="417600">
                <a:tc>
                  <a:txBody>
                    <a:bodyPr/>
                    <a:lstStyle/>
                    <a:p>
                      <a:pPr>
                        <a:defRPr sz="900" b="0">
                          <a:solidFill>
                            <a:srgbClr val="0B0E26"/>
                          </a:solidFill>
                          <a:latin typeface="Calibri"/>
                        </a:defRPr>
                      </a:pPr>
                      <a:r>
                        <a:t>Prepared by</a:t>
                      </a:r>
                    </a:p>
                  </a:txBody>
                  <a:tcPr marL="43200" marR="43200" marT="21600" marB="21600" anchor="ctr">
                    <a:solidFill>
                      <a:srgbClr val="FFFFFF"/>
                    </a:solidFill>
                  </a:tcPr>
                </a:tc>
                <a:tc>
                  <a:txBody>
                    <a:bodyPr/>
                    <a:lstStyle/>
                    <a:p>
                      <a:pPr>
                        <a:defRPr sz="900" b="0">
                          <a:solidFill>
                            <a:srgbClr val="0B0E26"/>
                          </a:solidFill>
                          <a:latin typeface="Calibri"/>
                        </a:defRPr>
                      </a:pPr>
                      <a:r>
                        <a:t>Priya Sharma</a:t>
                      </a:r>
                    </a:p>
                  </a:txBody>
                  <a:tcPr marL="43200" marR="43200" marT="21600" marB="21600" anchor="ctr">
                    <a:solidFill>
                      <a:srgbClr val="FFFFFF"/>
                    </a:solidFill>
                  </a:tcPr>
                </a:tc>
              </a:tr>
              <a:tr h="417600">
                <a:tc>
                  <a:txBody>
                    <a:bodyPr/>
                    <a:lstStyle/>
                    <a:p>
                      <a:pPr>
                        <a:defRPr sz="900" b="0">
                          <a:solidFill>
                            <a:srgbClr val="0B0E26"/>
                          </a:solidFill>
                          <a:latin typeface="Calibri"/>
                        </a:defRPr>
                      </a:pPr>
                      <a:r>
                        <a:t>Reviewed by</a:t>
                      </a:r>
                    </a:p>
                  </a:txBody>
                  <a:tcPr marL="43200" marR="43200" marT="21600" marB="21600" anchor="ctr">
                    <a:solidFill>
                      <a:srgbClr val="F1F3F8"/>
                    </a:solidFill>
                  </a:tcPr>
                </a:tc>
                <a:tc>
                  <a:txBody>
                    <a:bodyPr/>
                    <a:lstStyle/>
                    <a:p>
                      <a:pPr>
                        <a:defRPr sz="900" b="0">
                          <a:solidFill>
                            <a:srgbClr val="0B0E26"/>
                          </a:solidFill>
                          <a:latin typeface="Calibri"/>
                        </a:defRPr>
                      </a:pPr>
                      <a:r>
                        <a:t>Ravi Menon</a:t>
                      </a:r>
                    </a:p>
                  </a:txBody>
                  <a:tcPr marL="43200" marR="43200" marT="21600" marB="21600" anchor="ctr">
                    <a:solidFill>
                      <a:srgbClr val="F1F3F8"/>
                    </a:solidFill>
                  </a:tcPr>
                </a:tc>
              </a:tr>
              <a:tr h="417600">
                <a:tc>
                  <a:txBody>
                    <a:bodyPr/>
                    <a:lstStyle/>
                    <a:p>
                      <a:pPr>
                        <a:defRPr sz="900" b="0">
                          <a:solidFill>
                            <a:srgbClr val="0B0E26"/>
                          </a:solidFill>
                          <a:latin typeface="Calibri"/>
                        </a:defRPr>
                      </a:pPr>
                      <a:r>
                        <a:t>Released for reporting</a:t>
                      </a:r>
                    </a:p>
                  </a:txBody>
                  <a:tcPr marL="43200" marR="43200" marT="21600" marB="21600" anchor="ctr">
                    <a:solidFill>
                      <a:srgbClr val="FFFFFF"/>
                    </a:solidFill>
                  </a:tcPr>
                </a:tc>
                <a:tc>
                  <a:txBody>
                    <a:bodyPr/>
                    <a:lstStyle/>
                    <a:p>
                      <a:pPr>
                        <a:defRPr sz="900" b="0">
                          <a:solidFill>
                            <a:srgbClr val="0B0E26"/>
                          </a:solidFill>
                          <a:latin typeface="Calibri"/>
                        </a:defRPr>
                      </a:pPr>
                      <a:r>
                        <a:t>Priya Sharma</a:t>
                      </a:r>
                    </a:p>
                  </a:txBody>
                  <a:tcPr marL="43200" marR="43200" marT="21600" marB="21600" anchor="ctr">
                    <a:solidFill>
                      <a:srgbClr val="FFFFFF"/>
                    </a:solidFill>
                  </a:tcPr>
                </a:tc>
              </a:tr>
              <a:tr h="417600">
                <a:tc>
                  <a:txBody>
                    <a:bodyPr/>
                    <a:lstStyle/>
                    <a:p>
                      <a:pPr>
                        <a:defRPr sz="900" b="0">
                          <a:solidFill>
                            <a:srgbClr val="0B0E26"/>
                          </a:solidFill>
                          <a:latin typeface="Calibri"/>
                        </a:defRPr>
                      </a:pPr>
                      <a:r>
                        <a:t>Issue record</a:t>
                      </a:r>
                    </a:p>
                  </a:txBody>
                  <a:tcPr marL="43200" marR="43200" marT="21600" marB="21600" anchor="ctr">
                    <a:solidFill>
                      <a:srgbClr val="F1F3F8"/>
                    </a:solidFill>
                  </a:tcPr>
                </a:tc>
                <a:tc>
                  <a:txBody>
                    <a:bodyPr/>
                    <a:lstStyle/>
                    <a:p>
                      <a:pPr>
                        <a:defRPr sz="900" b="0">
                          <a:solidFill>
                            <a:srgbClr val="0B0E26"/>
                          </a:solidFill>
                          <a:latin typeface="Calibri"/>
                        </a:defRPr>
                      </a:pPr>
                      <a:r>
                        <a:t>Version history</a:t>
                      </a:r>
                    </a:p>
                  </a:txBody>
                  <a:tcPr marL="43200" marR="43200" marT="21600" marB="21600" anchor="ctr">
                    <a:solidFill>
                      <a:srgbClr val="F1F3F8"/>
                    </a:solidFill>
                  </a:tcPr>
                </a:tc>
              </a:tr>
            </a:tbl>
          </a:graphicData>
        </a:graphic>
      </p:graphicFrame>
      <p:sp>
        <p:nvSpPr>
          <p:cNvPr id="6" name="TextBox 5"/>
          <p:cNvSpPr txBox="1"/>
          <p:nvPr/>
        </p:nvSpPr>
        <p:spPr>
          <a:xfrm>
            <a:off x="7380000" y="1800000"/>
            <a:ext cx="4284000" cy="2088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Report version</a:t>
            </a:r>
          </a:p>
          <a:p>
            <a:pPr>
              <a:defRPr sz="1100" b="0">
                <a:solidFill>
                  <a:srgbClr val="3A4060"/>
                </a:solidFill>
                <a:latin typeface="Calibri"/>
              </a:defRPr>
            </a:pPr>
            <a:r>
              <a:t>v2 · generated 28 Sep 2026</a:t>
            </a:r>
          </a:p>
          <a:p>
            <a:pPr>
              <a:defRPr sz="1100" b="0">
                <a:solidFill>
                  <a:srgbClr val="3A4060"/>
                </a:solidFill>
                <a:latin typeface="Calibri"/>
              </a:defRPr>
            </a:pPr>
            <a:r>
              <a:t>Snapshot 5f2c9e1a</a:t>
            </a:r>
          </a:p>
          <a:p>
            <a:pPr>
              <a:defRPr sz="1100" b="0">
                <a:solidFill>
                  <a:srgbClr val="3A4060"/>
                </a:solidFill>
                <a:latin typeface="Calibri"/>
              </a:defRPr>
            </a:pPr>
            <a:r>
              <a:t>Names are recorded as entered by the consultant; they are not verified sign-ins.</a:t>
            </a:r>
          </a:p>
        </p:txBody>
      </p:sp>
      <p:sp>
        <p:nvSpPr>
          <p:cNvPr id="7" name="TextBox 6"/>
          <p:cNvSpPr txBox="1"/>
          <p:nvPr/>
        </p:nvSpPr>
        <p:spPr>
          <a:xfrm>
            <a:off x="504000" y="4392000"/>
            <a:ext cx="11160000" cy="720000"/>
          </a:xfrm>
          <a:prstGeom prst="rect">
            <a:avLst/>
          </a:prstGeom>
          <a:noFill/>
          <a:ln>
            <a:noFill/>
          </a:ln>
        </p:spPr>
        <p:txBody>
          <a:bodyPr wrap="square" anchor="t" lIns="43200" rIns="43200" tIns="25200" bIns="25200">
            <a:spAutoFit/>
          </a:bodyPr>
          <a:lstStyle/>
          <a:p>
            <a:pPr>
              <a:defRPr sz="1100" b="0">
                <a:solidFill>
                  <a:srgbClr val="3A4060"/>
                </a:solidFill>
                <a:latin typeface="Calibri"/>
              </a:defRPr>
            </a:pPr>
            <a:r>
              <a:t>This version is a draft until it is issued. Whether it was issued, who issued it and the SHA-256 of the issued file are recorded in the report version history.</a:t>
            </a:r>
          </a:p>
        </p:txBody>
      </p:sp>
      <p:sp>
        <p:nvSpPr>
          <p:cNvPr id="8"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0"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15 of 25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rk slide background"/>
          <p:cNvSpPr/>
          <p:nvPr/>
        </p:nvSpPr>
        <p:spPr>
          <a:xfrm>
            <a:off x="0" y="0"/>
            <a:ext cx="12192120" cy="6858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FFFFFF"/>
                </a:solidFill>
                <a:latin typeface="Calibri"/>
              </a:defRPr>
            </a:pPr>
            <a:r>
              <a:t>Annexure</a:t>
            </a:r>
          </a:p>
        </p:txBody>
      </p:sp>
      <p:sp>
        <p:nvSpPr>
          <p:cNvPr id="6" name="TextBox 5"/>
          <p:cNvSpPr txBox="1"/>
          <p:nvPr/>
        </p:nvSpPr>
        <p:spPr>
          <a:xfrm>
            <a:off x="648000" y="2160000"/>
            <a:ext cx="1980000" cy="720000"/>
          </a:xfrm>
          <a:prstGeom prst="rect">
            <a:avLst/>
          </a:prstGeom>
          <a:noFill/>
          <a:ln>
            <a:noFill/>
          </a:ln>
        </p:spPr>
        <p:txBody>
          <a:bodyPr wrap="square" anchor="t" lIns="43200" rIns="43200" tIns="25200" bIns="25200">
            <a:spAutoFit/>
          </a:bodyPr>
          <a:lstStyle/>
          <a:p>
            <a:pPr>
              <a:defRPr sz="2600" b="1">
                <a:solidFill>
                  <a:srgbClr val="12B3A6"/>
                </a:solidFill>
                <a:latin typeface="Calibri"/>
              </a:defRPr>
            </a:pPr>
            <a:r>
              <a:t>05</a:t>
            </a:r>
          </a:p>
        </p:txBody>
      </p:sp>
      <p:sp>
        <p:nvSpPr>
          <p:cNvPr id="7" name="TextBox 6"/>
          <p:cNvSpPr txBox="1"/>
          <p:nvPr/>
        </p:nvSpPr>
        <p:spPr>
          <a:xfrm>
            <a:off x="648000" y="3024000"/>
            <a:ext cx="6840000" cy="1008000"/>
          </a:xfrm>
          <a:prstGeom prst="rect">
            <a:avLst/>
          </a:prstGeom>
          <a:noFill/>
          <a:ln>
            <a:noFill/>
          </a:ln>
        </p:spPr>
        <p:txBody>
          <a:bodyPr wrap="square" anchor="t" lIns="43200" rIns="43200" tIns="25200" bIns="25200">
            <a:spAutoFit/>
          </a:bodyPr>
          <a:lstStyle/>
          <a:p>
            <a:pPr>
              <a:defRPr sz="4000" b="1">
                <a:solidFill>
                  <a:srgbClr val="FFFFFF"/>
                </a:solidFill>
                <a:latin typeface="Calibri"/>
              </a:defRPr>
            </a:pPr>
            <a:r>
              <a:t>Annexure</a:t>
            </a:r>
          </a:p>
        </p:txBody>
      </p:sp>
      <p:sp>
        <p:nvSpPr>
          <p:cNvPr id="8" name="TextBox 7"/>
          <p:cNvSpPr txBox="1"/>
          <p:nvPr/>
        </p:nvSpPr>
        <p:spPr>
          <a:xfrm>
            <a:off x="648000" y="4392000"/>
            <a:ext cx="6840000" cy="1152000"/>
          </a:xfrm>
          <a:prstGeom prst="rect">
            <a:avLst/>
          </a:prstGeom>
          <a:noFill/>
          <a:ln>
            <a:noFill/>
          </a:ln>
        </p:spPr>
        <p:txBody>
          <a:bodyPr wrap="square" anchor="t" lIns="43200" rIns="43200" tIns="25200" bIns="25200">
            <a:spAutoFit/>
          </a:bodyPr>
          <a:lstStyle/>
          <a:p>
            <a:pPr>
              <a:defRPr sz="1400" b="0">
                <a:solidFill>
                  <a:srgbClr val="C9D0FF"/>
                </a:solidFill>
                <a:latin typeface="Calibri"/>
              </a:defRPr>
            </a:pPr>
            <a:r>
              <a:t>A1  Methodology</a:t>
            </a:r>
          </a:p>
          <a:p>
            <a:pPr>
              <a:defRPr sz="1400" b="0">
                <a:solidFill>
                  <a:srgbClr val="C9D0FF"/>
                </a:solidFill>
                <a:latin typeface="Calibri"/>
              </a:defRPr>
            </a:pPr>
            <a:r>
              <a:t>A2  Requirement register</a:t>
            </a:r>
          </a:p>
          <a:p>
            <a:pPr>
              <a:defRPr sz="1400" b="0">
                <a:solidFill>
                  <a:srgbClr val="C9D0FF"/>
                </a:solidFill>
                <a:latin typeface="Calibri"/>
              </a:defRPr>
            </a:pPr>
            <a:r>
              <a:t>A3  Evidence register</a:t>
            </a:r>
          </a:p>
          <a:p>
            <a:pPr>
              <a:defRPr sz="1400" b="0">
                <a:solidFill>
                  <a:srgbClr val="C9D0FF"/>
                </a:solidFill>
                <a:latin typeface="Calibri"/>
              </a:defRPr>
            </a:pPr>
            <a:r>
              <a:t>A4  Statement of Applicability summary</a:t>
            </a:r>
          </a:p>
        </p:txBody>
      </p:sp>
      <p:sp>
        <p:nvSpPr>
          <p:cNvPr id="9" name="Footer rule"/>
          <p:cNvSpPr/>
          <p:nvPr/>
        </p:nvSpPr>
        <p:spPr>
          <a:xfrm>
            <a:off x="0" y="6480000"/>
            <a:ext cx="12192120" cy="14400"/>
          </a:xfrm>
          <a:prstGeom prst="rect">
            <a:avLst/>
          </a:prstGeom>
          <a:solidFill>
            <a:srgbClr val="6D7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C9D0FF"/>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1"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16 of 25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Methodology</a:t>
            </a:r>
          </a:p>
        </p:txBody>
      </p:sp>
      <p:sp>
        <p:nvSpPr>
          <p:cNvPr id="5" name="TextBox 4"/>
          <p:cNvSpPr txBox="1"/>
          <p:nvPr/>
        </p:nvSpPr>
        <p:spPr>
          <a:xfrm>
            <a:off x="504000" y="1440000"/>
            <a:ext cx="5400000" cy="4392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This assessment evaluates compliance against the following framework(s): India DPDPA, ISO 27001, across 120 in-scope requirements.</a:t>
            </a:r>
          </a:p>
          <a:p>
            <a:pPr>
              <a:defRPr sz="1100" b="0">
                <a:solidFill>
                  <a:srgbClr val="3A4060"/>
                </a:solidFill>
                <a:latin typeface="Calibri"/>
              </a:defRPr>
            </a:pPr>
          </a:p>
          <a:p>
            <a:pPr>
              <a:defRPr sz="1100" b="0">
                <a:solidFill>
                  <a:srgbClr val="3A4060"/>
                </a:solidFill>
                <a:latin typeface="Calibri"/>
              </a:defRPr>
            </a:pPr>
            <a:r>
              <a:t>Basis of Assessment:</a:t>
            </a:r>
          </a:p>
          <a:p>
            <a:pPr>
              <a:defRPr sz="1100" b="0">
                <a:solidFill>
                  <a:srgbClr val="3A4060"/>
                </a:solidFill>
                <a:latin typeface="Calibri"/>
              </a:defRPr>
            </a:pPr>
            <a:r>
              <a:t>Each in-scope requirement receives one conclusion. The analysis engine reviews the submitted documents and questionnaire responses and proposes an outcome with cited evidence. A consultant reviews the evidence and individually approves, edits or rejects every proposal. Only individually approved conclusions appear in this report; no outcome, score or finding is produced by the AI on its own.</a:t>
            </a:r>
          </a:p>
          <a:p>
            <a:pPr>
              <a:defRPr sz="1100" b="0">
                <a:solidFill>
                  <a:srgbClr val="3A4060"/>
                </a:solidFill>
                <a:latin typeface="Calibri"/>
              </a:defRPr>
            </a:pPr>
          </a:p>
          <a:p>
            <a:pPr>
              <a:defRPr sz="1100" b="0">
                <a:solidFill>
                  <a:srgbClr val="3A4060"/>
                </a:solidFill>
                <a:latin typeface="Calibri"/>
              </a:defRPr>
            </a:pPr>
            <a:r>
              <a:t>Outcome Definitions:</a:t>
            </a:r>
          </a:p>
          <a:p>
            <a:pPr>
              <a:defRPr sz="1100" b="0">
                <a:solidFill>
                  <a:srgbClr val="3A4060"/>
                </a:solidFill>
                <a:latin typeface="Calibri"/>
              </a:defRPr>
            </a:pPr>
            <a:r>
              <a:t>- Compliant: the requirement is met and supported by evidence</a:t>
            </a:r>
          </a:p>
          <a:p>
            <a:pPr>
              <a:defRPr sz="1100" b="0">
                <a:solidFill>
                  <a:srgbClr val="3A4060"/>
                </a:solidFill>
                <a:latin typeface="Calibri"/>
              </a:defRPr>
            </a:pPr>
            <a:r>
              <a:t>- Partially Compliant: the requirement is met in part</a:t>
            </a:r>
          </a:p>
          <a:p>
            <a:pPr>
              <a:defRPr sz="1100" b="0">
                <a:solidFill>
                  <a:srgbClr val="3A4060"/>
                </a:solidFill>
                <a:latin typeface="Calibri"/>
              </a:defRPr>
            </a:pPr>
            <a:r>
              <a:t>- Non-Compliant: the requirement is not met</a:t>
            </a:r>
          </a:p>
          <a:p>
            <a:pPr>
              <a:defRPr sz="1100" b="0">
                <a:solidFill>
                  <a:srgbClr val="3A4060"/>
                </a:solidFill>
                <a:latin typeface="Calibri"/>
              </a:defRPr>
            </a:pPr>
            <a:r>
              <a:t>- Insufficient Evidence: the evidence provided does not support a conclusion either way</a:t>
            </a:r>
          </a:p>
          <a:p>
            <a:pPr>
              <a:defRPr sz="1100" b="0">
                <a:solidFill>
                  <a:srgbClr val="3A4060"/>
                </a:solidFill>
                <a:latin typeface="Calibri"/>
              </a:defRPr>
            </a:pPr>
            <a:r>
              <a:t>- Not Applicable: the requirement does not apply within the assessed scope</a:t>
            </a:r>
          </a:p>
          <a:p>
            <a:pPr>
              <a:defRPr sz="1100" b="0">
                <a:solidFill>
                  <a:srgbClr val="3A4060"/>
                </a:solidFill>
                <a:latin typeface="Calibri"/>
              </a:defRPr>
            </a:pPr>
          </a:p>
          <a:p>
            <a:pPr>
              <a:defRPr sz="1100" b="0">
                <a:solidFill>
                  <a:srgbClr val="3A4060"/>
                </a:solidFill>
                <a:latin typeface="Calibri"/>
              </a:defRPr>
            </a:pPr>
            <a:r>
              <a:t>Scoring Basis:</a:t>
            </a:r>
          </a:p>
          <a:p>
            <a:pPr>
              <a:defRPr sz="1100" b="0">
                <a:solidFill>
                  <a:srgbClr val="3A4060"/>
                </a:solidFill>
                <a:latin typeface="Calibri"/>
              </a:defRPr>
            </a:pPr>
            <a:r>
              <a:t>Scores are computed only from conclusions a consultant has individually approved. Each approved outcome counts as follows: Compliant 100 points, Partially Compliant 50 points, Non-Compliant 0 points. Not Applicable and Insufficient Evidence are excluded from the scoring denominator. Insufficient Evidence is not treated as Non-Compliant; the number of requirements with insufficient evidence is reported next to each framework score. Requirements excluded at scoping are not scored. A framework is scored only when every in-scope requirement has an approved conclusion. Section scores are the average of their requirement points; domain and framework scores are weighted averages using the published weights below.</a:t>
            </a:r>
          </a:p>
          <a:p>
            <a:pPr>
              <a:defRPr sz="1100" b="0">
                <a:solidFill>
                  <a:srgbClr val="3A4060"/>
                </a:solidFill>
                <a:latin typeface="Calibri"/>
              </a:defRPr>
            </a:pPr>
          </a:p>
          <a:p>
            <a:pPr>
              <a:defRPr sz="1100" b="0">
                <a:solidFill>
                  <a:srgbClr val="3A4060"/>
                </a:solidFill>
                <a:latin typeface="Calibri"/>
              </a:defRPr>
            </a:pPr>
            <a:r>
              <a:t>Framework Structure and Weights:</a:t>
            </a:r>
          </a:p>
          <a:p>
            <a:pPr>
              <a:defRPr sz="1100" b="0">
                <a:solidFill>
                  <a:srgbClr val="3A4060"/>
                </a:solidFill>
                <a:latin typeface="Calibri"/>
              </a:defRPr>
            </a:pPr>
            <a:r>
              <a:t>- India DPDPA (2023): 41 requirements in 6 domains. Domain weights: Obligations of Data Fiduciary 30%, Rights of Data Principal 20%, Special Provisions 20%, Consent Management (Detailed) 10%, Cross-Border Data Transfer 10%, Breach Notification 10%.</a:t>
            </a:r>
          </a:p>
          <a:p>
            <a:pPr>
              <a:defRPr sz="1100" b="0">
                <a:solidFill>
                  <a:srgbClr val="3A4060"/>
                </a:solidFill>
                <a:latin typeface="Calibri"/>
              </a:defRPr>
            </a:pPr>
            <a:r>
              <a:t>- ISO 27001 (2022): 93 requirements in 4 domains. Domain weights: Organizational Controls 35%, People Controls 15%, Physical Controls 15%, Technological Controls 35%.</a:t>
            </a:r>
          </a:p>
          <a:p>
            <a:pPr>
              <a:defRPr sz="1100" b="0">
                <a:solidFill>
                  <a:srgbClr val="3A4060"/>
                </a:solidFill>
                <a:latin typeface="Calibri"/>
              </a:defRPr>
            </a:pPr>
            <a:r>
              <a:t>Requirements are referenced by clause or control identifier for each selected framework; requirement descriptions are summarised for assessment purposes and do not reproduce the source standard. Scores are computed and reported independently for each framework; no score is combined across frameworks.</a:t>
            </a:r>
          </a:p>
          <a:p>
            <a:pPr>
              <a:defRPr sz="1100" b="0">
                <a:solidFill>
                  <a:srgbClr val="3A4060"/>
                </a:solidFill>
                <a:latin typeface="Calibri"/>
              </a:defRPr>
            </a:pPr>
          </a:p>
          <a:p>
            <a:pPr>
              <a:defRPr sz="1100" b="0">
                <a:solidFill>
                  <a:srgbClr val="3A4060"/>
                </a:solidFill>
                <a:latin typeface="Calibri"/>
              </a:defRPr>
            </a:pPr>
            <a:r>
              <a:t>Rating Thresholds:</a:t>
            </a:r>
          </a:p>
          <a:p>
            <a:pPr>
              <a:defRPr sz="1100" b="0">
                <a:solidFill>
                  <a:srgbClr val="3A4060"/>
                </a:solidFill>
                <a:latin typeface="Calibri"/>
              </a:defRPr>
            </a:pPr>
            <a:r>
              <a:t>- 80-100%: Compliant</a:t>
            </a:r>
          </a:p>
          <a:p>
            <a:pPr>
              <a:defRPr sz="1100" b="0">
                <a:solidFill>
                  <a:srgbClr val="3A4060"/>
                </a:solidFill>
                <a:latin typeface="Calibri"/>
              </a:defRPr>
            </a:pPr>
            <a:r>
              <a:t>- 60-79%: Partially Compliant</a:t>
            </a:r>
          </a:p>
          <a:p>
            <a:pPr>
              <a:defRPr sz="1100" b="0">
                <a:solidFill>
                  <a:srgbClr val="3A4060"/>
                </a:solidFill>
                <a:latin typeface="Calibri"/>
              </a:defRPr>
            </a:pPr>
            <a:r>
              <a:t>- 40-59%: Needs Significant Improvement</a:t>
            </a:r>
          </a:p>
          <a:p>
            <a:pPr>
              <a:defRPr sz="1100" b="0">
                <a:solidFill>
                  <a:srgbClr val="3A4060"/>
                </a:solidFill>
                <a:latin typeface="Calibri"/>
              </a:defRPr>
            </a:pPr>
            <a:r>
              <a:t>- 0-39%: Non-Compliant</a:t>
            </a:r>
          </a:p>
          <a:p>
            <a:pPr>
              <a:defRPr sz="1100" b="0">
                <a:solidFill>
                  <a:srgbClr val="3A4060"/>
                </a:solidFill>
                <a:latin typeface="Calibri"/>
              </a:defRPr>
            </a:pPr>
          </a:p>
          <a:p>
            <a:pPr>
              <a:defRPr sz="1100" b="0">
                <a:solidFill>
                  <a:srgbClr val="3A4060"/>
                </a:solidFill>
                <a:latin typeface="Calibri"/>
              </a:defRPr>
            </a:pPr>
            <a:r>
              <a:t>Risk Classification:</a:t>
            </a:r>
          </a:p>
          <a:p>
            <a:pPr>
              <a:defRPr sz="1100" b="0">
                <a:solidFill>
                  <a:srgbClr val="3A4060"/>
                </a:solidFill>
                <a:latin typeface="Calibri"/>
              </a:defRPr>
            </a:pPr>
            <a:r>
              <a:t>Each gap carries the risk level (Critical, High, Medium, Low) approved by the consultant, reflecting regulatory exposure, potential penalties under INDIA DPDPA and impact on affected individuals (for INDIA DPDPA), and likely impact on the confidentiality, integrity and availability of information (for ISO 27001). Remediation priority on each gap is derived from its approved risk level.</a:t>
            </a:r>
          </a:p>
          <a:p>
            <a:pPr>
              <a:defRPr sz="1100" b="0">
                <a:solidFill>
                  <a:srgbClr val="3A4060"/>
                </a:solidFill>
                <a:latin typeface="Calibri"/>
              </a:defRPr>
            </a:pPr>
          </a:p>
          <a:p>
            <a:pPr>
              <a:defRPr sz="1100" b="0">
                <a:solidFill>
                  <a:srgbClr val="3A4060"/>
                </a:solidFill>
                <a:latin typeface="Calibri"/>
              </a:defRPr>
            </a:pPr>
            <a:r>
              <a:t>Disclaimer:</a:t>
            </a:r>
          </a:p>
          <a:p>
            <a:pPr>
              <a:defRPr sz="1100" b="0">
                <a:solidFill>
                  <a:srgbClr val="3A4060"/>
                </a:solidFill>
                <a:latin typeface="Calibri"/>
              </a:defRPr>
            </a:pPr>
            <a:r>
              <a:t>This assessment provides guidance based on the information and evidence provided and is not legal advice. Consult qualified legal counsel for definitive compliance determinations under INDIA DPDPA. For ISO 27001, it is not a certification audit; certification decisions rest with an accredited certification body or qualified assessor.</a:t>
            </a:r>
          </a:p>
        </p:txBody>
      </p:sp>
      <p:sp>
        <p:nvSpPr>
          <p:cNvPr id="6" name="TextBox 5"/>
          <p:cNvSpPr txBox="1"/>
          <p:nvPr/>
        </p:nvSpPr>
        <p:spPr>
          <a:xfrm>
            <a:off x="6264000" y="1440000"/>
            <a:ext cx="5400000" cy="4392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This document constitutes an evidence-based compliance gap assessment. It is not a formal compliance audit and does not constitute legal advice. Findings are based on documents submitted for review and information disclosed by the organization's representatives, and every conclusion was individually approved by a consultant. These conclusions reflect the evidence considered up to the evidence cut-off stated above.</a:t>
            </a:r>
          </a:p>
        </p:txBody>
      </p:sp>
      <p:sp>
        <p:nvSpPr>
          <p:cNvPr id="7"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9"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17 of 25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(1 of 7)</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a:t>
                      </a:r>
                    </a:p>
                  </a:txBody>
                  <a:tcPr marL="43200" marR="43200" marT="21600" marB="21600" anchor="ctr">
                    <a:solidFill>
                      <a:srgbClr val="FFFFFF"/>
                    </a:solidFill>
                  </a:tcPr>
                </a:tc>
                <a:tc>
                  <a:txBody>
                    <a:bodyPr/>
                    <a:lstStyle/>
                    <a:p>
                      <a:pPr>
                        <a:defRPr sz="900" b="0">
                          <a:solidFill>
                            <a:srgbClr val="0B0E26"/>
                          </a:solidFill>
                          <a:latin typeface="Calibri"/>
                        </a:defRPr>
                      </a:pPr>
                      <a:r>
                        <a:t>Policies for information security</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a:t>
                      </a:r>
                    </a:p>
                  </a:txBody>
                  <a:tcPr marL="43200" marR="43200" marT="21600" marB="21600" anchor="ctr">
                    <a:solidFill>
                      <a:srgbClr val="F1F3F8"/>
                    </a:solidFill>
                  </a:tcPr>
                </a:tc>
                <a:tc>
                  <a:txBody>
                    <a:bodyPr/>
                    <a:lstStyle/>
                    <a:p>
                      <a:pPr>
                        <a:defRPr sz="900" b="0">
                          <a:solidFill>
                            <a:srgbClr val="0B0E26"/>
                          </a:solidFill>
                          <a:latin typeface="Calibri"/>
                        </a:defRPr>
                      </a:pPr>
                      <a:r>
                        <a:t>Information security roles and responsibilities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p.17</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a:t>
                      </a:r>
                    </a:p>
                  </a:txBody>
                  <a:tcPr marL="43200" marR="43200" marT="21600" marB="21600" anchor="ctr">
                    <a:solidFill>
                      <a:srgbClr val="FFFFFF"/>
                    </a:solidFill>
                  </a:tcPr>
                </a:tc>
                <a:tc>
                  <a:txBody>
                    <a:bodyPr/>
                    <a:lstStyle/>
                    <a:p>
                      <a:pPr>
                        <a:defRPr sz="900" b="0">
                          <a:solidFill>
                            <a:srgbClr val="0B0E26"/>
                          </a:solidFill>
                          <a:latin typeface="Calibri"/>
                        </a:defRPr>
                      </a:pPr>
                      <a:r>
                        <a:t>Segregation of duties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p.8</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ISO.A5.4</a:t>
                      </a:r>
                    </a:p>
                  </a:txBody>
                  <a:tcPr marL="43200" marR="43200" marT="21600" marB="21600" anchor="ctr">
                    <a:solidFill>
                      <a:srgbClr val="F1F3F8"/>
                    </a:solidFill>
                  </a:tcPr>
                </a:tc>
                <a:tc>
                  <a:txBody>
                    <a:bodyPr/>
                    <a:lstStyle/>
                    <a:p>
                      <a:pPr>
                        <a:defRPr sz="900" b="0">
                          <a:solidFill>
                            <a:srgbClr val="0B0E26"/>
                          </a:solidFill>
                          <a:latin typeface="Calibri"/>
                        </a:defRPr>
                      </a:pPr>
                      <a:r>
                        <a:t>Management responsibilities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p.5</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ISO.A5.5</a:t>
                      </a:r>
                    </a:p>
                  </a:txBody>
                  <a:tcPr marL="43200" marR="43200" marT="21600" marB="21600" anchor="ctr">
                    <a:solidFill>
                      <a:srgbClr val="FFFFFF"/>
                    </a:solidFill>
                  </a:tcPr>
                </a:tc>
                <a:tc>
                  <a:txBody>
                    <a:bodyPr/>
                    <a:lstStyle/>
                    <a:p>
                      <a:pPr>
                        <a:defRPr sz="900" b="0">
                          <a:solidFill>
                            <a:srgbClr val="0B0E26"/>
                          </a:solidFill>
                          <a:latin typeface="Calibri"/>
                        </a:defRPr>
                      </a:pPr>
                      <a:r>
                        <a:t>Contact with authorities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p.13</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ISO.A5.6</a:t>
                      </a:r>
                    </a:p>
                  </a:txBody>
                  <a:tcPr marL="43200" marR="43200" marT="21600" marB="21600" anchor="ctr">
                    <a:solidFill>
                      <a:srgbClr val="F1F3F8"/>
                    </a:solidFill>
                  </a:tcPr>
                </a:tc>
                <a:tc>
                  <a:txBody>
                    <a:bodyPr/>
                    <a:lstStyle/>
                    <a:p>
                      <a:pPr>
                        <a:defRPr sz="900" b="0">
                          <a:solidFill>
                            <a:srgbClr val="0B0E26"/>
                          </a:solidFill>
                          <a:latin typeface="Calibri"/>
                        </a:defRPr>
                      </a:pPr>
                      <a:r>
                        <a:t>Contact with special interest groups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p.21</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ISO.A5.7</a:t>
                      </a:r>
                    </a:p>
                  </a:txBody>
                  <a:tcPr marL="43200" marR="43200" marT="21600" marB="21600" anchor="ctr">
                    <a:solidFill>
                      <a:srgbClr val="FFFFFF"/>
                    </a:solidFill>
                  </a:tcPr>
                </a:tc>
                <a:tc>
                  <a:txBody>
                    <a:bodyPr/>
                    <a:lstStyle/>
                    <a:p>
                      <a:pPr>
                        <a:defRPr sz="900" b="0">
                          <a:solidFill>
                            <a:srgbClr val="0B0E26"/>
                          </a:solidFill>
                          <a:latin typeface="Calibri"/>
                        </a:defRPr>
                      </a:pPr>
                      <a:r>
                        <a:t>Threat intelligence</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p.21</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ISO.A5.8</a:t>
                      </a:r>
                    </a:p>
                  </a:txBody>
                  <a:tcPr marL="43200" marR="43200" marT="21600" marB="21600" anchor="ctr">
                    <a:solidFill>
                      <a:srgbClr val="F1F3F8"/>
                    </a:solidFill>
                  </a:tcPr>
                </a:tc>
                <a:tc>
                  <a:txBody>
                    <a:bodyPr/>
                    <a:lstStyle/>
                    <a:p>
                      <a:pPr>
                        <a:defRPr sz="900" b="0">
                          <a:solidFill>
                            <a:srgbClr val="0B0E26"/>
                          </a:solidFill>
                          <a:latin typeface="Calibri"/>
                        </a:defRPr>
                      </a:pPr>
                      <a:r>
                        <a:t>Information security in project management</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p.16</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ISO.A5.9</a:t>
                      </a:r>
                    </a:p>
                  </a:txBody>
                  <a:tcPr marL="43200" marR="43200" marT="21600" marB="21600" anchor="ctr">
                    <a:solidFill>
                      <a:srgbClr val="FFFFFF"/>
                    </a:solidFill>
                  </a:tcPr>
                </a:tc>
                <a:tc>
                  <a:txBody>
                    <a:bodyPr/>
                    <a:lstStyle/>
                    <a:p>
                      <a:pPr>
                        <a:defRPr sz="900" b="0">
                          <a:solidFill>
                            <a:srgbClr val="0B0E26"/>
                          </a:solidFill>
                          <a:latin typeface="Calibri"/>
                        </a:defRPr>
                      </a:pPr>
                      <a:r>
                        <a:t>Inventory of information and other associated assets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p.5</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ISO.A5.10</a:t>
                      </a:r>
                    </a:p>
                  </a:txBody>
                  <a:tcPr marL="43200" marR="43200" marT="21600" marB="21600" anchor="ctr">
                    <a:solidFill>
                      <a:srgbClr val="F1F3F8"/>
                    </a:solidFill>
                  </a:tcPr>
                </a:tc>
                <a:tc>
                  <a:txBody>
                    <a:bodyPr/>
                    <a:lstStyle/>
                    <a:p>
                      <a:pPr>
                        <a:defRPr sz="900" b="0">
                          <a:solidFill>
                            <a:srgbClr val="0B0E26"/>
                          </a:solidFill>
                          <a:latin typeface="Calibri"/>
                        </a:defRPr>
                      </a:pPr>
                      <a:r>
                        <a:t>Acceptable use of information and other associated assets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p.28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ISO.A5.11</a:t>
                      </a:r>
                    </a:p>
                  </a:txBody>
                  <a:tcPr marL="43200" marR="43200" marT="21600" marB="21600" anchor="ctr">
                    <a:solidFill>
                      <a:srgbClr val="FFFFFF"/>
                    </a:solidFill>
                  </a:tcPr>
                </a:tc>
                <a:tc>
                  <a:txBody>
                    <a:bodyPr/>
                    <a:lstStyle/>
                    <a:p>
                      <a:pPr>
                        <a:defRPr sz="900" b="0">
                          <a:solidFill>
                            <a:srgbClr val="0B0E26"/>
                          </a:solidFill>
                          <a:latin typeface="Calibri"/>
                        </a:defRPr>
                      </a:pPr>
                      <a:r>
                        <a:t>Return of assets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p.18</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ISO.A5.12</a:t>
                      </a:r>
                    </a:p>
                  </a:txBody>
                  <a:tcPr marL="43200" marR="43200" marT="21600" marB="21600" anchor="ctr">
                    <a:solidFill>
                      <a:srgbClr val="F1F3F8"/>
                    </a:solidFill>
                  </a:tcPr>
                </a:tc>
                <a:tc>
                  <a:txBody>
                    <a:bodyPr/>
                    <a:lstStyle/>
                    <a:p>
                      <a:pPr>
                        <a:defRPr sz="900" b="0">
                          <a:solidFill>
                            <a:srgbClr val="0B0E26"/>
                          </a:solidFill>
                          <a:latin typeface="Calibri"/>
                        </a:defRPr>
                      </a:pPr>
                      <a:r>
                        <a:t>Classification of information</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p.26</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18 of 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(2 of 7)</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ISO.A5.13</a:t>
                      </a:r>
                    </a:p>
                  </a:txBody>
                  <a:tcPr marL="43200" marR="43200" marT="21600" marB="21600" anchor="ctr">
                    <a:solidFill>
                      <a:srgbClr val="FFFFFF"/>
                    </a:solidFill>
                  </a:tcPr>
                </a:tc>
                <a:tc>
                  <a:txBody>
                    <a:bodyPr/>
                    <a:lstStyle/>
                    <a:p>
                      <a:pPr>
                        <a:defRPr sz="900" b="0">
                          <a:solidFill>
                            <a:srgbClr val="0B0E26"/>
                          </a:solidFill>
                          <a:latin typeface="Calibri"/>
                        </a:defRPr>
                      </a:pPr>
                      <a:r>
                        <a:t>Labelling of information</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ISO.A5.14</a:t>
                      </a:r>
                    </a:p>
                  </a:txBody>
                  <a:tcPr marL="43200" marR="43200" marT="21600" marB="21600" anchor="ctr">
                    <a:solidFill>
                      <a:srgbClr val="F1F3F8"/>
                    </a:solidFill>
                  </a:tcPr>
                </a:tc>
                <a:tc>
                  <a:txBody>
                    <a:bodyPr/>
                    <a:lstStyle/>
                    <a:p>
                      <a:pPr>
                        <a:defRPr sz="900" b="0">
                          <a:solidFill>
                            <a:srgbClr val="0B0E26"/>
                          </a:solidFill>
                          <a:latin typeface="Calibri"/>
                        </a:defRPr>
                      </a:pPr>
                      <a:r>
                        <a:t>Information transfer</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Non-Compliant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p.13</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ISO.A5.15</a:t>
                      </a:r>
                    </a:p>
                  </a:txBody>
                  <a:tcPr marL="43200" marR="43200" marT="21600" marB="21600" anchor="ctr">
                    <a:solidFill>
                      <a:srgbClr val="FFFFFF"/>
                    </a:solidFill>
                  </a:tcPr>
                </a:tc>
                <a:tc>
                  <a:txBody>
                    <a:bodyPr/>
                    <a:lstStyle/>
                    <a:p>
                      <a:pPr>
                        <a:defRPr sz="900" b="0">
                          <a:solidFill>
                            <a:srgbClr val="0B0E26"/>
                          </a:solidFill>
                          <a:latin typeface="Calibri"/>
                        </a:defRPr>
                      </a:pPr>
                      <a:r>
                        <a:t>Access control</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p.22</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ISO.A5.16</a:t>
                      </a:r>
                    </a:p>
                  </a:txBody>
                  <a:tcPr marL="43200" marR="43200" marT="21600" marB="21600" anchor="ctr">
                    <a:solidFill>
                      <a:srgbClr val="F1F3F8"/>
                    </a:solidFill>
                  </a:tcPr>
                </a:tc>
                <a:tc>
                  <a:txBody>
                    <a:bodyPr/>
                    <a:lstStyle/>
                    <a:p>
                      <a:pPr>
                        <a:defRPr sz="900" b="0">
                          <a:solidFill>
                            <a:srgbClr val="0B0E26"/>
                          </a:solidFill>
                          <a:latin typeface="Calibri"/>
                        </a:defRPr>
                      </a:pPr>
                      <a:r>
                        <a:t>Identity management</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p.27</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ISO.A5.17</a:t>
                      </a:r>
                    </a:p>
                  </a:txBody>
                  <a:tcPr marL="43200" marR="43200" marT="21600" marB="21600" anchor="ctr">
                    <a:solidFill>
                      <a:srgbClr val="FFFFFF"/>
                    </a:solidFill>
                  </a:tcPr>
                </a:tc>
                <a:tc>
                  <a:txBody>
                    <a:bodyPr/>
                    <a:lstStyle/>
                    <a:p>
                      <a:pPr>
                        <a:defRPr sz="900" b="0">
                          <a:solidFill>
                            <a:srgbClr val="0B0E26"/>
                          </a:solidFill>
                          <a:latin typeface="Calibri"/>
                        </a:defRPr>
                      </a:pPr>
                      <a:r>
                        <a:t>Authentication information</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p.8</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ISO.A5.18</a:t>
                      </a:r>
                    </a:p>
                  </a:txBody>
                  <a:tcPr marL="43200" marR="43200" marT="21600" marB="21600" anchor="ctr">
                    <a:solidFill>
                      <a:srgbClr val="F1F3F8"/>
                    </a:solidFill>
                  </a:tcPr>
                </a:tc>
                <a:tc>
                  <a:txBody>
                    <a:bodyPr/>
                    <a:lstStyle/>
                    <a:p>
                      <a:pPr>
                        <a:defRPr sz="900" b="0">
                          <a:solidFill>
                            <a:srgbClr val="0B0E26"/>
                          </a:solidFill>
                          <a:latin typeface="Calibri"/>
                        </a:defRPr>
                      </a:pPr>
                      <a:r>
                        <a:t>Access rights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Non-Compliant</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access-review-export.xlsx v1, Sheet 'Leavers', rows 2-15</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ISO.A5.19</a:t>
                      </a:r>
                    </a:p>
                  </a:txBody>
                  <a:tcPr marL="43200" marR="43200" marT="21600" marB="21600" anchor="ctr">
                    <a:solidFill>
                      <a:srgbClr val="FFFFFF"/>
                    </a:solidFill>
                  </a:tcPr>
                </a:tc>
                <a:tc>
                  <a:txBody>
                    <a:bodyPr/>
                    <a:lstStyle/>
                    <a:p>
                      <a:pPr>
                        <a:defRPr sz="900" b="0">
                          <a:solidFill>
                            <a:srgbClr val="0B0E26"/>
                          </a:solidFill>
                          <a:latin typeface="Calibri"/>
                        </a:defRPr>
                      </a:pPr>
                      <a:r>
                        <a:t>Information security in supplier relationships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ISO.A5.20</a:t>
                      </a:r>
                    </a:p>
                  </a:txBody>
                  <a:tcPr marL="43200" marR="43200" marT="21600" marB="21600" anchor="ctr">
                    <a:solidFill>
                      <a:srgbClr val="F1F3F8"/>
                    </a:solidFill>
                  </a:tcPr>
                </a:tc>
                <a:tc>
                  <a:txBody>
                    <a:bodyPr/>
                    <a:lstStyle/>
                    <a:p>
                      <a:pPr>
                        <a:defRPr sz="900" b="0">
                          <a:solidFill>
                            <a:srgbClr val="0B0E26"/>
                          </a:solidFill>
                          <a:latin typeface="Calibri"/>
                        </a:defRPr>
                      </a:pPr>
                      <a:r>
                        <a:t>Addressing information security within supplier agreements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Non-Compliant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p.24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ISO.A5.21</a:t>
                      </a:r>
                    </a:p>
                  </a:txBody>
                  <a:tcPr marL="43200" marR="43200" marT="21600" marB="21600" anchor="ctr">
                    <a:solidFill>
                      <a:srgbClr val="FFFFFF"/>
                    </a:solidFill>
                  </a:tcPr>
                </a:tc>
                <a:tc>
                  <a:txBody>
                    <a:bodyPr/>
                    <a:lstStyle/>
                    <a:p>
                      <a:pPr>
                        <a:defRPr sz="900" b="0">
                          <a:solidFill>
                            <a:srgbClr val="0B0E26"/>
                          </a:solidFill>
                          <a:latin typeface="Calibri"/>
                        </a:defRPr>
                      </a:pPr>
                      <a:r>
                        <a:t>Managing information security in the ICT supply chain</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p.13</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ISO.A5.22</a:t>
                      </a:r>
                    </a:p>
                  </a:txBody>
                  <a:tcPr marL="43200" marR="43200" marT="21600" marB="21600" anchor="ctr">
                    <a:solidFill>
                      <a:srgbClr val="F1F3F8"/>
                    </a:solidFill>
                  </a:tcPr>
                </a:tc>
                <a:tc>
                  <a:txBody>
                    <a:bodyPr/>
                    <a:lstStyle/>
                    <a:p>
                      <a:pPr>
                        <a:defRPr sz="900" b="0">
                          <a:solidFill>
                            <a:srgbClr val="0B0E26"/>
                          </a:solidFill>
                          <a:latin typeface="Calibri"/>
                        </a:defRPr>
                      </a:pPr>
                      <a:r>
                        <a:t>Monitoring, review and change management of supplier services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ISO.A5.23</a:t>
                      </a:r>
                    </a:p>
                  </a:txBody>
                  <a:tcPr marL="43200" marR="43200" marT="21600" marB="21600" anchor="ctr">
                    <a:solidFill>
                      <a:srgbClr val="FFFFFF"/>
                    </a:solidFill>
                  </a:tcPr>
                </a:tc>
                <a:tc>
                  <a:txBody>
                    <a:bodyPr/>
                    <a:lstStyle/>
                    <a:p>
                      <a:pPr>
                        <a:defRPr sz="900" b="0">
                          <a:solidFill>
                            <a:srgbClr val="0B0E26"/>
                          </a:solidFill>
                          <a:latin typeface="Calibri"/>
                        </a:defRPr>
                      </a:pPr>
                      <a:r>
                        <a:t>Information security for use of cloud services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p.17</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ISO.A5.24</a:t>
                      </a:r>
                    </a:p>
                  </a:txBody>
                  <a:tcPr marL="43200" marR="43200" marT="21600" marB="21600" anchor="ctr">
                    <a:solidFill>
                      <a:srgbClr val="F1F3F8"/>
                    </a:solidFill>
                  </a:tcPr>
                </a:tc>
                <a:tc>
                  <a:txBody>
                    <a:bodyPr/>
                    <a:lstStyle/>
                    <a:p>
                      <a:pPr>
                        <a:defRPr sz="900" b="0">
                          <a:solidFill>
                            <a:srgbClr val="0B0E26"/>
                          </a:solidFill>
                          <a:latin typeface="Calibri"/>
                        </a:defRPr>
                      </a:pPr>
                      <a:r>
                        <a:t>Information security incident management planning and preparation</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19 of 25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(3 of 7)</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ISO.A5.25</a:t>
                      </a:r>
                    </a:p>
                  </a:txBody>
                  <a:tcPr marL="43200" marR="43200" marT="21600" marB="21600" anchor="ctr">
                    <a:solidFill>
                      <a:srgbClr val="FFFFFF"/>
                    </a:solidFill>
                  </a:tcPr>
                </a:tc>
                <a:tc>
                  <a:txBody>
                    <a:bodyPr/>
                    <a:lstStyle/>
                    <a:p>
                      <a:pPr>
                        <a:defRPr sz="900" b="0">
                          <a:solidFill>
                            <a:srgbClr val="0B0E26"/>
                          </a:solidFill>
                          <a:latin typeface="Calibri"/>
                        </a:defRPr>
                      </a:pPr>
                      <a:r>
                        <a:t>Assessment and decision on information security events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p.14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ISO.A5.26</a:t>
                      </a:r>
                    </a:p>
                  </a:txBody>
                  <a:tcPr marL="43200" marR="43200" marT="21600" marB="21600" anchor="ctr">
                    <a:solidFill>
                      <a:srgbClr val="F1F3F8"/>
                    </a:solidFill>
                  </a:tcPr>
                </a:tc>
                <a:tc>
                  <a:txBody>
                    <a:bodyPr/>
                    <a:lstStyle/>
                    <a:p>
                      <a:pPr>
                        <a:defRPr sz="900" b="0">
                          <a:solidFill>
                            <a:srgbClr val="0B0E26"/>
                          </a:solidFill>
                          <a:latin typeface="Calibri"/>
                        </a:defRPr>
                      </a:pPr>
                      <a:r>
                        <a:t>Response to information security incidents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p.30</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ISO.A5.27</a:t>
                      </a:r>
                    </a:p>
                  </a:txBody>
                  <a:tcPr marL="43200" marR="43200" marT="21600" marB="21600" anchor="ctr">
                    <a:solidFill>
                      <a:srgbClr val="FFFFFF"/>
                    </a:solidFill>
                  </a:tcPr>
                </a:tc>
                <a:tc>
                  <a:txBody>
                    <a:bodyPr/>
                    <a:lstStyle/>
                    <a:p>
                      <a:pPr>
                        <a:defRPr sz="900" b="0">
                          <a:solidFill>
                            <a:srgbClr val="0B0E26"/>
                          </a:solidFill>
                          <a:latin typeface="Calibri"/>
                        </a:defRPr>
                      </a:pPr>
                      <a:r>
                        <a:t>Learning from information security incidents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ISO.A5.28</a:t>
                      </a:r>
                    </a:p>
                  </a:txBody>
                  <a:tcPr marL="43200" marR="43200" marT="21600" marB="21600" anchor="ctr">
                    <a:solidFill>
                      <a:srgbClr val="F1F3F8"/>
                    </a:solidFill>
                  </a:tcPr>
                </a:tc>
                <a:tc>
                  <a:txBody>
                    <a:bodyPr/>
                    <a:lstStyle/>
                    <a:p>
                      <a:pPr>
                        <a:defRPr sz="900" b="0">
                          <a:solidFill>
                            <a:srgbClr val="0B0E26"/>
                          </a:solidFill>
                          <a:latin typeface="Calibri"/>
                        </a:defRPr>
                      </a:pPr>
                      <a:r>
                        <a:t>Collection of evidence</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Non-Compliant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p.16</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ISO.A5.29</a:t>
                      </a:r>
                    </a:p>
                  </a:txBody>
                  <a:tcPr marL="43200" marR="43200" marT="21600" marB="21600" anchor="ctr">
                    <a:solidFill>
                      <a:srgbClr val="FFFFFF"/>
                    </a:solidFill>
                  </a:tcPr>
                </a:tc>
                <a:tc>
                  <a:txBody>
                    <a:bodyPr/>
                    <a:lstStyle/>
                    <a:p>
                      <a:pPr>
                        <a:defRPr sz="900" b="0">
                          <a:solidFill>
                            <a:srgbClr val="0B0E26"/>
                          </a:solidFill>
                          <a:latin typeface="Calibri"/>
                        </a:defRPr>
                      </a:pPr>
                      <a:r>
                        <a:t>Information security during disruption</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p.7</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ISO.A5.30</a:t>
                      </a:r>
                    </a:p>
                  </a:txBody>
                  <a:tcPr marL="43200" marR="43200" marT="21600" marB="21600" anchor="ctr">
                    <a:solidFill>
                      <a:srgbClr val="F1F3F8"/>
                    </a:solidFill>
                  </a:tcPr>
                </a:tc>
                <a:tc>
                  <a:txBody>
                    <a:bodyPr/>
                    <a:lstStyle/>
                    <a:p>
                      <a:pPr>
                        <a:defRPr sz="900" b="0">
                          <a:solidFill>
                            <a:srgbClr val="0B0E26"/>
                          </a:solidFill>
                          <a:latin typeface="Calibri"/>
                        </a:defRPr>
                      </a:pPr>
                      <a:r>
                        <a:t>ICT readiness for business continuity</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bcp-2024.pdf v1, whole</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ISO.A5.31</a:t>
                      </a:r>
                    </a:p>
                  </a:txBody>
                  <a:tcPr marL="43200" marR="43200" marT="21600" marB="21600" anchor="ctr">
                    <a:solidFill>
                      <a:srgbClr val="FFFFFF"/>
                    </a:solidFill>
                  </a:tcPr>
                </a:tc>
                <a:tc>
                  <a:txBody>
                    <a:bodyPr/>
                    <a:lstStyle/>
                    <a:p>
                      <a:pPr>
                        <a:defRPr sz="900" b="0">
                          <a:solidFill>
                            <a:srgbClr val="0B0E26"/>
                          </a:solidFill>
                          <a:latin typeface="Calibri"/>
                        </a:defRPr>
                      </a:pPr>
                      <a:r>
                        <a:t>Legal, statutory, regulatory and contractual requirements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p.27</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ISO.A5.32</a:t>
                      </a:r>
                    </a:p>
                  </a:txBody>
                  <a:tcPr marL="43200" marR="43200" marT="21600" marB="21600" anchor="ctr">
                    <a:solidFill>
                      <a:srgbClr val="F1F3F8"/>
                    </a:solidFill>
                  </a:tcPr>
                </a:tc>
                <a:tc>
                  <a:txBody>
                    <a:bodyPr/>
                    <a:lstStyle/>
                    <a:p>
                      <a:pPr>
                        <a:defRPr sz="900" b="0">
                          <a:solidFill>
                            <a:srgbClr val="0B0E26"/>
                          </a:solidFill>
                          <a:latin typeface="Calibri"/>
                        </a:defRPr>
                      </a:pPr>
                      <a:r>
                        <a:t>Intellectual property rights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p.23</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ISO.A5.33</a:t>
                      </a:r>
                    </a:p>
                  </a:txBody>
                  <a:tcPr marL="43200" marR="43200" marT="21600" marB="21600" anchor="ctr">
                    <a:solidFill>
                      <a:srgbClr val="FFFFFF"/>
                    </a:solidFill>
                  </a:tcPr>
                </a:tc>
                <a:tc>
                  <a:txBody>
                    <a:bodyPr/>
                    <a:lstStyle/>
                    <a:p>
                      <a:pPr>
                        <a:defRPr sz="900" b="0">
                          <a:solidFill>
                            <a:srgbClr val="0B0E26"/>
                          </a:solidFill>
                          <a:latin typeface="Calibri"/>
                        </a:defRPr>
                      </a:pPr>
                      <a:r>
                        <a:t>Protection of records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ISO.A5.34</a:t>
                      </a:r>
                    </a:p>
                  </a:txBody>
                  <a:tcPr marL="43200" marR="43200" marT="21600" marB="21600" anchor="ctr">
                    <a:solidFill>
                      <a:srgbClr val="F1F3F8"/>
                    </a:solidFill>
                  </a:tcPr>
                </a:tc>
                <a:tc>
                  <a:txBody>
                    <a:bodyPr/>
                    <a:lstStyle/>
                    <a:p>
                      <a:pPr>
                        <a:defRPr sz="900" b="0">
                          <a:solidFill>
                            <a:srgbClr val="0B0E26"/>
                          </a:solidFill>
                          <a:latin typeface="Calibri"/>
                        </a:defRPr>
                      </a:pPr>
                      <a:r>
                        <a:t>Privacy and protection of personal information</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p.18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ISO.A5.35</a:t>
                      </a:r>
                    </a:p>
                  </a:txBody>
                  <a:tcPr marL="43200" marR="43200" marT="21600" marB="21600" anchor="ctr">
                    <a:solidFill>
                      <a:srgbClr val="FFFFFF"/>
                    </a:solidFill>
                  </a:tcPr>
                </a:tc>
                <a:tc>
                  <a:txBody>
                    <a:bodyPr/>
                    <a:lstStyle/>
                    <a:p>
                      <a:pPr>
                        <a:defRPr sz="900" b="0">
                          <a:solidFill>
                            <a:srgbClr val="0B0E26"/>
                          </a:solidFill>
                          <a:latin typeface="Calibri"/>
                        </a:defRPr>
                      </a:pPr>
                      <a:r>
                        <a:t>Independent review of information security</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p.28</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ISO.A5.36</a:t>
                      </a:r>
                    </a:p>
                  </a:txBody>
                  <a:tcPr marL="43200" marR="43200" marT="21600" marB="21600" anchor="ctr">
                    <a:solidFill>
                      <a:srgbClr val="F1F3F8"/>
                    </a:solidFill>
                  </a:tcPr>
                </a:tc>
                <a:tc>
                  <a:txBody>
                    <a:bodyPr/>
                    <a:lstStyle/>
                    <a:p>
                      <a:pPr>
                        <a:defRPr sz="900" b="0">
                          <a:solidFill>
                            <a:srgbClr val="0B0E26"/>
                          </a:solidFill>
                          <a:latin typeface="Calibri"/>
                        </a:defRPr>
                      </a:pPr>
                      <a:r>
                        <a:t>Compliance with policies, rules and standards</a:t>
                      </a:r>
                    </a:p>
                  </a:txBody>
                  <a:tcPr marL="43200" marR="43200" marT="21600" marB="21600" anchor="ctr">
                    <a:solidFill>
                      <a:srgbClr val="F1F3F8"/>
                    </a:solidFill>
                  </a:tcPr>
                </a:tc>
                <a:tc>
                  <a:txBody>
                    <a:bodyPr/>
                    <a:lstStyle/>
                    <a:p>
                      <a:pPr>
                        <a:defRPr sz="900" b="0">
                          <a:solidFill>
                            <a:srgbClr val="0B0E26"/>
                          </a:solidFill>
                          <a:latin typeface="Calibri"/>
                        </a:defRPr>
                      </a:pPr>
                      <a:r>
                        <a:t>Organizational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20 of 25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(4 of 7)</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ISO.A5.37</a:t>
                      </a:r>
                    </a:p>
                  </a:txBody>
                  <a:tcPr marL="43200" marR="43200" marT="21600" marB="21600" anchor="ctr">
                    <a:solidFill>
                      <a:srgbClr val="FFFFFF"/>
                    </a:solidFill>
                  </a:tcPr>
                </a:tc>
                <a:tc>
                  <a:txBody>
                    <a:bodyPr/>
                    <a:lstStyle/>
                    <a:p>
                      <a:pPr>
                        <a:defRPr sz="900" b="0">
                          <a:solidFill>
                            <a:srgbClr val="0B0E26"/>
                          </a:solidFill>
                          <a:latin typeface="Calibri"/>
                        </a:defRPr>
                      </a:pPr>
                      <a:r>
                        <a:t>Documented operating procedures</a:t>
                      </a:r>
                    </a:p>
                  </a:txBody>
                  <a:tcPr marL="43200" marR="43200" marT="21600" marB="21600" anchor="ctr">
                    <a:solidFill>
                      <a:srgbClr val="FFFFFF"/>
                    </a:solidFill>
                  </a:tcPr>
                </a:tc>
                <a:tc>
                  <a:txBody>
                    <a:bodyPr/>
                    <a:lstStyle/>
                    <a:p>
                      <a:pPr>
                        <a:defRPr sz="900" b="0">
                          <a:solidFill>
                            <a:srgbClr val="0B0E26"/>
                          </a:solidFill>
                          <a:latin typeface="Calibri"/>
                        </a:defRPr>
                      </a:pPr>
                      <a:r>
                        <a:t>Organizational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p.10</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ISO.A6.1</a:t>
                      </a:r>
                    </a:p>
                  </a:txBody>
                  <a:tcPr marL="43200" marR="43200" marT="21600" marB="21600" anchor="ctr">
                    <a:solidFill>
                      <a:srgbClr val="F1F3F8"/>
                    </a:solidFill>
                  </a:tcPr>
                </a:tc>
                <a:tc>
                  <a:txBody>
                    <a:bodyPr/>
                    <a:lstStyle/>
                    <a:p>
                      <a:pPr>
                        <a:defRPr sz="900" b="0">
                          <a:solidFill>
                            <a:srgbClr val="0B0E26"/>
                          </a:solidFill>
                          <a:latin typeface="Calibri"/>
                        </a:defRPr>
                      </a:pPr>
                      <a:r>
                        <a:t>Screening</a:t>
                      </a:r>
                    </a:p>
                  </a:txBody>
                  <a:tcPr marL="43200" marR="43200" marT="21600" marB="21600" anchor="ctr">
                    <a:solidFill>
                      <a:srgbClr val="F1F3F8"/>
                    </a:solidFill>
                  </a:tcPr>
                </a:tc>
                <a:tc>
                  <a:txBody>
                    <a:bodyPr/>
                    <a:lstStyle/>
                    <a:p>
                      <a:pPr>
                        <a:defRPr sz="900" b="0">
                          <a:solidFill>
                            <a:srgbClr val="0B0E26"/>
                          </a:solidFill>
                          <a:latin typeface="Calibri"/>
                        </a:defRPr>
                      </a:pPr>
                      <a:r>
                        <a:t>People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p.25</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ISO.A6.2</a:t>
                      </a:r>
                    </a:p>
                  </a:txBody>
                  <a:tcPr marL="43200" marR="43200" marT="21600" marB="21600" anchor="ctr">
                    <a:solidFill>
                      <a:srgbClr val="FFFFFF"/>
                    </a:solidFill>
                  </a:tcPr>
                </a:tc>
                <a:tc>
                  <a:txBody>
                    <a:bodyPr/>
                    <a:lstStyle/>
                    <a:p>
                      <a:pPr>
                        <a:defRPr sz="900" b="0">
                          <a:solidFill>
                            <a:srgbClr val="0B0E26"/>
                          </a:solidFill>
                          <a:latin typeface="Calibri"/>
                        </a:defRPr>
                      </a:pPr>
                      <a:r>
                        <a:t>Terms and conditions of employment</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p.28</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ISO.A6.3</a:t>
                      </a:r>
                    </a:p>
                  </a:txBody>
                  <a:tcPr marL="43200" marR="43200" marT="21600" marB="21600" anchor="ctr">
                    <a:solidFill>
                      <a:srgbClr val="F1F3F8"/>
                    </a:solidFill>
                  </a:tcPr>
                </a:tc>
                <a:tc>
                  <a:txBody>
                    <a:bodyPr/>
                    <a:lstStyle/>
                    <a:p>
                      <a:pPr>
                        <a:defRPr sz="900" b="0">
                          <a:solidFill>
                            <a:srgbClr val="0B0E26"/>
                          </a:solidFill>
                          <a:latin typeface="Calibri"/>
                        </a:defRPr>
                      </a:pPr>
                      <a:r>
                        <a:t>Information security awareness, education and training</a:t>
                      </a:r>
                    </a:p>
                  </a:txBody>
                  <a:tcPr marL="43200" marR="43200" marT="21600" marB="21600" anchor="ctr">
                    <a:solidFill>
                      <a:srgbClr val="F1F3F8"/>
                    </a:solidFill>
                  </a:tcPr>
                </a:tc>
                <a:tc>
                  <a:txBody>
                    <a:bodyPr/>
                    <a:lstStyle/>
                    <a:p>
                      <a:pPr>
                        <a:defRPr sz="900" b="0">
                          <a:solidFill>
                            <a:srgbClr val="0B0E26"/>
                          </a:solidFill>
                          <a:latin typeface="Calibri"/>
                        </a:defRPr>
                      </a:pPr>
                      <a:r>
                        <a:t>People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ISO.A6.4</a:t>
                      </a:r>
                    </a:p>
                  </a:txBody>
                  <a:tcPr marL="43200" marR="43200" marT="21600" marB="21600" anchor="ctr">
                    <a:solidFill>
                      <a:srgbClr val="FFFFFF"/>
                    </a:solidFill>
                  </a:tcPr>
                </a:tc>
                <a:tc>
                  <a:txBody>
                    <a:bodyPr/>
                    <a:lstStyle/>
                    <a:p>
                      <a:pPr>
                        <a:defRPr sz="900" b="0">
                          <a:solidFill>
                            <a:srgbClr val="0B0E26"/>
                          </a:solidFill>
                          <a:latin typeface="Calibri"/>
                        </a:defRPr>
                      </a:pPr>
                      <a:r>
                        <a:t>Disciplinary process</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p.29</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ISO.A6.5</a:t>
                      </a:r>
                    </a:p>
                  </a:txBody>
                  <a:tcPr marL="43200" marR="43200" marT="21600" marB="21600" anchor="ctr">
                    <a:solidFill>
                      <a:srgbClr val="F1F3F8"/>
                    </a:solidFill>
                  </a:tcPr>
                </a:tc>
                <a:tc>
                  <a:txBody>
                    <a:bodyPr/>
                    <a:lstStyle/>
                    <a:p>
                      <a:pPr>
                        <a:defRPr sz="900" b="0">
                          <a:solidFill>
                            <a:srgbClr val="0B0E26"/>
                          </a:solidFill>
                          <a:latin typeface="Calibri"/>
                        </a:defRPr>
                      </a:pPr>
                      <a:r>
                        <a:t>Responsibilities after termination or change of employment</a:t>
                      </a:r>
                    </a:p>
                  </a:txBody>
                  <a:tcPr marL="43200" marR="43200" marT="21600" marB="21600" anchor="ctr">
                    <a:solidFill>
                      <a:srgbClr val="F1F3F8"/>
                    </a:solidFill>
                  </a:tcPr>
                </a:tc>
                <a:tc>
                  <a:txBody>
                    <a:bodyPr/>
                    <a:lstStyle/>
                    <a:p>
                      <a:pPr>
                        <a:defRPr sz="900" b="0">
                          <a:solidFill>
                            <a:srgbClr val="0B0E26"/>
                          </a:solidFill>
                          <a:latin typeface="Calibri"/>
                        </a:defRPr>
                      </a:pPr>
                      <a:r>
                        <a:t>People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p.26</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ISO.A6.6</a:t>
                      </a:r>
                    </a:p>
                  </a:txBody>
                  <a:tcPr marL="43200" marR="43200" marT="21600" marB="21600" anchor="ctr">
                    <a:solidFill>
                      <a:srgbClr val="FFFFFF"/>
                    </a:solidFill>
                  </a:tcPr>
                </a:tc>
                <a:tc>
                  <a:txBody>
                    <a:bodyPr/>
                    <a:lstStyle/>
                    <a:p>
                      <a:pPr>
                        <a:defRPr sz="900" b="0">
                          <a:solidFill>
                            <a:srgbClr val="0B0E26"/>
                          </a:solidFill>
                          <a:latin typeface="Calibri"/>
                        </a:defRPr>
                      </a:pPr>
                      <a:r>
                        <a:t>Confidentiality or non-disclosure agreements</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p.21</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ISO.A6.7</a:t>
                      </a:r>
                    </a:p>
                  </a:txBody>
                  <a:tcPr marL="43200" marR="43200" marT="21600" marB="21600" anchor="ctr">
                    <a:solidFill>
                      <a:srgbClr val="F1F3F8"/>
                    </a:solidFill>
                  </a:tcPr>
                </a:tc>
                <a:tc>
                  <a:txBody>
                    <a:bodyPr/>
                    <a:lstStyle/>
                    <a:p>
                      <a:pPr>
                        <a:defRPr sz="900" b="0">
                          <a:solidFill>
                            <a:srgbClr val="0B0E26"/>
                          </a:solidFill>
                          <a:latin typeface="Calibri"/>
                        </a:defRPr>
                      </a:pPr>
                      <a:r>
                        <a:t>Remote working</a:t>
                      </a:r>
                    </a:p>
                  </a:txBody>
                  <a:tcPr marL="43200" marR="43200" marT="21600" marB="21600" anchor="ctr">
                    <a:solidFill>
                      <a:srgbClr val="F1F3F8"/>
                    </a:solidFill>
                  </a:tcPr>
                </a:tc>
                <a:tc>
                  <a:txBody>
                    <a:bodyPr/>
                    <a:lstStyle/>
                    <a:p>
                      <a:pPr>
                        <a:defRPr sz="900" b="0">
                          <a:solidFill>
                            <a:srgbClr val="0B0E26"/>
                          </a:solidFill>
                          <a:latin typeface="Calibri"/>
                        </a:defRPr>
                      </a:pPr>
                      <a:r>
                        <a:t>People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p.23</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ISO.A6.8</a:t>
                      </a:r>
                    </a:p>
                  </a:txBody>
                  <a:tcPr marL="43200" marR="43200" marT="21600" marB="21600" anchor="ctr">
                    <a:solidFill>
                      <a:srgbClr val="FFFFFF"/>
                    </a:solidFill>
                  </a:tcPr>
                </a:tc>
                <a:tc>
                  <a:txBody>
                    <a:bodyPr/>
                    <a:lstStyle/>
                    <a:p>
                      <a:pPr>
                        <a:defRPr sz="900" b="0">
                          <a:solidFill>
                            <a:srgbClr val="0B0E26"/>
                          </a:solidFill>
                          <a:latin typeface="Calibri"/>
                        </a:defRPr>
                      </a:pPr>
                      <a:r>
                        <a:t>Information security event reporting</a:t>
                      </a:r>
                    </a:p>
                  </a:txBody>
                  <a:tcPr marL="43200" marR="43200" marT="21600" marB="21600" anchor="ctr">
                    <a:solidFill>
                      <a:srgbClr val="FFFFFF"/>
                    </a:solidFill>
                  </a:tcPr>
                </a:tc>
                <a:tc>
                  <a:txBody>
                    <a:bodyPr/>
                    <a:lstStyle/>
                    <a:p>
                      <a:pPr>
                        <a:defRPr sz="900" b="0">
                          <a:solidFill>
                            <a:srgbClr val="0B0E26"/>
                          </a:solidFill>
                          <a:latin typeface="Calibri"/>
                        </a:defRPr>
                      </a:pPr>
                      <a:r>
                        <a:t>People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p.30</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a:t>
                      </a:r>
                    </a:p>
                  </a:txBody>
                  <a:tcPr marL="43200" marR="43200" marT="21600" marB="21600" anchor="ctr">
                    <a:solidFill>
                      <a:srgbClr val="F1F3F8"/>
                    </a:solidFill>
                  </a:tcPr>
                </a:tc>
                <a:tc>
                  <a:txBody>
                    <a:bodyPr/>
                    <a:lstStyle/>
                    <a:p>
                      <a:pPr>
                        <a:defRPr sz="900" b="0">
                          <a:solidFill>
                            <a:srgbClr val="0B0E26"/>
                          </a:solidFill>
                          <a:latin typeface="Calibri"/>
                        </a:defRPr>
                      </a:pPr>
                      <a:r>
                        <a:t>User endpoint devices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p.3</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a:t>
                      </a:r>
                    </a:p>
                  </a:txBody>
                  <a:tcPr marL="43200" marR="43200" marT="21600" marB="21600" anchor="ctr">
                    <a:solidFill>
                      <a:srgbClr val="FFFFFF"/>
                    </a:solidFill>
                  </a:tcPr>
                </a:tc>
                <a:tc>
                  <a:txBody>
                    <a:bodyPr/>
                    <a:lstStyle/>
                    <a:p>
                      <a:pPr>
                        <a:defRPr sz="900" b="0">
                          <a:solidFill>
                            <a:srgbClr val="0B0E26"/>
                          </a:solidFill>
                          <a:latin typeface="Calibri"/>
                        </a:defRPr>
                      </a:pPr>
                      <a:r>
                        <a:t>Privileged access rights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High</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p.26</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ISO.A8.3</a:t>
                      </a:r>
                    </a:p>
                  </a:txBody>
                  <a:tcPr marL="43200" marR="43200" marT="21600" marB="21600" anchor="ctr">
                    <a:solidFill>
                      <a:srgbClr val="F1F3F8"/>
                    </a:solidFill>
                  </a:tcPr>
                </a:tc>
                <a:tc>
                  <a:txBody>
                    <a:bodyPr/>
                    <a:lstStyle/>
                    <a:p>
                      <a:pPr>
                        <a:defRPr sz="900" b="0">
                          <a:solidFill>
                            <a:srgbClr val="0B0E26"/>
                          </a:solidFill>
                          <a:latin typeface="Calibri"/>
                        </a:defRPr>
                      </a:pPr>
                      <a:r>
                        <a:t>Information access restriction</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21 of 25</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(5 of 7)</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ISO.A8.4</a:t>
                      </a:r>
                    </a:p>
                  </a:txBody>
                  <a:tcPr marL="43200" marR="43200" marT="21600" marB="21600" anchor="ctr">
                    <a:solidFill>
                      <a:srgbClr val="FFFFFF"/>
                    </a:solidFill>
                  </a:tcPr>
                </a:tc>
                <a:tc>
                  <a:txBody>
                    <a:bodyPr/>
                    <a:lstStyle/>
                    <a:p>
                      <a:pPr>
                        <a:defRPr sz="900" b="0">
                          <a:solidFill>
                            <a:srgbClr val="0B0E26"/>
                          </a:solidFill>
                          <a:latin typeface="Calibri"/>
                        </a:defRPr>
                      </a:pPr>
                      <a:r>
                        <a:t>Access to source code</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ISO.A8.5</a:t>
                      </a:r>
                    </a:p>
                  </a:txBody>
                  <a:tcPr marL="43200" marR="43200" marT="21600" marB="21600" anchor="ctr">
                    <a:solidFill>
                      <a:srgbClr val="F1F3F8"/>
                    </a:solidFill>
                  </a:tcPr>
                </a:tc>
                <a:tc>
                  <a:txBody>
                    <a:bodyPr/>
                    <a:lstStyle/>
                    <a:p>
                      <a:pPr>
                        <a:defRPr sz="900" b="0">
                          <a:solidFill>
                            <a:srgbClr val="0B0E26"/>
                          </a:solidFill>
                          <a:latin typeface="Calibri"/>
                        </a:defRPr>
                      </a:pPr>
                      <a:r>
                        <a:t>Secure authentication</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p.18</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ISO.A8.6</a:t>
                      </a:r>
                    </a:p>
                  </a:txBody>
                  <a:tcPr marL="43200" marR="43200" marT="21600" marB="21600" anchor="ctr">
                    <a:solidFill>
                      <a:srgbClr val="FFFFFF"/>
                    </a:solidFill>
                  </a:tcPr>
                </a:tc>
                <a:tc>
                  <a:txBody>
                    <a:bodyPr/>
                    <a:lstStyle/>
                    <a:p>
                      <a:pPr>
                        <a:defRPr sz="900" b="0">
                          <a:solidFill>
                            <a:srgbClr val="0B0E26"/>
                          </a:solidFill>
                          <a:latin typeface="Calibri"/>
                        </a:defRPr>
                      </a:pPr>
                      <a:r>
                        <a:t>Capacity management</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Not Applicable</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p.19</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ISO.A8.7</a:t>
                      </a:r>
                    </a:p>
                  </a:txBody>
                  <a:tcPr marL="43200" marR="43200" marT="21600" marB="21600" anchor="ctr">
                    <a:solidFill>
                      <a:srgbClr val="F1F3F8"/>
                    </a:solidFill>
                  </a:tcPr>
                </a:tc>
                <a:tc>
                  <a:txBody>
                    <a:bodyPr/>
                    <a:lstStyle/>
                    <a:p>
                      <a:pPr>
                        <a:defRPr sz="900" b="0">
                          <a:solidFill>
                            <a:srgbClr val="0B0E26"/>
                          </a:solidFill>
                          <a:latin typeface="Calibri"/>
                        </a:defRPr>
                      </a:pPr>
                      <a:r>
                        <a:t>Protection against malware</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Critical</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ISO.A8.8</a:t>
                      </a:r>
                    </a:p>
                  </a:txBody>
                  <a:tcPr marL="43200" marR="43200" marT="21600" marB="21600" anchor="ctr">
                    <a:solidFill>
                      <a:srgbClr val="FFFFFF"/>
                    </a:solidFill>
                  </a:tcPr>
                </a:tc>
                <a:tc>
                  <a:txBody>
                    <a:bodyPr/>
                    <a:lstStyle/>
                    <a:p>
                      <a:pPr>
                        <a:defRPr sz="900" b="0">
                          <a:solidFill>
                            <a:srgbClr val="0B0E26"/>
                          </a:solidFill>
                          <a:latin typeface="Calibri"/>
                        </a:defRPr>
                      </a:pPr>
                      <a:r>
                        <a:t>Management of technical vulnerabilities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Non-Compliant</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vuln-scan-summary.pdf v1, p.2</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ISO.A8.9</a:t>
                      </a:r>
                    </a:p>
                  </a:txBody>
                  <a:tcPr marL="43200" marR="43200" marT="21600" marB="21600" anchor="ctr">
                    <a:solidFill>
                      <a:srgbClr val="F1F3F8"/>
                    </a:solidFill>
                  </a:tcPr>
                </a:tc>
                <a:tc>
                  <a:txBody>
                    <a:bodyPr/>
                    <a:lstStyle/>
                    <a:p>
                      <a:pPr>
                        <a:defRPr sz="900" b="0">
                          <a:solidFill>
                            <a:srgbClr val="0B0E26"/>
                          </a:solidFill>
                          <a:latin typeface="Calibri"/>
                        </a:defRPr>
                      </a:pPr>
                      <a:r>
                        <a:t>Configuration management</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ISO.A8.10</a:t>
                      </a:r>
                    </a:p>
                  </a:txBody>
                  <a:tcPr marL="43200" marR="43200" marT="21600" marB="21600" anchor="ctr">
                    <a:solidFill>
                      <a:srgbClr val="FFFFFF"/>
                    </a:solidFill>
                  </a:tcPr>
                </a:tc>
                <a:tc>
                  <a:txBody>
                    <a:bodyPr/>
                    <a:lstStyle/>
                    <a:p>
                      <a:pPr>
                        <a:defRPr sz="900" b="0">
                          <a:solidFill>
                            <a:srgbClr val="0B0E26"/>
                          </a:solidFill>
                          <a:latin typeface="Calibri"/>
                        </a:defRPr>
                      </a:pPr>
                      <a:r>
                        <a:t>Information deletion</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p.23</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ISO.A8.11</a:t>
                      </a:r>
                    </a:p>
                  </a:txBody>
                  <a:tcPr marL="43200" marR="43200" marT="21600" marB="21600" anchor="ctr">
                    <a:solidFill>
                      <a:srgbClr val="F1F3F8"/>
                    </a:solidFill>
                  </a:tcPr>
                </a:tc>
                <a:tc>
                  <a:txBody>
                    <a:bodyPr/>
                    <a:lstStyle/>
                    <a:p>
                      <a:pPr>
                        <a:defRPr sz="900" b="0">
                          <a:solidFill>
                            <a:srgbClr val="0B0E26"/>
                          </a:solidFill>
                          <a:latin typeface="Calibri"/>
                        </a:defRPr>
                      </a:pPr>
                      <a:r>
                        <a:t>Data masking</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p.24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ISO.A8.12</a:t>
                      </a:r>
                    </a:p>
                  </a:txBody>
                  <a:tcPr marL="43200" marR="43200" marT="21600" marB="21600" anchor="ctr">
                    <a:solidFill>
                      <a:srgbClr val="FFFFFF"/>
                    </a:solidFill>
                  </a:tcPr>
                </a:tc>
                <a:tc>
                  <a:txBody>
                    <a:bodyPr/>
                    <a:lstStyle/>
                    <a:p>
                      <a:pPr>
                        <a:defRPr sz="900" b="0">
                          <a:solidFill>
                            <a:srgbClr val="0B0E26"/>
                          </a:solidFill>
                          <a:latin typeface="Calibri"/>
                        </a:defRPr>
                      </a:pPr>
                      <a:r>
                        <a:t>Data leakage prevention</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p.30</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ISO.A8.13</a:t>
                      </a:r>
                    </a:p>
                  </a:txBody>
                  <a:tcPr marL="43200" marR="43200" marT="21600" marB="21600" anchor="ctr">
                    <a:solidFill>
                      <a:srgbClr val="F1F3F8"/>
                    </a:solidFill>
                  </a:tcPr>
                </a:tc>
                <a:tc>
                  <a:txBody>
                    <a:bodyPr/>
                    <a:lstStyle/>
                    <a:p>
                      <a:pPr>
                        <a:defRPr sz="900" b="0">
                          <a:solidFill>
                            <a:srgbClr val="0B0E26"/>
                          </a:solidFill>
                          <a:latin typeface="Calibri"/>
                        </a:defRPr>
                      </a:pPr>
                      <a:r>
                        <a:t>Information backup</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p.14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ISO.A8.14</a:t>
                      </a:r>
                    </a:p>
                  </a:txBody>
                  <a:tcPr marL="43200" marR="43200" marT="21600" marB="21600" anchor="ctr">
                    <a:solidFill>
                      <a:srgbClr val="FFFFFF"/>
                    </a:solidFill>
                  </a:tcPr>
                </a:tc>
                <a:tc>
                  <a:txBody>
                    <a:bodyPr/>
                    <a:lstStyle/>
                    <a:p>
                      <a:pPr>
                        <a:defRPr sz="900" b="0">
                          <a:solidFill>
                            <a:srgbClr val="0B0E26"/>
                          </a:solidFill>
                          <a:latin typeface="Calibri"/>
                        </a:defRPr>
                      </a:pPr>
                      <a:r>
                        <a:t>Redundancy of information processing facilities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Insufficient Evidence</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No supporting citation</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ISO.A8.15</a:t>
                      </a:r>
                    </a:p>
                  </a:txBody>
                  <a:tcPr marL="43200" marR="43200" marT="21600" marB="21600" anchor="ctr">
                    <a:solidFill>
                      <a:srgbClr val="F1F3F8"/>
                    </a:solidFill>
                  </a:tcPr>
                </a:tc>
                <a:tc>
                  <a:txBody>
                    <a:bodyPr/>
                    <a:lstStyle/>
                    <a:p>
                      <a:pPr>
                        <a:defRPr sz="900" b="0">
                          <a:solidFill>
                            <a:srgbClr val="0B0E26"/>
                          </a:solidFill>
                          <a:latin typeface="Calibri"/>
                        </a:defRPr>
                      </a:pPr>
                      <a:r>
                        <a:t>Logging</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p.18</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22 of 25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(6 of 7)</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365538">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ISO.A8.16</a:t>
                      </a:r>
                    </a:p>
                  </a:txBody>
                  <a:tcPr marL="43200" marR="43200" marT="21600" marB="21600" anchor="ctr">
                    <a:solidFill>
                      <a:srgbClr val="FFFFFF"/>
                    </a:solidFill>
                  </a:tcPr>
                </a:tc>
                <a:tc>
                  <a:txBody>
                    <a:bodyPr/>
                    <a:lstStyle/>
                    <a:p>
                      <a:pPr>
                        <a:defRPr sz="900" b="0">
                          <a:solidFill>
                            <a:srgbClr val="0B0E26"/>
                          </a:solidFill>
                          <a:latin typeface="Calibri"/>
                        </a:defRPr>
                      </a:pPr>
                      <a:r>
                        <a:t>Monitoring activities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p.12</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ISO.A8.17</a:t>
                      </a:r>
                    </a:p>
                  </a:txBody>
                  <a:tcPr marL="43200" marR="43200" marT="21600" marB="21600" anchor="ctr">
                    <a:solidFill>
                      <a:srgbClr val="F1F3F8"/>
                    </a:solidFill>
                  </a:tcPr>
                </a:tc>
                <a:tc>
                  <a:txBody>
                    <a:bodyPr/>
                    <a:lstStyle/>
                    <a:p>
                      <a:pPr>
                        <a:defRPr sz="900" b="0">
                          <a:solidFill>
                            <a:srgbClr val="0B0E26"/>
                          </a:solidFill>
                          <a:latin typeface="Calibri"/>
                        </a:defRPr>
                      </a:pPr>
                      <a:r>
                        <a:t>Clock synchronization</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p.19</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ISO.A8.18</a:t>
                      </a:r>
                    </a:p>
                  </a:txBody>
                  <a:tcPr marL="43200" marR="43200" marT="21600" marB="21600" anchor="ctr">
                    <a:solidFill>
                      <a:srgbClr val="FFFFFF"/>
                    </a:solidFill>
                  </a:tcPr>
                </a:tc>
                <a:tc>
                  <a:txBody>
                    <a:bodyPr/>
                    <a:lstStyle/>
                    <a:p>
                      <a:pPr>
                        <a:defRPr sz="900" b="0">
                          <a:solidFill>
                            <a:srgbClr val="0B0E26"/>
                          </a:solidFill>
                          <a:latin typeface="Calibri"/>
                        </a:defRPr>
                      </a:pPr>
                      <a:r>
                        <a:t>Use of privileged utility programs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p.12</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ISO.A8.19</a:t>
                      </a:r>
                    </a:p>
                  </a:txBody>
                  <a:tcPr marL="43200" marR="43200" marT="21600" marB="21600" anchor="ctr">
                    <a:solidFill>
                      <a:srgbClr val="F1F3F8"/>
                    </a:solidFill>
                  </a:tcPr>
                </a:tc>
                <a:tc>
                  <a:txBody>
                    <a:bodyPr/>
                    <a:lstStyle/>
                    <a:p>
                      <a:pPr>
                        <a:defRPr sz="900" b="0">
                          <a:solidFill>
                            <a:srgbClr val="0B0E26"/>
                          </a:solidFill>
                          <a:latin typeface="Calibri"/>
                        </a:defRPr>
                      </a:pPr>
                      <a:r>
                        <a:t>Installation of software on operational systems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p.5</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ISO.A8.20</a:t>
                      </a:r>
                    </a:p>
                  </a:txBody>
                  <a:tcPr marL="43200" marR="43200" marT="21600" marB="21600" anchor="ctr">
                    <a:solidFill>
                      <a:srgbClr val="FFFFFF"/>
                    </a:solidFill>
                  </a:tcPr>
                </a:tc>
                <a:tc>
                  <a:txBody>
                    <a:bodyPr/>
                    <a:lstStyle/>
                    <a:p>
                      <a:pPr>
                        <a:defRPr sz="900" b="0">
                          <a:solidFill>
                            <a:srgbClr val="0B0E26"/>
                          </a:solidFill>
                          <a:latin typeface="Calibri"/>
                        </a:defRPr>
                      </a:pPr>
                      <a:r>
                        <a:t>Networks security</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Not Applicable</a:t>
                      </a:r>
                    </a:p>
                  </a:txBody>
                  <a:tcPr marL="43200" marR="43200" marT="21600" marB="21600" anchor="ctr">
                    <a:solidFill>
                      <a:srgbClr val="FFFFFF"/>
                    </a:solidFill>
                  </a:tcPr>
                </a:tc>
                <a:tc>
                  <a:txBody>
                    <a:bodyPr/>
                    <a:lstStyle/>
                    <a:p>
                      <a:pPr>
                        <a:defRPr sz="900" b="0">
                          <a:solidFill>
                            <a:srgbClr val="0B0E26"/>
                          </a:solidFill>
                          <a:latin typeface="Calibri"/>
                        </a:defRPr>
                      </a:pPr>
                      <a:r>
                        <a:t>Critical</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isms-manual.pdf v4, p.4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ISO.A8.21</a:t>
                      </a:r>
                    </a:p>
                  </a:txBody>
                  <a:tcPr marL="43200" marR="43200" marT="21600" marB="21600" anchor="ctr">
                    <a:solidFill>
                      <a:srgbClr val="F1F3F8"/>
                    </a:solidFill>
                  </a:tcPr>
                </a:tc>
                <a:tc>
                  <a:txBody>
                    <a:bodyPr/>
                    <a:lstStyle/>
                    <a:p>
                      <a:pPr>
                        <a:defRPr sz="900" b="0">
                          <a:solidFill>
                            <a:srgbClr val="0B0E26"/>
                          </a:solidFill>
                          <a:latin typeface="Calibri"/>
                        </a:defRPr>
                      </a:pPr>
                      <a:r>
                        <a:t>Security of network services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p.10</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ISO.A8.22</a:t>
                      </a:r>
                    </a:p>
                  </a:txBody>
                  <a:tcPr marL="43200" marR="43200" marT="21600" marB="21600" anchor="ctr">
                    <a:solidFill>
                      <a:srgbClr val="FFFFFF"/>
                    </a:solidFill>
                  </a:tcPr>
                </a:tc>
                <a:tc>
                  <a:txBody>
                    <a:bodyPr/>
                    <a:lstStyle/>
                    <a:p>
                      <a:pPr>
                        <a:defRPr sz="900" b="0">
                          <a:solidFill>
                            <a:srgbClr val="0B0E26"/>
                          </a:solidFill>
                          <a:latin typeface="Calibri"/>
                        </a:defRPr>
                      </a:pPr>
                      <a:r>
                        <a:t>Segregation of networks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p.14</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ISO.A8.23</a:t>
                      </a:r>
                    </a:p>
                  </a:txBody>
                  <a:tcPr marL="43200" marR="43200" marT="21600" marB="21600" anchor="ctr">
                    <a:solidFill>
                      <a:srgbClr val="F1F3F8"/>
                    </a:solidFill>
                  </a:tcPr>
                </a:tc>
                <a:tc>
                  <a:txBody>
                    <a:bodyPr/>
                    <a:lstStyle/>
                    <a:p>
                      <a:pPr>
                        <a:defRPr sz="900" b="0">
                          <a:solidFill>
                            <a:srgbClr val="0B0E26"/>
                          </a:solidFill>
                          <a:latin typeface="Calibri"/>
                        </a:defRPr>
                      </a:pPr>
                      <a:r>
                        <a:t>Web filtering</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access-control-policy.pdf v2, p.24</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ISO.A8.24</a:t>
                      </a:r>
                    </a:p>
                  </a:txBody>
                  <a:tcPr marL="43200" marR="43200" marT="21600" marB="21600" anchor="ctr">
                    <a:solidFill>
                      <a:srgbClr val="FFFFFF"/>
                    </a:solidFill>
                  </a:tcPr>
                </a:tc>
                <a:tc>
                  <a:txBody>
                    <a:bodyPr/>
                    <a:lstStyle/>
                    <a:p>
                      <a:pPr>
                        <a:defRPr sz="900" b="0">
                          <a:solidFill>
                            <a:srgbClr val="0B0E26"/>
                          </a:solidFill>
                          <a:latin typeface="Calibri"/>
                        </a:defRPr>
                      </a:pPr>
                      <a:r>
                        <a:t>Use of cryptography</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p.15</a:t>
                      </a:r>
                    </a:p>
                  </a:txBody>
                  <a:tcPr marL="43200" marR="43200" marT="21600" marB="21600" anchor="ctr">
                    <a:solidFill>
                      <a:srgbClr val="FFFFFF"/>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ISO.A8.25</a:t>
                      </a:r>
                    </a:p>
                  </a:txBody>
                  <a:tcPr marL="43200" marR="43200" marT="21600" marB="21600" anchor="ctr">
                    <a:solidFill>
                      <a:srgbClr val="F1F3F8"/>
                    </a:solidFill>
                  </a:tcPr>
                </a:tc>
                <a:tc>
                  <a:txBody>
                    <a:bodyPr/>
                    <a:lstStyle/>
                    <a:p>
                      <a:pPr>
                        <a:defRPr sz="900" b="0">
                          <a:solidFill>
                            <a:srgbClr val="0B0E26"/>
                          </a:solidFill>
                          <a:latin typeface="Calibri"/>
                        </a:defRPr>
                      </a:pPr>
                      <a:r>
                        <a:t>Secure development life cycle</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365538">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ISO.A8.26</a:t>
                      </a:r>
                    </a:p>
                  </a:txBody>
                  <a:tcPr marL="43200" marR="43200" marT="21600" marB="21600" anchor="ctr">
                    <a:solidFill>
                      <a:srgbClr val="FFFFFF"/>
                    </a:solidFill>
                  </a:tcPr>
                </a:tc>
                <a:tc>
                  <a:txBody>
                    <a:bodyPr/>
                    <a:lstStyle/>
                    <a:p>
                      <a:pPr>
                        <a:defRPr sz="900" b="0">
                          <a:solidFill>
                            <a:srgbClr val="0B0E26"/>
                          </a:solidFill>
                          <a:latin typeface="Calibri"/>
                        </a:defRPr>
                      </a:pPr>
                      <a:r>
                        <a:t>Application security requirements</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questionnaire-response.pdf v1, p.4</a:t>
                      </a:r>
                    </a:p>
                  </a:txBody>
                  <a:tcPr marL="43200" marR="43200" marT="21600" marB="21600" anchor="ctr">
                    <a:solidFill>
                      <a:srgbClr val="FFFFFF"/>
                    </a:solidFill>
                  </a:tcPr>
                </a:tc>
              </a:tr>
              <a:tr h="365544">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ISO.A8.27</a:t>
                      </a:r>
                    </a:p>
                  </a:txBody>
                  <a:tcPr marL="43200" marR="43200" marT="21600" marB="21600" anchor="ctr">
                    <a:solidFill>
                      <a:srgbClr val="F1F3F8"/>
                    </a:solidFill>
                  </a:tcPr>
                </a:tc>
                <a:tc>
                  <a:txBody>
                    <a:bodyPr/>
                    <a:lstStyle/>
                    <a:p>
                      <a:pPr>
                        <a:defRPr sz="900" b="0">
                          <a:solidFill>
                            <a:srgbClr val="0B0E26"/>
                          </a:solidFill>
                          <a:latin typeface="Calibri"/>
                        </a:defRPr>
                      </a:pPr>
                      <a:r>
                        <a:t>Secure system architecture and engineering principles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questionnaire-response.pdf v1, p.29</a:t>
                      </a:r>
                    </a:p>
                  </a:txBody>
                  <a:tcPr marL="43200" marR="43200" marT="21600" marB="21600" anchor="ctr">
                    <a:solidFill>
                      <a:srgbClr val="F1F3F8"/>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23 of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Requirement register (7 of 7)</a:t>
            </a:r>
          </a:p>
        </p:txBody>
      </p:sp>
      <p:graphicFrame>
        <p:nvGraphicFramePr>
          <p:cNvPr id="5" name="Native evidence table"/>
          <p:cNvGraphicFramePr>
            <a:graphicFrameLocks noGrp="1"/>
          </p:cNvGraphicFramePr>
          <p:nvPr/>
        </p:nvGraphicFramePr>
        <p:xfrm>
          <a:off x="504000" y="1548000"/>
          <a:ext cx="12528000" cy="4752000"/>
        </p:xfrm>
        <a:graphic>
          <a:graphicData uri="http://schemas.openxmlformats.org/drawingml/2006/table">
            <a:tbl>
              <a:tblPr firstRow="1" bandRow="1">
                <a:tableStyleId>{5C22544A-7EE6-4342-B048-85BDC9FD1C3A}</a:tableStyleId>
              </a:tblPr>
              <a:tblGrid>
                <a:gridCol w="1260000"/>
                <a:gridCol w="1260000"/>
                <a:gridCol w="2340000"/>
                <a:gridCol w="1440000"/>
                <a:gridCol w="1368000"/>
                <a:gridCol w="720000"/>
                <a:gridCol w="1980000"/>
                <a:gridCol w="2160000"/>
              </a:tblGrid>
              <a:tr h="594000">
                <a:tc>
                  <a:txBody>
                    <a:bodyPr/>
                    <a:lstStyle/>
                    <a:p>
                      <a:pPr>
                        <a:defRPr sz="900" b="1">
                          <a:solidFill>
                            <a:srgbClr val="FFFFFF"/>
                          </a:solidFill>
                          <a:latin typeface="Calibri"/>
                        </a:defRPr>
                      </a:pPr>
                      <a:r>
                        <a:t>Framework</a:t>
                      </a:r>
                    </a:p>
                  </a:txBody>
                  <a:tcPr marL="43200" marR="43200" marT="21600" marB="21600" anchor="ctr">
                    <a:solidFill>
                      <a:srgbClr val="161A5C"/>
                    </a:solidFill>
                  </a:tcPr>
                </a:tc>
                <a:tc>
                  <a:txBody>
                    <a:bodyPr/>
                    <a:lstStyle/>
                    <a:p>
                      <a:pPr>
                        <a:defRPr sz="900" b="1">
                          <a:solidFill>
                            <a:srgbClr val="FFFFFF"/>
                          </a:solidFill>
                          <a:latin typeface="Calibri"/>
                        </a:defRPr>
                      </a:pPr>
                      <a:r>
                        <a:t>Requirement</a:t>
                      </a:r>
                    </a:p>
                  </a:txBody>
                  <a:tcPr marL="43200" marR="43200" marT="21600" marB="21600" anchor="ctr">
                    <a:solidFill>
                      <a:srgbClr val="161A5C"/>
                    </a:solidFill>
                  </a:tcPr>
                </a:tc>
                <a:tc>
                  <a:txBody>
                    <a:bodyPr/>
                    <a:lstStyle/>
                    <a:p>
                      <a:pPr>
                        <a:defRPr sz="900" b="1">
                          <a:solidFill>
                            <a:srgbClr val="FFFFFF"/>
                          </a:solidFill>
                          <a:latin typeface="Calibri"/>
                        </a:defRPr>
                      </a:pPr>
                      <a:r>
                        <a:t>Title</a:t>
                      </a:r>
                    </a:p>
                  </a:txBody>
                  <a:tcPr marL="43200" marR="43200" marT="21600" marB="21600" anchor="ctr">
                    <a:solidFill>
                      <a:srgbClr val="161A5C"/>
                    </a:solidFill>
                  </a:tcPr>
                </a:tc>
                <a:tc>
                  <a:txBody>
                    <a:bodyPr/>
                    <a:lstStyle/>
                    <a:p>
                      <a:pPr>
                        <a:defRPr sz="900" b="1">
                          <a:solidFill>
                            <a:srgbClr val="FFFFFF"/>
                          </a:solidFill>
                          <a:latin typeface="Calibri"/>
                        </a:defRPr>
                      </a:pPr>
                      <a:r>
                        <a:t>Domain</a:t>
                      </a:r>
                    </a:p>
                  </a:txBody>
                  <a:tcPr marL="43200" marR="43200" marT="21600" marB="21600" anchor="ctr">
                    <a:solidFill>
                      <a:srgbClr val="161A5C"/>
                    </a:solidFill>
                  </a:tcPr>
                </a:tc>
                <a:tc>
                  <a:txBody>
                    <a:bodyPr/>
                    <a:lstStyle/>
                    <a:p>
                      <a:pPr>
                        <a:defRPr sz="900" b="1">
                          <a:solidFill>
                            <a:srgbClr val="FFFFFF"/>
                          </a:solidFill>
                          <a:latin typeface="Calibri"/>
                        </a:defRPr>
                      </a:pPr>
                      <a:r>
                        <a:t>Outcome</a:t>
                      </a:r>
                    </a:p>
                  </a:txBody>
                  <a:tcPr marL="43200" marR="43200" marT="21600" marB="21600" anchor="ctr">
                    <a:solidFill>
                      <a:srgbClr val="161A5C"/>
                    </a:solidFill>
                  </a:tcPr>
                </a:tc>
                <a:tc>
                  <a:txBody>
                    <a:bodyPr/>
                    <a:lstStyle/>
                    <a:p>
                      <a:pPr>
                        <a:defRPr sz="900" b="1">
                          <a:solidFill>
                            <a:srgbClr val="FFFFFF"/>
                          </a:solidFill>
                          <a:latin typeface="Calibri"/>
                        </a:defRPr>
                      </a:pPr>
                      <a:r>
                        <a:t>Risk</a:t>
                      </a:r>
                    </a:p>
                  </a:txBody>
                  <a:tcPr marL="43200" marR="43200" marT="21600" marB="21600" anchor="ctr">
                    <a:solidFill>
                      <a:srgbClr val="161A5C"/>
                    </a:solidFill>
                  </a:tcPr>
                </a:tc>
                <a:tc>
                  <a:txBody>
                    <a:bodyPr/>
                    <a:lstStyle/>
                    <a:p>
                      <a:pPr>
                        <a:defRPr sz="900" b="1">
                          <a:solidFill>
                            <a:srgbClr val="FFFFFF"/>
                          </a:solidFill>
                          <a:latin typeface="Calibri"/>
                        </a:defRPr>
                      </a:pPr>
                      <a:r>
                        <a:t>Decision</a:t>
                      </a:r>
                    </a:p>
                  </a:txBody>
                  <a:tcPr marL="43200" marR="43200" marT="21600" marB="21600" anchor="ctr">
                    <a:solidFill>
                      <a:srgbClr val="161A5C"/>
                    </a:solidFill>
                  </a:tcPr>
                </a:tc>
                <a:tc>
                  <a:txBody>
                    <a:bodyPr/>
                    <a:lstStyle/>
                    <a:p>
                      <a:pPr>
                        <a:defRPr sz="900" b="1">
                          <a:solidFill>
                            <a:srgbClr val="FFFFFF"/>
                          </a:solidFill>
                          <a:latin typeface="Calibri"/>
                        </a:defRPr>
                      </a:pPr>
                      <a:r>
                        <a:t>Evidence</a:t>
                      </a:r>
                    </a:p>
                  </a:txBody>
                  <a:tcPr marL="43200" marR="43200" marT="21600" marB="21600" anchor="ctr">
                    <a:solidFill>
                      <a:srgbClr val="161A5C"/>
                    </a:solidFill>
                  </a:tcPr>
                </a:tc>
              </a:tr>
              <a:tr h="594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ISO.A8.28</a:t>
                      </a:r>
                    </a:p>
                  </a:txBody>
                  <a:tcPr marL="43200" marR="43200" marT="21600" marB="21600" anchor="ctr">
                    <a:solidFill>
                      <a:srgbClr val="FFFFFF"/>
                    </a:solidFill>
                  </a:tcPr>
                </a:tc>
                <a:tc>
                  <a:txBody>
                    <a:bodyPr/>
                    <a:lstStyle/>
                    <a:p>
                      <a:pPr>
                        <a:defRPr sz="900" b="0">
                          <a:solidFill>
                            <a:srgbClr val="0B0E26"/>
                          </a:solidFill>
                          <a:latin typeface="Calibri"/>
                        </a:defRPr>
                      </a:pPr>
                      <a:r>
                        <a:t>Secure coding</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p.10</a:t>
                      </a:r>
                    </a:p>
                  </a:txBody>
                  <a:tcPr marL="43200" marR="43200" marT="21600" marB="21600" anchor="ctr">
                    <a:solidFill>
                      <a:srgbClr val="FFFFFF"/>
                    </a:solidFill>
                  </a:tcPr>
                </a:tc>
              </a:tr>
              <a:tr h="594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ISO.A8.29</a:t>
                      </a:r>
                    </a:p>
                  </a:txBody>
                  <a:tcPr marL="43200" marR="43200" marT="21600" marB="21600" anchor="ctr">
                    <a:solidFill>
                      <a:srgbClr val="F1F3F8"/>
                    </a:solidFill>
                  </a:tcPr>
                </a:tc>
                <a:tc>
                  <a:txBody>
                    <a:bodyPr/>
                    <a:lstStyle/>
                    <a:p>
                      <a:pPr>
                        <a:defRPr sz="900" b="0">
                          <a:solidFill>
                            <a:srgbClr val="0B0E26"/>
                          </a:solidFill>
                          <a:latin typeface="Calibri"/>
                        </a:defRPr>
                      </a:pPr>
                      <a:r>
                        <a:t>Security testing in development and acceptance</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Medium</a:t>
                      </a:r>
                    </a:p>
                  </a:txBody>
                  <a:tcPr marL="43200" marR="43200" marT="21600" marB="21600" anchor="ctr">
                    <a:solidFill>
                      <a:srgbClr val="F1F3F8"/>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privacy-policy.pdf v3, p.5</a:t>
                      </a:r>
                    </a:p>
                  </a:txBody>
                  <a:tcPr marL="43200" marR="43200" marT="21600" marB="21600" anchor="ctr">
                    <a:solidFill>
                      <a:srgbClr val="F1F3F8"/>
                    </a:solidFill>
                  </a:tcPr>
                </a:tc>
              </a:tr>
              <a:tr h="594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ISO.A8.30</a:t>
                      </a:r>
                    </a:p>
                  </a:txBody>
                  <a:tcPr marL="43200" marR="43200" marT="21600" marB="21600" anchor="ctr">
                    <a:solidFill>
                      <a:srgbClr val="FFFFFF"/>
                    </a:solidFill>
                  </a:tcPr>
                </a:tc>
                <a:tc>
                  <a:txBody>
                    <a:bodyPr/>
                    <a:lstStyle/>
                    <a:p>
                      <a:pPr>
                        <a:defRPr sz="900" b="0">
                          <a:solidFill>
                            <a:srgbClr val="0B0E26"/>
                          </a:solidFill>
                          <a:latin typeface="Calibri"/>
                        </a:defRPr>
                      </a:pPr>
                      <a:r>
                        <a:t>Outsourced development</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Not Applicable</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p.8</a:t>
                      </a:r>
                    </a:p>
                  </a:txBody>
                  <a:tcPr marL="43200" marR="43200" marT="21600" marB="21600" anchor="ctr">
                    <a:solidFill>
                      <a:srgbClr val="FFFFFF"/>
                    </a:solidFill>
                  </a:tcPr>
                </a:tc>
              </a:tr>
              <a:tr h="594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ISO.A8.31</a:t>
                      </a:r>
                    </a:p>
                  </a:txBody>
                  <a:tcPr marL="43200" marR="43200" marT="21600" marB="21600" anchor="ctr">
                    <a:solidFill>
                      <a:srgbClr val="F1F3F8"/>
                    </a:solidFill>
                  </a:tcPr>
                </a:tc>
                <a:tc>
                  <a:txBody>
                    <a:bodyPr/>
                    <a:lstStyle/>
                    <a:p>
                      <a:pPr>
                        <a:defRPr sz="900" b="0">
                          <a:solidFill>
                            <a:srgbClr val="0B0E26"/>
                          </a:solidFill>
                          <a:latin typeface="Calibri"/>
                        </a:defRPr>
                      </a:pPr>
                      <a:r>
                        <a:t>Separation of development, test and production environments</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Insufficient Evidence</a:t>
                      </a:r>
                    </a:p>
                  </a:txBody>
                  <a:tcPr marL="43200" marR="43200" marT="21600" marB="21600" anchor="ctr">
                    <a:solidFill>
                      <a:srgbClr val="F1F3F8"/>
                    </a:solidFill>
                  </a:tcPr>
                </a:tc>
                <a:tc>
                  <a:txBody>
                    <a:bodyPr/>
                    <a:lstStyle/>
                    <a:p>
                      <a:pPr>
                        <a:defRPr sz="900" b="0">
                          <a:solidFill>
                            <a:srgbClr val="0B0E26"/>
                          </a:solidFill>
                          <a:latin typeface="Calibri"/>
                        </a:defRPr>
                      </a:pPr>
                      <a:r>
                        <a:t>High</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No supporting citation</a:t>
                      </a:r>
                    </a:p>
                  </a:txBody>
                  <a:tcPr marL="43200" marR="43200" marT="21600" marB="21600" anchor="ctr">
                    <a:solidFill>
                      <a:srgbClr val="F1F3F8"/>
                    </a:solidFill>
                  </a:tcPr>
                </a:tc>
              </a:tr>
              <a:tr h="594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ISO.A8.32</a:t>
                      </a:r>
                    </a:p>
                  </a:txBody>
                  <a:tcPr marL="43200" marR="43200" marT="21600" marB="21600" anchor="ctr">
                    <a:solidFill>
                      <a:srgbClr val="FFFFFF"/>
                    </a:solidFill>
                  </a:tcPr>
                </a:tc>
                <a:tc>
                  <a:txBody>
                    <a:bodyPr/>
                    <a:lstStyle/>
                    <a:p>
                      <a:pPr>
                        <a:defRPr sz="900" b="0">
                          <a:solidFill>
                            <a:srgbClr val="0B0E26"/>
                          </a:solidFill>
                          <a:latin typeface="Calibri"/>
                        </a:defRPr>
                      </a:pPr>
                      <a:r>
                        <a:t>Change management</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Partially Compliant</a:t>
                      </a:r>
                    </a:p>
                  </a:txBody>
                  <a:tcPr marL="43200" marR="43200" marT="21600" marB="21600" anchor="ctr">
                    <a:solidFill>
                      <a:srgbClr val="FFFFFF"/>
                    </a:solidFill>
                  </a:tcPr>
                </a:tc>
                <a:tc>
                  <a:txBody>
                    <a:bodyPr/>
                    <a:lstStyle/>
                    <a:p>
                      <a:pPr>
                        <a:defRPr sz="900" b="0">
                          <a:solidFill>
                            <a:srgbClr val="0B0E26"/>
                          </a:solidFill>
                          <a:latin typeface="Calibri"/>
                        </a:defRPr>
                      </a:pPr>
                      <a:r>
                        <a:t>Medium</a:t>
                      </a:r>
                    </a:p>
                  </a:txBody>
                  <a:tcPr marL="43200" marR="43200" marT="21600" marB="21600" anchor="ctr">
                    <a:solidFill>
                      <a:srgbClr val="FFFFFF"/>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access-control-policy.pdf v2, p.18</a:t>
                      </a:r>
                    </a:p>
                  </a:txBody>
                  <a:tcPr marL="43200" marR="43200" marT="21600" marB="21600" anchor="ctr">
                    <a:solidFill>
                      <a:srgbClr val="FFFFFF"/>
                    </a:solidFill>
                  </a:tcPr>
                </a:tc>
              </a:tr>
              <a:tr h="594000">
                <a:tc>
                  <a:txBody>
                    <a:bodyPr/>
                    <a:lstStyle/>
                    <a:p>
                      <a:pPr>
                        <a:defRPr sz="900" b="0">
                          <a:solidFill>
                            <a:srgbClr val="0B0E26"/>
                          </a:solidFill>
                          <a:latin typeface="Calibri"/>
                        </a:defRPr>
                      </a:pPr>
                      <a:r>
                        <a:t>ISO 27001</a:t>
                      </a:r>
                    </a:p>
                  </a:txBody>
                  <a:tcPr marL="43200" marR="43200" marT="21600" marB="21600" anchor="ctr">
                    <a:solidFill>
                      <a:srgbClr val="F1F3F8"/>
                    </a:solidFill>
                  </a:tcPr>
                </a:tc>
                <a:tc>
                  <a:txBody>
                    <a:bodyPr/>
                    <a:lstStyle/>
                    <a:p>
                      <a:pPr>
                        <a:defRPr sz="900" b="0">
                          <a:solidFill>
                            <a:srgbClr val="0B0E26"/>
                          </a:solidFill>
                          <a:latin typeface="Calibri"/>
                        </a:defRPr>
                      </a:pPr>
                      <a:r>
                        <a:t>ISO.A8.33</a:t>
                      </a:r>
                    </a:p>
                  </a:txBody>
                  <a:tcPr marL="43200" marR="43200" marT="21600" marB="21600" anchor="ctr">
                    <a:solidFill>
                      <a:srgbClr val="F1F3F8"/>
                    </a:solidFill>
                  </a:tcPr>
                </a:tc>
                <a:tc>
                  <a:txBody>
                    <a:bodyPr/>
                    <a:lstStyle/>
                    <a:p>
                      <a:pPr>
                        <a:defRPr sz="900" b="0">
                          <a:solidFill>
                            <a:srgbClr val="0B0E26"/>
                          </a:solidFill>
                          <a:latin typeface="Calibri"/>
                        </a:defRPr>
                      </a:pPr>
                      <a:r>
                        <a:t>Test information</a:t>
                      </a:r>
                    </a:p>
                  </a:txBody>
                  <a:tcPr marL="43200" marR="43200" marT="21600" marB="21600" anchor="ctr">
                    <a:solidFill>
                      <a:srgbClr val="F1F3F8"/>
                    </a:solidFill>
                  </a:tcPr>
                </a:tc>
                <a:tc>
                  <a:txBody>
                    <a:bodyPr/>
                    <a:lstStyle/>
                    <a:p>
                      <a:pPr>
                        <a:defRPr sz="900" b="0">
                          <a:solidFill>
                            <a:srgbClr val="0B0E26"/>
                          </a:solidFill>
                          <a:latin typeface="Calibri"/>
                        </a:defRPr>
                      </a:pPr>
                      <a:r>
                        <a:t>Technological Controls</a:t>
                      </a:r>
                    </a:p>
                  </a:txBody>
                  <a:tcPr marL="43200" marR="43200" marT="21600" marB="21600" anchor="ctr">
                    <a:solidFill>
                      <a:srgbClr val="F1F3F8"/>
                    </a:solidFill>
                  </a:tcPr>
                </a:tc>
                <a:tc>
                  <a:txBody>
                    <a:bodyPr/>
                    <a:lstStyle/>
                    <a:p>
                      <a:pPr>
                        <a:defRPr sz="900" b="0">
                          <a:solidFill>
                            <a:srgbClr val="0B0E26"/>
                          </a:solidFill>
                          <a:latin typeface="Calibri"/>
                        </a:defRPr>
                      </a:pPr>
                      <a:r>
                        <a:t>Partially Compliant</a:t>
                      </a:r>
                    </a:p>
                  </a:txBody>
                  <a:tcPr marL="43200" marR="43200" marT="21600" marB="21600" anchor="ctr">
                    <a:solidFill>
                      <a:srgbClr val="F1F3F8"/>
                    </a:solidFill>
                  </a:tcPr>
                </a:tc>
                <a:tc>
                  <a:txBody>
                    <a:bodyPr/>
                    <a:lstStyle/>
                    <a:p>
                      <a:pPr>
                        <a:defRPr sz="900" b="0">
                          <a:solidFill>
                            <a:srgbClr val="0B0E26"/>
                          </a:solidFill>
                          <a:latin typeface="Calibri"/>
                        </a:defRPr>
                      </a:pPr>
                      <a:r>
                        <a:t>Low</a:t>
                      </a:r>
                    </a:p>
                  </a:txBody>
                  <a:tcPr marL="43200" marR="43200" marT="21600" marB="21600" anchor="ctr">
                    <a:solidFill>
                      <a:srgbClr val="F1F3F8"/>
                    </a:solidFill>
                  </a:tcPr>
                </a:tc>
                <a:tc>
                  <a:txBody>
                    <a:bodyPr/>
                    <a:lstStyle/>
                    <a:p>
                      <a:pPr>
                        <a:defRPr sz="900" b="0">
                          <a:solidFill>
                            <a:srgbClr val="0B0E26"/>
                          </a:solidFill>
                          <a:latin typeface="Calibri"/>
                        </a:defRPr>
                      </a:pPr>
                      <a:r>
                        <a:t>Approved · Priya Sharma, 2026-09-24</a:t>
                      </a:r>
                    </a:p>
                  </a:txBody>
                  <a:tcPr marL="43200" marR="43200" marT="21600" marB="21600" anchor="ctr">
                    <a:solidFill>
                      <a:srgbClr val="F1F3F8"/>
                    </a:solidFill>
                  </a:tcPr>
                </a:tc>
                <a:tc>
                  <a:txBody>
                    <a:bodyPr/>
                    <a:lstStyle/>
                    <a:p>
                      <a:pPr>
                        <a:defRPr sz="900" b="0">
                          <a:solidFill>
                            <a:srgbClr val="0B0E26"/>
                          </a:solidFill>
                          <a:latin typeface="Calibri"/>
                        </a:defRPr>
                      </a:pPr>
                      <a:r>
                        <a:t>isms-manual.pdf v4, p.10</a:t>
                      </a:r>
                    </a:p>
                  </a:txBody>
                  <a:tcPr marL="43200" marR="43200" marT="21600" marB="21600" anchor="ctr">
                    <a:solidFill>
                      <a:srgbClr val="F1F3F8"/>
                    </a:solidFill>
                  </a:tcPr>
                </a:tc>
              </a:tr>
              <a:tr h="594000">
                <a:tc>
                  <a:txBody>
                    <a:bodyPr/>
                    <a:lstStyle/>
                    <a:p>
                      <a:pPr>
                        <a:defRPr sz="900" b="0">
                          <a:solidFill>
                            <a:srgbClr val="0B0E26"/>
                          </a:solidFill>
                          <a:latin typeface="Calibri"/>
                        </a:defRPr>
                      </a:pPr>
                      <a:r>
                        <a:t>ISO 27001</a:t>
                      </a:r>
                    </a:p>
                  </a:txBody>
                  <a:tcPr marL="43200" marR="43200" marT="21600" marB="21600" anchor="ctr">
                    <a:solidFill>
                      <a:srgbClr val="FFFFFF"/>
                    </a:solidFill>
                  </a:tcPr>
                </a:tc>
                <a:tc>
                  <a:txBody>
                    <a:bodyPr/>
                    <a:lstStyle/>
                    <a:p>
                      <a:pPr>
                        <a:defRPr sz="900" b="0">
                          <a:solidFill>
                            <a:srgbClr val="0B0E26"/>
                          </a:solidFill>
                          <a:latin typeface="Calibri"/>
                        </a:defRPr>
                      </a:pPr>
                      <a:r>
                        <a:t>ISO.A8.34</a:t>
                      </a:r>
                    </a:p>
                  </a:txBody>
                  <a:tcPr marL="43200" marR="43200" marT="21600" marB="21600" anchor="ctr">
                    <a:solidFill>
                      <a:srgbClr val="FFFFFF"/>
                    </a:solidFill>
                  </a:tcPr>
                </a:tc>
                <a:tc>
                  <a:txBody>
                    <a:bodyPr/>
                    <a:lstStyle/>
                    <a:p>
                      <a:pPr>
                        <a:defRPr sz="900" b="0">
                          <a:solidFill>
                            <a:srgbClr val="0B0E26"/>
                          </a:solidFill>
                          <a:latin typeface="Calibri"/>
                        </a:defRPr>
                      </a:pPr>
                      <a:r>
                        <a:t>Protection of information systems during audit testing</a:t>
                      </a:r>
                    </a:p>
                  </a:txBody>
                  <a:tcPr marL="43200" marR="43200" marT="21600" marB="21600" anchor="ctr">
                    <a:solidFill>
                      <a:srgbClr val="FFFFFF"/>
                    </a:solidFill>
                  </a:tcPr>
                </a:tc>
                <a:tc>
                  <a:txBody>
                    <a:bodyPr/>
                    <a:lstStyle/>
                    <a:p>
                      <a:pPr>
                        <a:defRPr sz="900" b="0">
                          <a:solidFill>
                            <a:srgbClr val="0B0E26"/>
                          </a:solidFill>
                          <a:latin typeface="Calibri"/>
                        </a:defRPr>
                      </a:pPr>
                      <a:r>
                        <a:t>Technological Controls</a:t>
                      </a:r>
                    </a:p>
                  </a:txBody>
                  <a:tcPr marL="43200" marR="43200" marT="21600" marB="21600" anchor="ctr">
                    <a:solidFill>
                      <a:srgbClr val="FFFFFF"/>
                    </a:solidFill>
                  </a:tcPr>
                </a:tc>
                <a:tc>
                  <a:txBody>
                    <a:bodyPr/>
                    <a:lstStyle/>
                    <a:p>
                      <a:pPr>
                        <a:defRPr sz="900" b="0">
                          <a:solidFill>
                            <a:srgbClr val="0B0E26"/>
                          </a:solidFill>
                          <a:latin typeface="Calibri"/>
                        </a:defRPr>
                      </a:pPr>
                      <a:r>
                        <a:t>Compliant</a:t>
                      </a:r>
                    </a:p>
                  </a:txBody>
                  <a:tcPr marL="43200" marR="43200" marT="21600" marB="21600" anchor="ctr">
                    <a:solidFill>
                      <a:srgbClr val="FFFFFF"/>
                    </a:solidFill>
                  </a:tcPr>
                </a:tc>
                <a:tc>
                  <a:txBody>
                    <a:bodyPr/>
                    <a:lstStyle/>
                    <a:p>
                      <a:pPr>
                        <a:defRPr sz="900" b="0">
                          <a:solidFill>
                            <a:srgbClr val="0B0E26"/>
                          </a:solidFill>
                          <a:latin typeface="Calibri"/>
                        </a:defRPr>
                      </a:pPr>
                      <a:r>
                        <a:t>Low</a:t>
                      </a:r>
                    </a:p>
                  </a:txBody>
                  <a:tcPr marL="43200" marR="43200" marT="21600" marB="21600" anchor="ctr">
                    <a:solidFill>
                      <a:srgbClr val="FFFFFF"/>
                    </a:solidFill>
                  </a:tcPr>
                </a:tc>
                <a:tc>
                  <a:txBody>
                    <a:bodyPr/>
                    <a:lstStyle/>
                    <a:p>
                      <a:pPr>
                        <a:defRPr sz="900" b="0">
                          <a:solidFill>
                            <a:srgbClr val="0B0E26"/>
                          </a:solidFill>
                          <a:latin typeface="Calibri"/>
                        </a:defRPr>
                      </a:pPr>
                      <a:r>
                        <a:t>Edited · Priya Sharma, 2026-09-24</a:t>
                      </a:r>
                    </a:p>
                  </a:txBody>
                  <a:tcPr marL="43200" marR="43200" marT="21600" marB="21600" anchor="ctr">
                    <a:solidFill>
                      <a:srgbClr val="FFFFFF"/>
                    </a:solidFill>
                  </a:tcPr>
                </a:tc>
                <a:tc>
                  <a:txBody>
                    <a:bodyPr/>
                    <a:lstStyle/>
                    <a:p>
                      <a:pPr>
                        <a:defRPr sz="900" b="0">
                          <a:solidFill>
                            <a:srgbClr val="0B0E26"/>
                          </a:solidFill>
                          <a:latin typeface="Calibri"/>
                        </a:defRPr>
                      </a:pPr>
                      <a:r>
                        <a:t>privacy-policy.pdf v3, p.18</a:t>
                      </a:r>
                    </a:p>
                  </a:txBody>
                  <a:tcPr marL="43200" marR="43200" marT="21600" marB="21600" anchor="ctr">
                    <a:solidFill>
                      <a:srgbClr val="FFFFFF"/>
                    </a:solidFill>
                  </a:tcPr>
                </a:tc>
              </a:tr>
            </a:tbl>
          </a:graphicData>
        </a:graphic>
      </p:graphicFrame>
      <p:sp>
        <p:nvSpPr>
          <p:cNvPr id="6"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8"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24 of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heme top rule"/>
          <p:cNvSpPr/>
          <p:nvPr/>
        </p:nvSpPr>
        <p:spPr>
          <a:xfrm>
            <a:off x="0" y="0"/>
            <a:ext cx="12192120" cy="144000"/>
          </a:xfrm>
          <a:prstGeom prst="rect">
            <a:avLst/>
          </a:prstGeom>
          <a:solidFill>
            <a:srgbClr val="161A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me accent rule"/>
          <p:cNvSpPr/>
          <p:nvPr/>
        </p:nvSpPr>
        <p:spPr>
          <a:xfrm>
            <a:off x="0" y="144000"/>
            <a:ext cx="1008000" cy="43200"/>
          </a:xfrm>
          <a:prstGeom prst="rect">
            <a:avLst/>
          </a:prstGeom>
          <a:solidFill>
            <a:srgbClr val="12B3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Presenter action title"/>
          <p:cNvSpPr txBox="1"/>
          <p:nvPr/>
        </p:nvSpPr>
        <p:spPr>
          <a:xfrm>
            <a:off x="504000" y="360000"/>
            <a:ext cx="11160000" cy="612000"/>
          </a:xfrm>
          <a:prstGeom prst="rect">
            <a:avLst/>
          </a:prstGeom>
          <a:noFill/>
          <a:ln>
            <a:noFill/>
          </a:ln>
        </p:spPr>
        <p:txBody>
          <a:bodyPr wrap="square" anchor="t" lIns="43200" rIns="43200" tIns="25200" bIns="25200">
            <a:spAutoFit/>
          </a:bodyPr>
          <a:lstStyle/>
          <a:p>
            <a:pPr>
              <a:defRPr sz="2400" b="1">
                <a:solidFill>
                  <a:srgbClr val="0B0E26"/>
                </a:solidFill>
                <a:latin typeface="Calibri"/>
              </a:defRPr>
            </a:pPr>
            <a:r>
              <a:t>Evidence register</a:t>
            </a:r>
          </a:p>
        </p:txBody>
      </p:sp>
      <p:graphicFrame>
        <p:nvGraphicFramePr>
          <p:cNvPr id="5" name="Native evidence table"/>
          <p:cNvGraphicFramePr>
            <a:graphicFrameLocks noGrp="1"/>
          </p:cNvGraphicFramePr>
          <p:nvPr/>
        </p:nvGraphicFramePr>
        <p:xfrm>
          <a:off x="504000" y="1728000"/>
          <a:ext cx="6840000" cy="4032000"/>
        </p:xfrm>
        <a:graphic>
          <a:graphicData uri="http://schemas.openxmlformats.org/drawingml/2006/table">
            <a:tbl>
              <a:tblPr firstRow="1" bandRow="1">
                <a:tableStyleId>{5C22544A-7EE6-4342-B048-85BDC9FD1C3A}</a:tableStyleId>
              </a:tblPr>
              <a:tblGrid>
                <a:gridCol w="2592000"/>
                <a:gridCol w="720000"/>
                <a:gridCol w="1080000"/>
                <a:gridCol w="1800000"/>
                <a:gridCol w="648000"/>
              </a:tblGrid>
              <a:tr h="336000">
                <a:tc>
                  <a:txBody>
                    <a:bodyPr/>
                    <a:lstStyle/>
                    <a:p>
                      <a:pPr>
                        <a:defRPr sz="900" b="1">
                          <a:solidFill>
                            <a:srgbClr val="FFFFFF"/>
                          </a:solidFill>
                          <a:latin typeface="Calibri"/>
                        </a:defRPr>
                      </a:pPr>
                      <a:r>
                        <a:t>Document</a:t>
                      </a:r>
                    </a:p>
                  </a:txBody>
                  <a:tcPr marL="43200" marR="43200" marT="21600" marB="21600" anchor="ctr">
                    <a:solidFill>
                      <a:srgbClr val="161A5C"/>
                    </a:solidFill>
                  </a:tcPr>
                </a:tc>
                <a:tc>
                  <a:txBody>
                    <a:bodyPr/>
                    <a:lstStyle/>
                    <a:p>
                      <a:pPr>
                        <a:defRPr sz="900" b="1">
                          <a:solidFill>
                            <a:srgbClr val="FFFFFF"/>
                          </a:solidFill>
                          <a:latin typeface="Calibri"/>
                        </a:defRPr>
                      </a:pPr>
                      <a:r>
                        <a:t>Version</a:t>
                      </a:r>
                    </a:p>
                  </a:txBody>
                  <a:tcPr marL="43200" marR="43200" marT="21600" marB="21600" anchor="ctr">
                    <a:solidFill>
                      <a:srgbClr val="161A5C"/>
                    </a:solidFill>
                  </a:tcPr>
                </a:tc>
                <a:tc>
                  <a:txBody>
                    <a:bodyPr/>
                    <a:lstStyle/>
                    <a:p>
                      <a:pPr>
                        <a:defRPr sz="900" b="1">
                          <a:solidFill>
                            <a:srgbClr val="FFFFFF"/>
                          </a:solidFill>
                          <a:latin typeface="Calibri"/>
                        </a:defRPr>
                      </a:pPr>
                      <a:r>
                        <a:t>Added</a:t>
                      </a:r>
                    </a:p>
                  </a:txBody>
                  <a:tcPr marL="43200" marR="43200" marT="21600" marB="21600" anchor="ctr">
                    <a:solidFill>
                      <a:srgbClr val="161A5C"/>
                    </a:solidFill>
                  </a:tcPr>
                </a:tc>
                <a:tc>
                  <a:txBody>
                    <a:bodyPr/>
                    <a:lstStyle/>
                    <a:p>
                      <a:pPr>
                        <a:defRPr sz="900" b="1">
                          <a:solidFill>
                            <a:srgbClr val="FFFFFF"/>
                          </a:solidFill>
                          <a:latin typeface="Calibri"/>
                        </a:defRPr>
                      </a:pPr>
                      <a:r>
                        <a:t>Fingerprint</a:t>
                      </a:r>
                    </a:p>
                  </a:txBody>
                  <a:tcPr marL="43200" marR="43200" marT="21600" marB="21600" anchor="ctr">
                    <a:solidFill>
                      <a:srgbClr val="161A5C"/>
                    </a:solidFill>
                  </a:tcPr>
                </a:tc>
                <a:tc>
                  <a:txBody>
                    <a:bodyPr/>
                    <a:lstStyle/>
                    <a:p>
                      <a:pPr>
                        <a:defRPr sz="900" b="1">
                          <a:solidFill>
                            <a:srgbClr val="FFFFFF"/>
                          </a:solidFill>
                          <a:latin typeface="Calibri"/>
                        </a:defRPr>
                      </a:pPr>
                      <a:r>
                        <a:t>Cited</a:t>
                      </a:r>
                    </a:p>
                  </a:txBody>
                  <a:tcPr marL="43200" marR="43200" marT="21600" marB="21600" anchor="ctr">
                    <a:solidFill>
                      <a:srgbClr val="161A5C"/>
                    </a:solidFill>
                  </a:tcPr>
                </a:tc>
              </a:tr>
              <a:tr h="336000">
                <a:tc>
                  <a:txBody>
                    <a:bodyPr/>
                    <a:lstStyle/>
                    <a:p>
                      <a:pPr>
                        <a:defRPr sz="900" b="0">
                          <a:solidFill>
                            <a:srgbClr val="0B0E26"/>
                          </a:solidFill>
                          <a:latin typeface="Calibri"/>
                        </a:defRPr>
                      </a:pPr>
                      <a:r>
                        <a:t>access-control-policy.pdf</a:t>
                      </a:r>
                    </a:p>
                  </a:txBody>
                  <a:tcPr marL="43200" marR="43200" marT="21600" marB="21600" anchor="ctr">
                    <a:solidFill>
                      <a:srgbClr val="FFFFFF"/>
                    </a:solidFill>
                  </a:tcPr>
                </a:tc>
                <a:tc>
                  <a:txBody>
                    <a:bodyPr/>
                    <a:lstStyle/>
                    <a:p>
                      <a:pPr>
                        <a:defRPr sz="900" b="0">
                          <a:solidFill>
                            <a:srgbClr val="0B0E26"/>
                          </a:solidFill>
                          <a:latin typeface="Calibri"/>
                        </a:defRPr>
                      </a:pPr>
                      <a:r>
                        <a:t>v2</a:t>
                      </a:r>
                    </a:p>
                  </a:txBody>
                  <a:tcPr marL="43200" marR="43200" marT="21600" marB="21600" anchor="ctr">
                    <a:solidFill>
                      <a:srgbClr val="FFFFFF"/>
                    </a:solidFill>
                  </a:tcPr>
                </a:tc>
                <a:tc>
                  <a:txBody>
                    <a:bodyPr/>
                    <a:lstStyle/>
                    <a:p>
                      <a:pPr>
                        <a:defRPr sz="900" b="0">
                          <a:solidFill>
                            <a:srgbClr val="0B0E26"/>
                          </a:solidFill>
                          <a:latin typeface="Calibri"/>
                        </a:defRPr>
                      </a:pPr>
                      <a:r>
                        <a:t>2026-07-01</a:t>
                      </a:r>
                    </a:p>
                  </a:txBody>
                  <a:tcPr marL="43200" marR="43200" marT="21600" marB="21600" anchor="ctr">
                    <a:solidFill>
                      <a:srgbClr val="FFFFFF"/>
                    </a:solidFill>
                  </a:tcPr>
                </a:tc>
                <a:tc>
                  <a:txBody>
                    <a:bodyPr/>
                    <a:lstStyle/>
                    <a:p>
                      <a:pPr>
                        <a:defRPr sz="900" b="0">
                          <a:solidFill>
                            <a:srgbClr val="0B0E26"/>
                          </a:solidFill>
                          <a:latin typeface="Calibri"/>
                        </a:defRPr>
                      </a:pPr>
                      <a:r>
                        <a:t>cd072fd1a9b9</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access-review-export.xlsx</a:t>
                      </a:r>
                    </a:p>
                  </a:txBody>
                  <a:tcPr marL="43200" marR="43200" marT="21600" marB="21600" anchor="ctr">
                    <a:solidFill>
                      <a:srgbClr val="F1F3F8"/>
                    </a:solidFill>
                  </a:tcPr>
                </a:tc>
                <a:tc>
                  <a:txBody>
                    <a:bodyPr/>
                    <a:lstStyle/>
                    <a:p>
                      <a:pPr>
                        <a:defRPr sz="900" b="0">
                          <a:solidFill>
                            <a:srgbClr val="0B0E26"/>
                          </a:solidFill>
                          <a:latin typeface="Calibri"/>
                        </a:defRPr>
                      </a:pPr>
                      <a:r>
                        <a:t>v1</a:t>
                      </a:r>
                    </a:p>
                  </a:txBody>
                  <a:tcPr marL="43200" marR="43200" marT="21600" marB="21600" anchor="ctr">
                    <a:solidFill>
                      <a:srgbClr val="F1F3F8"/>
                    </a:solidFill>
                  </a:tcPr>
                </a:tc>
                <a:tc>
                  <a:txBody>
                    <a:bodyPr/>
                    <a:lstStyle/>
                    <a:p>
                      <a:pPr>
                        <a:defRPr sz="900" b="0">
                          <a:solidFill>
                            <a:srgbClr val="0B0E26"/>
                          </a:solidFill>
                          <a:latin typeface="Calibri"/>
                        </a:defRPr>
                      </a:pPr>
                      <a:r>
                        <a:t>2026-07-02</a:t>
                      </a:r>
                    </a:p>
                  </a:txBody>
                  <a:tcPr marL="43200" marR="43200" marT="21600" marB="21600" anchor="ctr">
                    <a:solidFill>
                      <a:srgbClr val="F1F3F8"/>
                    </a:solidFill>
                  </a:tcPr>
                </a:tc>
                <a:tc>
                  <a:txBody>
                    <a:bodyPr/>
                    <a:lstStyle/>
                    <a:p>
                      <a:pPr>
                        <a:defRPr sz="900" b="0">
                          <a:solidFill>
                            <a:srgbClr val="0B0E26"/>
                          </a:solidFill>
                          <a:latin typeface="Calibri"/>
                        </a:defRPr>
                      </a:pPr>
                      <a:r>
                        <a:t>03c3beb9183c</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bcp-2024.pdf</a:t>
                      </a:r>
                    </a:p>
                  </a:txBody>
                  <a:tcPr marL="43200" marR="43200" marT="21600" marB="21600" anchor="ctr">
                    <a:solidFill>
                      <a:srgbClr val="FFFFFF"/>
                    </a:solidFill>
                  </a:tcPr>
                </a:tc>
                <a:tc>
                  <a:txBody>
                    <a:bodyPr/>
                    <a:lstStyle/>
                    <a:p>
                      <a:pPr>
                        <a:defRPr sz="900" b="0">
                          <a:solidFill>
                            <a:srgbClr val="0B0E26"/>
                          </a:solidFill>
                          <a:latin typeface="Calibri"/>
                        </a:defRPr>
                      </a:pPr>
                      <a:r>
                        <a:t>v1</a:t>
                      </a:r>
                    </a:p>
                  </a:txBody>
                  <a:tcPr marL="43200" marR="43200" marT="21600" marB="21600" anchor="ctr">
                    <a:solidFill>
                      <a:srgbClr val="FFFFFF"/>
                    </a:solidFill>
                  </a:tcPr>
                </a:tc>
                <a:tc>
                  <a:txBody>
                    <a:bodyPr/>
                    <a:lstStyle/>
                    <a:p>
                      <a:pPr>
                        <a:defRPr sz="900" b="0">
                          <a:solidFill>
                            <a:srgbClr val="0B0E26"/>
                          </a:solidFill>
                          <a:latin typeface="Calibri"/>
                        </a:defRPr>
                      </a:pPr>
                      <a:r>
                        <a:t>2026-07-03</a:t>
                      </a:r>
                    </a:p>
                  </a:txBody>
                  <a:tcPr marL="43200" marR="43200" marT="21600" marB="21600" anchor="ctr">
                    <a:solidFill>
                      <a:srgbClr val="FFFFFF"/>
                    </a:solidFill>
                  </a:tcPr>
                </a:tc>
                <a:tc>
                  <a:txBody>
                    <a:bodyPr/>
                    <a:lstStyle/>
                    <a:p>
                      <a:pPr>
                        <a:defRPr sz="900" b="0">
                          <a:solidFill>
                            <a:srgbClr val="0B0E26"/>
                          </a:solidFill>
                          <a:latin typeface="Calibri"/>
                        </a:defRPr>
                      </a:pPr>
                      <a:r>
                        <a:t>5a83eec521a9</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data-retention-policy.pdf</a:t>
                      </a:r>
                    </a:p>
                  </a:txBody>
                  <a:tcPr marL="43200" marR="43200" marT="21600" marB="21600" anchor="ctr">
                    <a:solidFill>
                      <a:srgbClr val="F1F3F8"/>
                    </a:solidFill>
                  </a:tcPr>
                </a:tc>
                <a:tc>
                  <a:txBody>
                    <a:bodyPr/>
                    <a:lstStyle/>
                    <a:p>
                      <a:pPr>
                        <a:defRPr sz="900" b="0">
                          <a:solidFill>
                            <a:srgbClr val="0B0E26"/>
                          </a:solidFill>
                          <a:latin typeface="Calibri"/>
                        </a:defRPr>
                      </a:pPr>
                      <a:r>
                        <a:t>v1</a:t>
                      </a:r>
                    </a:p>
                  </a:txBody>
                  <a:tcPr marL="43200" marR="43200" marT="21600" marB="21600" anchor="ctr">
                    <a:solidFill>
                      <a:srgbClr val="F1F3F8"/>
                    </a:solidFill>
                  </a:tcPr>
                </a:tc>
                <a:tc>
                  <a:txBody>
                    <a:bodyPr/>
                    <a:lstStyle/>
                    <a:p>
                      <a:pPr>
                        <a:defRPr sz="900" b="0">
                          <a:solidFill>
                            <a:srgbClr val="0B0E26"/>
                          </a:solidFill>
                          <a:latin typeface="Calibri"/>
                        </a:defRPr>
                      </a:pPr>
                      <a:r>
                        <a:t>2026-07-04</a:t>
                      </a:r>
                    </a:p>
                  </a:txBody>
                  <a:tcPr marL="43200" marR="43200" marT="21600" marB="21600" anchor="ctr">
                    <a:solidFill>
                      <a:srgbClr val="F1F3F8"/>
                    </a:solidFill>
                  </a:tcPr>
                </a:tc>
                <a:tc>
                  <a:txBody>
                    <a:bodyPr/>
                    <a:lstStyle/>
                    <a:p>
                      <a:pPr>
                        <a:defRPr sz="900" b="0">
                          <a:solidFill>
                            <a:srgbClr val="0B0E26"/>
                          </a:solidFill>
                          <a:latin typeface="Calibri"/>
                        </a:defRPr>
                      </a:pPr>
                      <a:r>
                        <a:t>a159d6175aaa</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incident-response-plan.docx</a:t>
                      </a:r>
                    </a:p>
                  </a:txBody>
                  <a:tcPr marL="43200" marR="43200" marT="21600" marB="21600" anchor="ctr">
                    <a:solidFill>
                      <a:srgbClr val="FFFFFF"/>
                    </a:solidFill>
                  </a:tcPr>
                </a:tc>
                <a:tc>
                  <a:txBody>
                    <a:bodyPr/>
                    <a:lstStyle/>
                    <a:p>
                      <a:pPr>
                        <a:defRPr sz="900" b="0">
                          <a:solidFill>
                            <a:srgbClr val="0B0E26"/>
                          </a:solidFill>
                          <a:latin typeface="Calibri"/>
                        </a:defRPr>
                      </a:pPr>
                      <a:r>
                        <a:t>v2</a:t>
                      </a:r>
                    </a:p>
                  </a:txBody>
                  <a:tcPr marL="43200" marR="43200" marT="21600" marB="21600" anchor="ctr">
                    <a:solidFill>
                      <a:srgbClr val="FFFFFF"/>
                    </a:solidFill>
                  </a:tcPr>
                </a:tc>
                <a:tc>
                  <a:txBody>
                    <a:bodyPr/>
                    <a:lstStyle/>
                    <a:p>
                      <a:pPr>
                        <a:defRPr sz="900" b="0">
                          <a:solidFill>
                            <a:srgbClr val="0B0E26"/>
                          </a:solidFill>
                          <a:latin typeface="Calibri"/>
                        </a:defRPr>
                      </a:pPr>
                      <a:r>
                        <a:t>2026-07-05</a:t>
                      </a:r>
                    </a:p>
                  </a:txBody>
                  <a:tcPr marL="43200" marR="43200" marT="21600" marB="21600" anchor="ctr">
                    <a:solidFill>
                      <a:srgbClr val="FFFFFF"/>
                    </a:solidFill>
                  </a:tcPr>
                </a:tc>
                <a:tc>
                  <a:txBody>
                    <a:bodyPr/>
                    <a:lstStyle/>
                    <a:p>
                      <a:pPr>
                        <a:defRPr sz="900" b="0">
                          <a:solidFill>
                            <a:srgbClr val="0B0E26"/>
                          </a:solidFill>
                          <a:latin typeface="Calibri"/>
                        </a:defRPr>
                      </a:pPr>
                      <a:r>
                        <a:t>154f0237f3ea</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isms-manual.pdf</a:t>
                      </a:r>
                    </a:p>
                  </a:txBody>
                  <a:tcPr marL="43200" marR="43200" marT="21600" marB="21600" anchor="ctr">
                    <a:solidFill>
                      <a:srgbClr val="F1F3F8"/>
                    </a:solidFill>
                  </a:tcPr>
                </a:tc>
                <a:tc>
                  <a:txBody>
                    <a:bodyPr/>
                    <a:lstStyle/>
                    <a:p>
                      <a:pPr>
                        <a:defRPr sz="900" b="0">
                          <a:solidFill>
                            <a:srgbClr val="0B0E26"/>
                          </a:solidFill>
                          <a:latin typeface="Calibri"/>
                        </a:defRPr>
                      </a:pPr>
                      <a:r>
                        <a:t>v4</a:t>
                      </a:r>
                    </a:p>
                  </a:txBody>
                  <a:tcPr marL="43200" marR="43200" marT="21600" marB="21600" anchor="ctr">
                    <a:solidFill>
                      <a:srgbClr val="F1F3F8"/>
                    </a:solidFill>
                  </a:tcPr>
                </a:tc>
                <a:tc>
                  <a:txBody>
                    <a:bodyPr/>
                    <a:lstStyle/>
                    <a:p>
                      <a:pPr>
                        <a:defRPr sz="900" b="0">
                          <a:solidFill>
                            <a:srgbClr val="0B0E26"/>
                          </a:solidFill>
                          <a:latin typeface="Calibri"/>
                        </a:defRPr>
                      </a:pPr>
                      <a:r>
                        <a:t>2026-07-06</a:t>
                      </a:r>
                    </a:p>
                  </a:txBody>
                  <a:tcPr marL="43200" marR="43200" marT="21600" marB="21600" anchor="ctr">
                    <a:solidFill>
                      <a:srgbClr val="F1F3F8"/>
                    </a:solidFill>
                  </a:tcPr>
                </a:tc>
                <a:tc>
                  <a:txBody>
                    <a:bodyPr/>
                    <a:lstStyle/>
                    <a:p>
                      <a:pPr>
                        <a:defRPr sz="900" b="0">
                          <a:solidFill>
                            <a:srgbClr val="0B0E26"/>
                          </a:solidFill>
                          <a:latin typeface="Calibri"/>
                        </a:defRPr>
                      </a:pPr>
                      <a:r>
                        <a:t>9d25772e52dd</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privacy-policy.pdf</a:t>
                      </a:r>
                    </a:p>
                  </a:txBody>
                  <a:tcPr marL="43200" marR="43200" marT="21600" marB="21600" anchor="ctr">
                    <a:solidFill>
                      <a:srgbClr val="FFFFFF"/>
                    </a:solidFill>
                  </a:tcPr>
                </a:tc>
                <a:tc>
                  <a:txBody>
                    <a:bodyPr/>
                    <a:lstStyle/>
                    <a:p>
                      <a:pPr>
                        <a:defRPr sz="900" b="0">
                          <a:solidFill>
                            <a:srgbClr val="0B0E26"/>
                          </a:solidFill>
                          <a:latin typeface="Calibri"/>
                        </a:defRPr>
                      </a:pPr>
                      <a:r>
                        <a:t>v3</a:t>
                      </a:r>
                    </a:p>
                  </a:txBody>
                  <a:tcPr marL="43200" marR="43200" marT="21600" marB="21600" anchor="ctr">
                    <a:solidFill>
                      <a:srgbClr val="FFFFFF"/>
                    </a:solidFill>
                  </a:tcPr>
                </a:tc>
                <a:tc>
                  <a:txBody>
                    <a:bodyPr/>
                    <a:lstStyle/>
                    <a:p>
                      <a:pPr>
                        <a:defRPr sz="900" b="0">
                          <a:solidFill>
                            <a:srgbClr val="0B0E26"/>
                          </a:solidFill>
                          <a:latin typeface="Calibri"/>
                        </a:defRPr>
                      </a:pPr>
                      <a:r>
                        <a:t>2026-07-07</a:t>
                      </a:r>
                    </a:p>
                  </a:txBody>
                  <a:tcPr marL="43200" marR="43200" marT="21600" marB="21600" anchor="ctr">
                    <a:solidFill>
                      <a:srgbClr val="FFFFFF"/>
                    </a:solidFill>
                  </a:tcPr>
                </a:tc>
                <a:tc>
                  <a:txBody>
                    <a:bodyPr/>
                    <a:lstStyle/>
                    <a:p>
                      <a:pPr>
                        <a:defRPr sz="900" b="0">
                          <a:solidFill>
                            <a:srgbClr val="0B0E26"/>
                          </a:solidFill>
                          <a:latin typeface="Calibri"/>
                        </a:defRPr>
                      </a:pPr>
                      <a:r>
                        <a:t>b582f7695b7d</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questionnaire-response.pdf</a:t>
                      </a:r>
                    </a:p>
                  </a:txBody>
                  <a:tcPr marL="43200" marR="43200" marT="21600" marB="21600" anchor="ctr">
                    <a:solidFill>
                      <a:srgbClr val="F1F3F8"/>
                    </a:solidFill>
                  </a:tcPr>
                </a:tc>
                <a:tc>
                  <a:txBody>
                    <a:bodyPr/>
                    <a:lstStyle/>
                    <a:p>
                      <a:pPr>
                        <a:defRPr sz="900" b="0">
                          <a:solidFill>
                            <a:srgbClr val="0B0E26"/>
                          </a:solidFill>
                          <a:latin typeface="Calibri"/>
                        </a:defRPr>
                      </a:pPr>
                      <a:r>
                        <a:t>v1</a:t>
                      </a:r>
                    </a:p>
                  </a:txBody>
                  <a:tcPr marL="43200" marR="43200" marT="21600" marB="21600" anchor="ctr">
                    <a:solidFill>
                      <a:srgbClr val="F1F3F8"/>
                    </a:solidFill>
                  </a:tcPr>
                </a:tc>
                <a:tc>
                  <a:txBody>
                    <a:bodyPr/>
                    <a:lstStyle/>
                    <a:p>
                      <a:pPr>
                        <a:defRPr sz="900" b="0">
                          <a:solidFill>
                            <a:srgbClr val="0B0E26"/>
                          </a:solidFill>
                          <a:latin typeface="Calibri"/>
                        </a:defRPr>
                      </a:pPr>
                      <a:r>
                        <a:t>2026-07-08</a:t>
                      </a:r>
                    </a:p>
                  </a:txBody>
                  <a:tcPr marL="43200" marR="43200" marT="21600" marB="21600" anchor="ctr">
                    <a:solidFill>
                      <a:srgbClr val="F1F3F8"/>
                    </a:solidFill>
                  </a:tcPr>
                </a:tc>
                <a:tc>
                  <a:txBody>
                    <a:bodyPr/>
                    <a:lstStyle/>
                    <a:p>
                      <a:pPr>
                        <a:defRPr sz="900" b="0">
                          <a:solidFill>
                            <a:srgbClr val="0B0E26"/>
                          </a:solidFill>
                          <a:latin typeface="Calibri"/>
                        </a:defRPr>
                      </a:pPr>
                      <a:r>
                        <a:t>7bd7980b0a2b</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vendor-contracts-index.xlsx</a:t>
                      </a:r>
                    </a:p>
                  </a:txBody>
                  <a:tcPr marL="43200" marR="43200" marT="21600" marB="21600" anchor="ctr">
                    <a:solidFill>
                      <a:srgbClr val="FFFFFF"/>
                    </a:solidFill>
                  </a:tcPr>
                </a:tc>
                <a:tc>
                  <a:txBody>
                    <a:bodyPr/>
                    <a:lstStyle/>
                    <a:p>
                      <a:pPr>
                        <a:defRPr sz="900" b="0">
                          <a:solidFill>
                            <a:srgbClr val="0B0E26"/>
                          </a:solidFill>
                          <a:latin typeface="Calibri"/>
                        </a:defRPr>
                      </a:pPr>
                      <a:r>
                        <a:t>v2</a:t>
                      </a:r>
                    </a:p>
                  </a:txBody>
                  <a:tcPr marL="43200" marR="43200" marT="21600" marB="21600" anchor="ctr">
                    <a:solidFill>
                      <a:srgbClr val="FFFFFF"/>
                    </a:solidFill>
                  </a:tcPr>
                </a:tc>
                <a:tc>
                  <a:txBody>
                    <a:bodyPr/>
                    <a:lstStyle/>
                    <a:p>
                      <a:pPr>
                        <a:defRPr sz="900" b="0">
                          <a:solidFill>
                            <a:srgbClr val="0B0E26"/>
                          </a:solidFill>
                          <a:latin typeface="Calibri"/>
                        </a:defRPr>
                      </a:pPr>
                      <a:r>
                        <a:t>2026-07-09</a:t>
                      </a:r>
                    </a:p>
                  </a:txBody>
                  <a:tcPr marL="43200" marR="43200" marT="21600" marB="21600" anchor="ctr">
                    <a:solidFill>
                      <a:srgbClr val="FFFFFF"/>
                    </a:solidFill>
                  </a:tcPr>
                </a:tc>
                <a:tc>
                  <a:txBody>
                    <a:bodyPr/>
                    <a:lstStyle/>
                    <a:p>
                      <a:pPr>
                        <a:defRPr sz="900" b="0">
                          <a:solidFill>
                            <a:srgbClr val="0B0E26"/>
                          </a:solidFill>
                          <a:latin typeface="Calibri"/>
                        </a:defRPr>
                      </a:pPr>
                      <a:r>
                        <a:t>b231220b5006</a:t>
                      </a:r>
                    </a:p>
                  </a:txBody>
                  <a:tcPr marL="43200" marR="43200" marT="21600" marB="21600" anchor="ctr">
                    <a:solidFill>
                      <a:srgbClr val="FFFFFF"/>
                    </a:solidFill>
                  </a:tcPr>
                </a:tc>
                <a:tc>
                  <a:txBody>
                    <a:bodyPr/>
                    <a:lstStyle/>
                    <a:p>
                      <a:pPr>
                        <a:defRPr sz="900" b="0">
                          <a:solidFill>
                            <a:srgbClr val="0B0E26"/>
                          </a:solidFill>
                          <a:latin typeface="Calibri"/>
                        </a:defRPr>
                      </a:pPr>
                      <a:r>
                        <a:t>Yes</a:t>
                      </a:r>
                    </a:p>
                  </a:txBody>
                  <a:tcPr marL="43200" marR="43200" marT="21600" marB="21600" anchor="ctr">
                    <a:solidFill>
                      <a:srgbClr val="FFFFFF"/>
                    </a:solidFill>
                  </a:tcPr>
                </a:tc>
              </a:tr>
              <a:tr h="336000">
                <a:tc>
                  <a:txBody>
                    <a:bodyPr/>
                    <a:lstStyle/>
                    <a:p>
                      <a:pPr>
                        <a:defRPr sz="900" b="0">
                          <a:solidFill>
                            <a:srgbClr val="0B0E26"/>
                          </a:solidFill>
                          <a:latin typeface="Calibri"/>
                        </a:defRPr>
                      </a:pPr>
                      <a:r>
                        <a:t>vuln-scan-summary.pdf</a:t>
                      </a:r>
                    </a:p>
                  </a:txBody>
                  <a:tcPr marL="43200" marR="43200" marT="21600" marB="21600" anchor="ctr">
                    <a:solidFill>
                      <a:srgbClr val="F1F3F8"/>
                    </a:solidFill>
                  </a:tcPr>
                </a:tc>
                <a:tc>
                  <a:txBody>
                    <a:bodyPr/>
                    <a:lstStyle/>
                    <a:p>
                      <a:pPr>
                        <a:defRPr sz="900" b="0">
                          <a:solidFill>
                            <a:srgbClr val="0B0E26"/>
                          </a:solidFill>
                          <a:latin typeface="Calibri"/>
                        </a:defRPr>
                      </a:pPr>
                      <a:r>
                        <a:t>v1</a:t>
                      </a:r>
                    </a:p>
                  </a:txBody>
                  <a:tcPr marL="43200" marR="43200" marT="21600" marB="21600" anchor="ctr">
                    <a:solidFill>
                      <a:srgbClr val="F1F3F8"/>
                    </a:solidFill>
                  </a:tcPr>
                </a:tc>
                <a:tc>
                  <a:txBody>
                    <a:bodyPr/>
                    <a:lstStyle/>
                    <a:p>
                      <a:pPr>
                        <a:defRPr sz="900" b="0">
                          <a:solidFill>
                            <a:srgbClr val="0B0E26"/>
                          </a:solidFill>
                          <a:latin typeface="Calibri"/>
                        </a:defRPr>
                      </a:pPr>
                      <a:r>
                        <a:t>2026-07-01</a:t>
                      </a:r>
                    </a:p>
                  </a:txBody>
                  <a:tcPr marL="43200" marR="43200" marT="21600" marB="21600" anchor="ctr">
                    <a:solidFill>
                      <a:srgbClr val="F1F3F8"/>
                    </a:solidFill>
                  </a:tcPr>
                </a:tc>
                <a:tc>
                  <a:txBody>
                    <a:bodyPr/>
                    <a:lstStyle/>
                    <a:p>
                      <a:pPr>
                        <a:defRPr sz="900" b="0">
                          <a:solidFill>
                            <a:srgbClr val="0B0E26"/>
                          </a:solidFill>
                          <a:latin typeface="Calibri"/>
                        </a:defRPr>
                      </a:pPr>
                      <a:r>
                        <a:t>3fec5195e1c5</a:t>
                      </a:r>
                    </a:p>
                  </a:txBody>
                  <a:tcPr marL="43200" marR="43200" marT="21600" marB="21600" anchor="ctr">
                    <a:solidFill>
                      <a:srgbClr val="F1F3F8"/>
                    </a:solidFill>
                  </a:tcPr>
                </a:tc>
                <a:tc>
                  <a:txBody>
                    <a:bodyPr/>
                    <a:lstStyle/>
                    <a:p>
                      <a:pPr>
                        <a:defRPr sz="900" b="0">
                          <a:solidFill>
                            <a:srgbClr val="0B0E26"/>
                          </a:solidFill>
                          <a:latin typeface="Calibri"/>
                        </a:defRPr>
                      </a:pPr>
                      <a:r>
                        <a:t>Yes</a:t>
                      </a:r>
                    </a:p>
                  </a:txBody>
                  <a:tcPr marL="43200" marR="43200" marT="21600" marB="21600" anchor="ctr">
                    <a:solidFill>
                      <a:srgbClr val="F1F3F8"/>
                    </a:solidFill>
                  </a:tcPr>
                </a:tc>
              </a:tr>
              <a:tr h="336000">
                <a:tc>
                  <a:txBody>
                    <a:bodyPr/>
                    <a:lstStyle/>
                    <a:p>
                      <a:pPr>
                        <a:defRPr sz="900" b="0">
                          <a:solidFill>
                            <a:srgbClr val="0B0E26"/>
                          </a:solidFill>
                          <a:latin typeface="Calibri"/>
                        </a:defRPr>
                      </a:pPr>
                      <a:r>
                        <a:t>board-minutes-q1.pdf</a:t>
                      </a:r>
                    </a:p>
                  </a:txBody>
                  <a:tcPr marL="43200" marR="43200" marT="21600" marB="21600" anchor="ctr">
                    <a:solidFill>
                      <a:srgbClr val="FFFFFF"/>
                    </a:solidFill>
                  </a:tcPr>
                </a:tc>
                <a:tc>
                  <a:txBody>
                    <a:bodyPr/>
                    <a:lstStyle/>
                    <a:p>
                      <a:pPr>
                        <a:defRPr sz="900" b="0">
                          <a:solidFill>
                            <a:srgbClr val="0B0E26"/>
                          </a:solidFill>
                          <a:latin typeface="Calibri"/>
                        </a:defRPr>
                      </a:pPr>
                      <a:r>
                        <a:t>v1</a:t>
                      </a:r>
                    </a:p>
                  </a:txBody>
                  <a:tcPr marL="43200" marR="43200" marT="21600" marB="21600" anchor="ctr">
                    <a:solidFill>
                      <a:srgbClr val="FFFFFF"/>
                    </a:solidFill>
                  </a:tcPr>
                </a:tc>
                <a:tc>
                  <a:txBody>
                    <a:bodyPr/>
                    <a:lstStyle/>
                    <a:p>
                      <a:pPr>
                        <a:defRPr sz="900" b="0">
                          <a:solidFill>
                            <a:srgbClr val="0B0E26"/>
                          </a:solidFill>
                          <a:latin typeface="Calibri"/>
                        </a:defRPr>
                      </a:pPr>
                      <a:r>
                        <a:t>2026-07-02</a:t>
                      </a:r>
                    </a:p>
                  </a:txBody>
                  <a:tcPr marL="43200" marR="43200" marT="21600" marB="21600" anchor="ctr">
                    <a:solidFill>
                      <a:srgbClr val="FFFFFF"/>
                    </a:solidFill>
                  </a:tcPr>
                </a:tc>
                <a:tc>
                  <a:txBody>
                    <a:bodyPr/>
                    <a:lstStyle/>
                    <a:p>
                      <a:pPr>
                        <a:defRPr sz="900" b="0">
                          <a:solidFill>
                            <a:srgbClr val="0B0E26"/>
                          </a:solidFill>
                          <a:latin typeface="Calibri"/>
                        </a:defRPr>
                      </a:pPr>
                      <a:r>
                        <a:t>72466e7676a1</a:t>
                      </a:r>
                    </a:p>
                  </a:txBody>
                  <a:tcPr marL="43200" marR="43200" marT="21600" marB="21600" anchor="ctr">
                    <a:solidFill>
                      <a:srgbClr val="FFFFFF"/>
                    </a:solidFill>
                  </a:tcPr>
                </a:tc>
                <a:tc>
                  <a:txBody>
                    <a:bodyPr/>
                    <a:lstStyle/>
                    <a:p>
                      <a:pPr>
                        <a:defRPr sz="900" b="0">
                          <a:solidFill>
                            <a:srgbClr val="0B0E26"/>
                          </a:solidFill>
                          <a:latin typeface="Calibri"/>
                        </a:defRPr>
                      </a:pPr>
                      <a:r>
                        <a:t>No</a:t>
                      </a:r>
                    </a:p>
                  </a:txBody>
                  <a:tcPr marL="43200" marR="43200" marT="21600" marB="21600" anchor="ctr">
                    <a:solidFill>
                      <a:srgbClr val="FFFFFF"/>
                    </a:solidFill>
                  </a:tcPr>
                </a:tc>
              </a:tr>
            </a:tbl>
          </a:graphicData>
        </a:graphic>
      </p:graphicFrame>
      <p:sp>
        <p:nvSpPr>
          <p:cNvPr id="6" name="TextBox 5"/>
          <p:cNvSpPr txBox="1"/>
          <p:nvPr/>
        </p:nvSpPr>
        <p:spPr>
          <a:xfrm>
            <a:off x="7560000" y="1728000"/>
            <a:ext cx="4104000" cy="900000"/>
          </a:xfrm>
          <a:prstGeom prst="rect">
            <a:avLst/>
          </a:prstGeom>
          <a:solidFill>
            <a:srgbClr val="F1F3F8"/>
          </a:solidFill>
          <a:ln>
            <a:noFill/>
          </a:ln>
        </p:spPr>
        <p:txBody>
          <a:bodyPr wrap="square" anchor="t" lIns="43200" rIns="43200" tIns="25200" bIns="25200">
            <a:spAutoFit/>
          </a:bodyPr>
          <a:lstStyle/>
          <a:p>
            <a:pPr>
              <a:defRPr sz="1100" b="0">
                <a:solidFill>
                  <a:srgbClr val="3A4060"/>
                </a:solidFill>
                <a:latin typeface="Calibri"/>
              </a:defRPr>
            </a:pPr>
            <a:r>
              <a:t>Statement of Applicability</a:t>
            </a:r>
          </a:p>
          <a:p>
            <a:pPr>
              <a:defRPr sz="1100" b="0">
                <a:solidFill>
                  <a:srgbClr val="3A4060"/>
                </a:solidFill>
                <a:latin typeface="Calibri"/>
              </a:defRPr>
            </a:pPr>
            <a:r>
              <a:t>ISO 27001 2022 · 93 controls</a:t>
            </a:r>
          </a:p>
        </p:txBody>
      </p:sp>
      <p:graphicFrame>
        <p:nvGraphicFramePr>
          <p:cNvPr id="7" name="Native evidence table"/>
          <p:cNvGraphicFramePr>
            <a:graphicFrameLocks noGrp="1"/>
          </p:cNvGraphicFramePr>
          <p:nvPr/>
        </p:nvGraphicFramePr>
        <p:xfrm>
          <a:off x="7560000" y="2808000"/>
          <a:ext cx="4104000" cy="1440000"/>
        </p:xfrm>
        <a:graphic>
          <a:graphicData uri="http://schemas.openxmlformats.org/drawingml/2006/table">
            <a:tbl>
              <a:tblPr firstRow="1" bandRow="1">
                <a:tableStyleId>{5C22544A-7EE6-4342-B048-85BDC9FD1C3A}</a:tableStyleId>
              </a:tblPr>
              <a:tblGrid>
                <a:gridCol w="2880000"/>
                <a:gridCol w="1224000"/>
              </a:tblGrid>
              <a:tr h="360000">
                <a:tc>
                  <a:txBody>
                    <a:bodyPr/>
                    <a:lstStyle/>
                    <a:p>
                      <a:pPr>
                        <a:defRPr sz="900" b="1">
                          <a:solidFill>
                            <a:srgbClr val="FFFFFF"/>
                          </a:solidFill>
                          <a:latin typeface="Calibri"/>
                        </a:defRPr>
                      </a:pPr>
                      <a:r>
                        <a:t>Applicability</a:t>
                      </a:r>
                    </a:p>
                  </a:txBody>
                  <a:tcPr marL="43200" marR="43200" marT="21600" marB="21600" anchor="ctr">
                    <a:solidFill>
                      <a:srgbClr val="161A5C"/>
                    </a:solidFill>
                  </a:tcPr>
                </a:tc>
                <a:tc>
                  <a:txBody>
                    <a:bodyPr/>
                    <a:lstStyle/>
                    <a:p>
                      <a:pPr>
                        <a:defRPr sz="900" b="1">
                          <a:solidFill>
                            <a:srgbClr val="FFFFFF"/>
                          </a:solidFill>
                          <a:latin typeface="Calibri"/>
                        </a:defRPr>
                      </a:pPr>
                      <a:r>
                        <a:t>Count</a:t>
                      </a:r>
                    </a:p>
                  </a:txBody>
                  <a:tcPr marL="43200" marR="43200" marT="21600" marB="21600" anchor="ctr">
                    <a:solidFill>
                      <a:srgbClr val="161A5C"/>
                    </a:solidFill>
                  </a:tcPr>
                </a:tc>
              </a:tr>
              <a:tr h="360000">
                <a:tc>
                  <a:txBody>
                    <a:bodyPr/>
                    <a:lstStyle/>
                    <a:p>
                      <a:pPr>
                        <a:defRPr sz="900" b="0">
                          <a:solidFill>
                            <a:srgbClr val="0B0E26"/>
                          </a:solidFill>
                          <a:latin typeface="Calibri"/>
                        </a:defRPr>
                      </a:pPr>
                      <a:r>
                        <a:t>Applicable</a:t>
                      </a:r>
                    </a:p>
                  </a:txBody>
                  <a:tcPr marL="43200" marR="43200" marT="21600" marB="21600" anchor="ctr">
                    <a:solidFill>
                      <a:srgbClr val="FFFFFF"/>
                    </a:solidFill>
                  </a:tcPr>
                </a:tc>
                <a:tc>
                  <a:txBody>
                    <a:bodyPr/>
                    <a:lstStyle/>
                    <a:p>
                      <a:pPr>
                        <a:defRPr sz="900" b="0">
                          <a:solidFill>
                            <a:srgbClr val="0B0E26"/>
                          </a:solidFill>
                          <a:latin typeface="Calibri"/>
                        </a:defRPr>
                      </a:pPr>
                      <a:r>
                        <a:t>76</a:t>
                      </a:r>
                    </a:p>
                  </a:txBody>
                  <a:tcPr marL="43200" marR="43200" marT="21600" marB="21600" anchor="ctr">
                    <a:solidFill>
                      <a:srgbClr val="FFFFFF"/>
                    </a:solidFill>
                  </a:tcPr>
                </a:tc>
              </a:tr>
              <a:tr h="360000">
                <a:tc>
                  <a:txBody>
                    <a:bodyPr/>
                    <a:lstStyle/>
                    <a:p>
                      <a:pPr>
                        <a:defRPr sz="900" b="0">
                          <a:solidFill>
                            <a:srgbClr val="0B0E26"/>
                          </a:solidFill>
                          <a:latin typeface="Calibri"/>
                        </a:defRPr>
                      </a:pPr>
                      <a:r>
                        <a:t>Excluded</a:t>
                      </a:r>
                    </a:p>
                  </a:txBody>
                  <a:tcPr marL="43200" marR="43200" marT="21600" marB="21600" anchor="ctr">
                    <a:solidFill>
                      <a:srgbClr val="F1F3F8"/>
                    </a:solidFill>
                  </a:tcPr>
                </a:tc>
                <a:tc>
                  <a:txBody>
                    <a:bodyPr/>
                    <a:lstStyle/>
                    <a:p>
                      <a:pPr>
                        <a:defRPr sz="900" b="0">
                          <a:solidFill>
                            <a:srgbClr val="0B0E26"/>
                          </a:solidFill>
                          <a:latin typeface="Calibri"/>
                        </a:defRPr>
                      </a:pPr>
                      <a:r>
                        <a:t>3</a:t>
                      </a:r>
                    </a:p>
                  </a:txBody>
                  <a:tcPr marL="43200" marR="43200" marT="21600" marB="21600" anchor="ctr">
                    <a:solidFill>
                      <a:srgbClr val="F1F3F8"/>
                    </a:solidFill>
                  </a:tcPr>
                </a:tc>
              </a:tr>
              <a:tr h="360000">
                <a:tc>
                  <a:txBody>
                    <a:bodyPr/>
                    <a:lstStyle/>
                    <a:p>
                      <a:pPr>
                        <a:defRPr sz="900" b="0">
                          <a:solidFill>
                            <a:srgbClr val="0B0E26"/>
                          </a:solidFill>
                          <a:latin typeface="Calibri"/>
                        </a:defRPr>
                      </a:pPr>
                      <a:r>
                        <a:t>Not determined</a:t>
                      </a:r>
                    </a:p>
                  </a:txBody>
                  <a:tcPr marL="43200" marR="43200" marT="21600" marB="21600" anchor="ctr">
                    <a:solidFill>
                      <a:srgbClr val="FFFFFF"/>
                    </a:solidFill>
                  </a:tcPr>
                </a:tc>
                <a:tc>
                  <a:txBody>
                    <a:bodyPr/>
                    <a:lstStyle/>
                    <a:p>
                      <a:pPr>
                        <a:defRPr sz="900" b="0">
                          <a:solidFill>
                            <a:srgbClr val="0B0E26"/>
                          </a:solidFill>
                          <a:latin typeface="Calibri"/>
                        </a:defRPr>
                      </a:pPr>
                      <a:r>
                        <a:t>14</a:t>
                      </a:r>
                    </a:p>
                  </a:txBody>
                  <a:tcPr marL="43200" marR="43200" marT="21600" marB="21600" anchor="ctr">
                    <a:solidFill>
                      <a:srgbClr val="FFFFFF"/>
                    </a:solidFill>
                  </a:tcPr>
                </a:tc>
              </a:tr>
            </a:tbl>
          </a:graphicData>
        </a:graphic>
      </p:graphicFrame>
      <p:sp>
        <p:nvSpPr>
          <p:cNvPr id="8" name="Footer rule"/>
          <p:cNvSpPr/>
          <p:nvPr/>
        </p:nvSpPr>
        <p:spPr>
          <a:xfrm>
            <a:off x="0" y="6480000"/>
            <a:ext cx="12192120" cy="14400"/>
          </a:xfrm>
          <a:prstGeom prst="rect">
            <a:avLst/>
          </a:prstGeom>
          <a:solidFill>
            <a:srgbClr val="DD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Provenance footer"/>
          <p:cNvSpPr txBox="1"/>
          <p:nvPr/>
        </p:nvSpPr>
        <p:spPr>
          <a:xfrm>
            <a:off x="504000" y="6552000"/>
            <a:ext cx="9864000" cy="180000"/>
          </a:xfrm>
          <a:prstGeom prst="rect">
            <a:avLst/>
          </a:prstGeom>
          <a:noFill/>
          <a:ln>
            <a:noFill/>
          </a:ln>
        </p:spPr>
        <p:txBody>
          <a:bodyPr wrap="square" anchor="t" lIns="43200" rIns="43200" tIns="25200" bIns="25200">
            <a:spAutoFit/>
          </a:bodyPr>
          <a:lstStyle/>
          <a:p>
            <a:pPr>
              <a:defRPr sz="700" b="0">
                <a:solidFill>
                  <a:srgbClr val="626984"/>
                </a:solidFill>
                <a:latin typeface="Calibri"/>
              </a:defRPr>
            </a:pPr>
            <a:r>
              <a:t>Golden Advisory · भारत डेटा प्राइवेट लिमिटेड · Assessment period 01 Apr 2026 to 30 Jun 2026 · Evidence cut-off 15 Jul 2026 · Snapshot 5f2c9e1a · Report generated: 28 Sep 2026 · Confidential</a:t>
            </a:r>
          </a:p>
        </p:txBody>
      </p:sp>
      <p:sp>
        <p:nvSpPr>
          <p:cNvPr id="10" name="Page number"/>
          <p:cNvSpPr txBox="1"/>
          <p:nvPr/>
        </p:nvSpPr>
        <p:spPr>
          <a:xfrm>
            <a:off x="10440000" y="6516000"/>
            <a:ext cx="1224000" cy="216000"/>
          </a:xfrm>
          <a:prstGeom prst="rect">
            <a:avLst/>
          </a:prstGeom>
          <a:solidFill>
            <a:srgbClr val="161A5C"/>
          </a:solidFill>
          <a:ln>
            <a:noFill/>
          </a:ln>
        </p:spPr>
        <p:txBody>
          <a:bodyPr wrap="square" anchor="t" lIns="43200" rIns="43200" tIns="25200" bIns="25200">
            <a:spAutoFit/>
          </a:bodyPr>
          <a:lstStyle/>
          <a:p>
            <a:pPr algn="ctr">
              <a:defRPr sz="800" b="1">
                <a:solidFill>
                  <a:srgbClr val="FFFFFF"/>
                </a:solidFill>
                <a:latin typeface="Calibri"/>
              </a:defRPr>
            </a:pPr>
            <a:r>
              <a:t>Page 25 of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